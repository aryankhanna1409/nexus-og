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latin typeface="Calibri"/>
              </a:rPr>
              <a:t>Worked example: step from ~50 to 80</a:t>
            </a:r>
          </a:p>
        </c:rich>
      </c:tx>
      <c:layout/>
      <c:overlay val="0"/>
    </c:title>
    <c:autoTitleDeleted val="0"/>
    <c:plotArea>
      <c:lineChart>
        <c:grouping val="standard"/>
        <c:varyColors val="0"/>
        <c:ser>
          <c:idx val="0"/>
          <c:order val="0"/>
          <c:tx>
            <c:strRef>
              <c:f>Sheet1!$B$1</c:f>
              <c:strCache>
                <c:ptCount val="1"/>
                <c:pt idx="0">
                  <c:v>value</c:v>
                </c:pt>
              </c:strCache>
            </c:strRef>
          </c:tx>
          <c:spPr>
            <a:ln w="28575">
              <a:solidFill>
                <a:srgbClr val="1D4ED8"/>
              </a:solidFill>
            </a:ln>
          </c:spPr>
          <c:marker>
            <c:size val="6"/>
            <c:spPr>
              <a:solidFill>
                <a:srgbClr val="1D4ED8"/>
              </a:solidFill>
              <a:ln>
                <a:solidFill>
                  <a:srgbClr val="1D4ED8"/>
                </a:solidFill>
              </a:ln>
            </c:spPr>
          </c:marker>
          <c:cat>
            <c:strRef>
              <c:f>Sheet1!$A$2:$A$11</c:f>
              <c:strCache>
                <c:ptCount val="10"/>
                <c:pt idx="0">
                  <c:v>0</c:v>
                </c:pt>
                <c:pt idx="1">
                  <c:v>1</c:v>
                </c:pt>
                <c:pt idx="2">
                  <c:v>2</c:v>
                </c:pt>
                <c:pt idx="3">
                  <c:v>3</c:v>
                </c:pt>
                <c:pt idx="4">
                  <c:v>4</c:v>
                </c:pt>
                <c:pt idx="5">
                  <c:v>5</c:v>
                </c:pt>
                <c:pt idx="6">
                  <c:v>6</c:v>
                </c:pt>
                <c:pt idx="7">
                  <c:v>7</c:v>
                </c:pt>
                <c:pt idx="8">
                  <c:v>8</c:v>
                </c:pt>
                <c:pt idx="9">
                  <c:v>9</c:v>
                </c:pt>
              </c:strCache>
            </c:strRef>
          </c:cat>
          <c:val>
            <c:numRef>
              <c:f>Sheet1!$B$2:$B$11</c:f>
              <c:numCache>
                <c:formatCode>General</c:formatCode>
                <c:ptCount val="10"/>
                <c:pt idx="0">
                  <c:v>50.0</c:v>
                </c:pt>
                <c:pt idx="1">
                  <c:v>51.0</c:v>
                </c:pt>
                <c:pt idx="2">
                  <c:v>49.0</c:v>
                </c:pt>
                <c:pt idx="3">
                  <c:v>50.0</c:v>
                </c:pt>
                <c:pt idx="4">
                  <c:v>52.0</c:v>
                </c:pt>
                <c:pt idx="5">
                  <c:v>50.0</c:v>
                </c:pt>
                <c:pt idx="6">
                  <c:v>51.0</c:v>
                </c:pt>
                <c:pt idx="7">
                  <c:v>49.0</c:v>
                </c:pt>
                <c:pt idx="8">
                  <c:v>50.0</c:v>
                </c:pt>
                <c:pt idx="9">
                  <c:v>80.0</c:v>
                </c:pt>
              </c:numCache>
            </c:numRef>
          </c:val>
          <c:smooth val="0"/>
        </c:ser>
        <c:ser>
          <c:idx val="1"/>
          <c:order val="1"/>
          <c:tx>
            <c:strRef>
              <c:f>Sheet1!$C$1</c:f>
              <c:strCache>
                <c:ptCount val="1"/>
                <c:pt idx="0">
                  <c:v>baseline mean (9 pts)</c:v>
                </c:pt>
              </c:strCache>
            </c:strRef>
          </c:tx>
          <c:spPr>
            <a:ln w="28575">
              <a:solidFill>
                <a:srgbClr val="0F766E"/>
              </a:solidFill>
            </a:ln>
          </c:spPr>
          <c:marker>
            <c:size val="6"/>
            <c:spPr>
              <a:solidFill>
                <a:srgbClr val="0F766E"/>
              </a:solidFill>
              <a:ln>
                <a:solidFill>
                  <a:srgbClr val="0F766E"/>
                </a:solidFill>
              </a:ln>
            </c:spPr>
          </c:marker>
          <c:cat>
            <c:strRef>
              <c:f>Sheet1!$A$2:$A$11</c:f>
              <c:strCache>
                <c:ptCount val="10"/>
                <c:pt idx="0">
                  <c:v>0</c:v>
                </c:pt>
                <c:pt idx="1">
                  <c:v>1</c:v>
                </c:pt>
                <c:pt idx="2">
                  <c:v>2</c:v>
                </c:pt>
                <c:pt idx="3">
                  <c:v>3</c:v>
                </c:pt>
                <c:pt idx="4">
                  <c:v>4</c:v>
                </c:pt>
                <c:pt idx="5">
                  <c:v>5</c:v>
                </c:pt>
                <c:pt idx="6">
                  <c:v>6</c:v>
                </c:pt>
                <c:pt idx="7">
                  <c:v>7</c:v>
                </c:pt>
                <c:pt idx="8">
                  <c:v>8</c:v>
                </c:pt>
                <c:pt idx="9">
                  <c:v>9</c:v>
                </c:pt>
              </c:strCache>
            </c:strRef>
          </c:cat>
          <c:val>
            <c:numRef>
              <c:f>Sheet1!$C$2:$C$11</c:f>
              <c:numCache>
                <c:formatCode>General</c:formatCode>
                <c:ptCount val="10"/>
                <c:pt idx="0">
                  <c:v>50.2222</c:v>
                </c:pt>
                <c:pt idx="1">
                  <c:v>50.2222</c:v>
                </c:pt>
                <c:pt idx="2">
                  <c:v>50.2222</c:v>
                </c:pt>
                <c:pt idx="3">
                  <c:v>50.2222</c:v>
                </c:pt>
                <c:pt idx="4">
                  <c:v>50.2222</c:v>
                </c:pt>
                <c:pt idx="5">
                  <c:v>50.2222</c:v>
                </c:pt>
                <c:pt idx="6">
                  <c:v>50.2222</c:v>
                </c:pt>
                <c:pt idx="7">
                  <c:v>50.2222</c:v>
                </c:pt>
                <c:pt idx="8">
                  <c:v>50.2222</c:v>
                </c:pt>
                <c:pt idx="9">
                  <c:v>50.2222</c:v>
                </c:pt>
              </c:numCache>
            </c:numRef>
          </c:val>
          <c:smooth val="0"/>
        </c:ser>
        <c:ser>
          <c:idx val="2"/>
          <c:order val="2"/>
          <c:tx>
            <c:strRef>
              <c:f>Sheet1!$D$1</c:f>
              <c:strCache>
                <c:ptCount val="1"/>
                <c:pt idx="0">
                  <c:v>EWMA tau 900 s</c:v>
                </c:pt>
              </c:strCache>
            </c:strRef>
          </c:tx>
          <c:spPr>
            <a:ln w="28575">
              <a:solidFill>
                <a:srgbClr val="6D28D9"/>
              </a:solidFill>
            </a:ln>
          </c:spPr>
          <c:marker>
            <c:size val="6"/>
            <c:spPr>
              <a:solidFill>
                <a:srgbClr val="6D28D9"/>
              </a:solidFill>
              <a:ln>
                <a:solidFill>
                  <a:srgbClr val="6D28D9"/>
                </a:solidFill>
              </a:ln>
            </c:spPr>
          </c:marker>
          <c:cat>
            <c:strRef>
              <c:f>Sheet1!$A$2:$A$11</c:f>
              <c:strCache>
                <c:ptCount val="10"/>
                <c:pt idx="0">
                  <c:v>0</c:v>
                </c:pt>
                <c:pt idx="1">
                  <c:v>1</c:v>
                </c:pt>
                <c:pt idx="2">
                  <c:v>2</c:v>
                </c:pt>
                <c:pt idx="3">
                  <c:v>3</c:v>
                </c:pt>
                <c:pt idx="4">
                  <c:v>4</c:v>
                </c:pt>
                <c:pt idx="5">
                  <c:v>5</c:v>
                </c:pt>
                <c:pt idx="6">
                  <c:v>6</c:v>
                </c:pt>
                <c:pt idx="7">
                  <c:v>7</c:v>
                </c:pt>
                <c:pt idx="8">
                  <c:v>8</c:v>
                </c:pt>
                <c:pt idx="9">
                  <c:v>9</c:v>
                </c:pt>
              </c:strCache>
            </c:strRef>
          </c:cat>
          <c:val>
            <c:numRef>
              <c:f>Sheet1!$D$2:$D$11</c:f>
              <c:numCache>
                <c:formatCode>General</c:formatCode>
                <c:ptCount val="10"/>
                <c:pt idx="0">
                  <c:v>50.0</c:v>
                </c:pt>
                <c:pt idx="1">
                  <c:v>50.0645</c:v>
                </c:pt>
                <c:pt idx="2">
                  <c:v>49.9958</c:v>
                </c:pt>
                <c:pt idx="3">
                  <c:v>49.9961</c:v>
                </c:pt>
                <c:pt idx="4">
                  <c:v>50.1253</c:v>
                </c:pt>
                <c:pt idx="5">
                  <c:v>50.1173</c:v>
                </c:pt>
                <c:pt idx="6">
                  <c:v>50.1742</c:v>
                </c:pt>
                <c:pt idx="7">
                  <c:v>50.0985</c:v>
                </c:pt>
                <c:pt idx="8">
                  <c:v>50.0921</c:v>
                </c:pt>
                <c:pt idx="9">
                  <c:v>52.021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BD5E1"/>
            </a:solidFill>
          </a:ln>
        </c:spPr>
        <c:txPr>
          <a:bodyPr/>
          <a:lstStyle/>
          <a:p>
            <a:pPr>
              <a:defRPr sz="1000"/>
            </a:pPr>
          </a:p>
        </c:txPr>
        <c:crossAx val="2140495176"/>
        <c:crosses val="autoZero"/>
        <c:auto val="1"/>
        <c:lblAlgn val="ctr"/>
        <c:lblOffset val="100"/>
        <c:noMultiLvlLbl val="0"/>
      </c:catAx>
      <c:valAx>
        <c:axId val="2140495176"/>
        <c:scaling/>
        <c:delete val="0"/>
        <c:axPos val="l"/>
        <c:majorGridlines>
          <c:spPr>
            <a:ln>
              <a:solidFill>
                <a:srgbClr val="E2E8F0"/>
              </a:solidFill>
            </a:ln>
          </c:spPr>
        </c:majorGridlines>
        <c:majorTickMark val="out"/>
        <c:minorTickMark val="none"/>
        <c:tickLblPos val="nextTo"/>
        <c:spPr>
          <a:ln>
            <a:solidFill>
              <a:srgbClr val="CBD5E1"/>
            </a:solidFill>
          </a:ln>
        </c:spPr>
        <c:txPr>
          <a:bodyPr/>
          <a:lstStyle/>
          <a:p>
            <a:pPr>
              <a:defRPr sz="1000"/>
            </a:pPr>
          </a:p>
        </c:txPr>
        <c:crossAx val="2118791784"/>
        <c:crosses val="autoZero"/>
      </c:valAx>
    </c:plotArea>
    <c:legend>
      <c:legendPos val="b"/>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latin typeface="Calibri"/>
              </a:rPr>
              <a:t>Cause score = sum of weighted terms</a:t>
            </a:r>
          </a:p>
        </c:rich>
      </c:tx>
      <c:layout/>
      <c:overlay val="0"/>
    </c:title>
    <c:autoTitleDeleted val="0"/>
    <c:plotArea>
      <c:barChart>
        <c:barDir val="bar"/>
        <c:grouping val="stacked"/>
        <c:ser>
          <c:idx val="0"/>
          <c:order val="0"/>
          <c:tx>
            <c:strRef>
              <c:f>Sheet1!$B$1</c:f>
              <c:strCache>
                <c:ptCount val="1"/>
                <c:pt idx="0">
                  <c:v>temporal x 0.45</c:v>
                </c:pt>
              </c:strCache>
            </c:strRef>
          </c:tx>
          <c:spPr>
            <a:solidFill>
              <a:srgbClr val="1D4ED8"/>
            </a:solidFill>
          </c:spPr>
          <c:cat>
            <c:strRef>
              <c:f>Sheet1!$A$2:$A$3</c:f>
              <c:strCache>
                <c:ptCount val="2"/>
                <c:pt idx="0">
                  <c:v>deployment regression</c:v>
                </c:pt>
                <c:pt idx="1">
                  <c:v>memory exhaustion</c:v>
                </c:pt>
              </c:strCache>
            </c:strRef>
          </c:cat>
          <c:val>
            <c:numRef>
              <c:f>Sheet1!$B$2:$B$3</c:f>
              <c:numCache>
                <c:formatCode>General</c:formatCode>
                <c:ptCount val="2"/>
                <c:pt idx="0">
                  <c:v>0.345</c:v>
                </c:pt>
                <c:pt idx="1">
                  <c:v>0.225</c:v>
                </c:pt>
              </c:numCache>
            </c:numRef>
          </c:val>
        </c:ser>
        <c:ser>
          <c:idx val="1"/>
          <c:order val="1"/>
          <c:tx>
            <c:strRef>
              <c:f>Sheet1!$C$1</c:f>
              <c:strCache>
                <c:ptCount val="1"/>
                <c:pt idx="0">
                  <c:v>mechanism x 0.35</c:v>
                </c:pt>
              </c:strCache>
            </c:strRef>
          </c:tx>
          <c:spPr>
            <a:solidFill>
              <a:srgbClr val="0F766E"/>
            </a:solidFill>
          </c:spPr>
          <c:cat>
            <c:strRef>
              <c:f>Sheet1!$A$2:$A$3</c:f>
              <c:strCache>
                <c:ptCount val="2"/>
                <c:pt idx="0">
                  <c:v>deployment regression</c:v>
                </c:pt>
                <c:pt idx="1">
                  <c:v>memory exhaustion</c:v>
                </c:pt>
              </c:strCache>
            </c:strRef>
          </c:cat>
          <c:val>
            <c:numRef>
              <c:f>Sheet1!$C$2:$C$3</c:f>
              <c:numCache>
                <c:formatCode>General</c:formatCode>
                <c:ptCount val="2"/>
                <c:pt idx="0">
                  <c:v>0.35</c:v>
                </c:pt>
                <c:pt idx="1">
                  <c:v>0.35</c:v>
                </c:pt>
              </c:numCache>
            </c:numRef>
          </c:val>
        </c:ser>
        <c:ser>
          <c:idx val="2"/>
          <c:order val="2"/>
          <c:tx>
            <c:strRef>
              <c:f>Sheet1!$D$1</c:f>
              <c:strCache>
                <c:ptCount val="1"/>
                <c:pt idx="0">
                  <c:v>topology x 0.20</c:v>
                </c:pt>
              </c:strCache>
            </c:strRef>
          </c:tx>
          <c:spPr>
            <a:solidFill>
              <a:srgbClr val="B45309"/>
            </a:solidFill>
          </c:spPr>
          <c:cat>
            <c:strRef>
              <c:f>Sheet1!$A$2:$A$3</c:f>
              <c:strCache>
                <c:ptCount val="2"/>
                <c:pt idx="0">
                  <c:v>deployment regression</c:v>
                </c:pt>
                <c:pt idx="1">
                  <c:v>memory exhaustion</c:v>
                </c:pt>
              </c:strCache>
            </c:strRef>
          </c:cat>
          <c:val>
            <c:numRef>
              <c:f>Sheet1!$D$2:$D$3</c:f>
              <c:numCache>
                <c:formatCode>General</c:formatCode>
                <c:ptCount val="2"/>
                <c:pt idx="0">
                  <c:v>0.2</c:v>
                </c:pt>
                <c:pt idx="1">
                  <c:v>0.1</c:v>
                </c:pt>
              </c:numCache>
            </c:numRef>
          </c:val>
        </c:ser>
        <c:dLbls>
          <c:numFmt formatCode="0.000" sourceLinked="0"/>
          <c:txPr>
            <a:bodyPr/>
            <a:lstStyle/>
            <a:p>
              <a:pPr>
                <a:defRPr sz="900"/>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l"/>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delete val="0"/>
        <c:axPos val="b"/>
        <c:majorGridlines>
          <c:spPr>
            <a:ln>
              <a:solidFill>
                <a:srgbClr val="E2E8F0"/>
              </a:solidFill>
            </a:ln>
          </c:spPr>
        </c:majorGridlines>
        <c:majorTickMark val="out"/>
        <c:minorTickMark val="none"/>
        <c:tickLblPos val="nextTo"/>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latin typeface="Calibri"/>
              </a:rPr>
              <a:t>pytest tests collected per module (355)</a:t>
            </a:r>
          </a:p>
        </c:rich>
      </c:tx>
      <c:layout/>
      <c:overlay val="0"/>
    </c:title>
    <c:autoTitleDeleted val="0"/>
    <c:plotArea>
      <c:barChart>
        <c:barDir val="bar"/>
        <c:grouping val="clustered"/>
        <c:ser>
          <c:idx val="0"/>
          <c:order val="0"/>
          <c:tx>
            <c:strRef>
              <c:f>Sheet1!$B$1</c:f>
              <c:strCache>
                <c:ptCount val="1"/>
                <c:pt idx="0">
                  <c:v>tests</c:v>
                </c:pt>
              </c:strCache>
            </c:strRef>
          </c:tx>
          <c:spPr>
            <a:solidFill>
              <a:srgbClr val="1D4ED8"/>
            </a:solidFill>
          </c:spPr>
          <c:cat>
            <c:strRef>
              <c:f>Sheet1!$A$2:$A$13</c:f>
              <c:strCache>
                <c:ptCount val="12"/>
                <c:pt idx="0">
                  <c:v>agent</c:v>
                </c:pt>
                <c:pt idx="1">
                  <c:v>analytics</c:v>
                </c:pt>
                <c:pt idx="2">
                  <c:v>api_core</c:v>
                </c:pt>
                <c:pt idx="3">
                  <c:v>abi+owner.</c:v>
                </c:pt>
                <c:pt idx="4">
                  <c:v>binding</c:v>
                </c:pt>
                <c:pt idx="5">
                  <c:v>correlation</c:v>
                </c:pt>
                <c:pt idx="6">
                  <c:v>e2e</c:v>
                </c:pt>
                <c:pt idx="7">
                  <c:v>generator</c:v>
                </c:pt>
                <c:pt idx="8">
                  <c:v>rca</c:v>
                </c:pt>
                <c:pt idx="9">
                  <c:v>reporting</c:v>
                </c:pt>
                <c:pt idx="10">
                  <c:v>security</c:v>
                </c:pt>
                <c:pt idx="11">
                  <c:v>simulation</c:v>
                </c:pt>
              </c:strCache>
            </c:strRef>
          </c:cat>
          <c:val>
            <c:numRef>
              <c:f>Sheet1!$B$2:$B$13</c:f>
              <c:numCache>
                <c:formatCode>General</c:formatCode>
                <c:ptCount val="12"/>
                <c:pt idx="0">
                  <c:v>36</c:v>
                </c:pt>
                <c:pt idx="1">
                  <c:v>24</c:v>
                </c:pt>
                <c:pt idx="2">
                  <c:v>30</c:v>
                </c:pt>
                <c:pt idx="3">
                  <c:v>28</c:v>
                </c:pt>
                <c:pt idx="4">
                  <c:v>61</c:v>
                </c:pt>
                <c:pt idx="5">
                  <c:v>29</c:v>
                </c:pt>
                <c:pt idx="6">
                  <c:v>3</c:v>
                </c:pt>
                <c:pt idx="7">
                  <c:v>35</c:v>
                </c:pt>
                <c:pt idx="8">
                  <c:v>45</c:v>
                </c:pt>
                <c:pt idx="9">
                  <c:v>11</c:v>
                </c:pt>
                <c:pt idx="10">
                  <c:v>22</c:v>
                </c:pt>
                <c:pt idx="11">
                  <c:v>31</c:v>
                </c:pt>
              </c:numCache>
            </c:numRef>
          </c:val>
        </c:ser>
        <c:dLbls>
          <c:numFmt formatCode="0" sourceLinked="0"/>
          <c:txPr>
            <a:bodyPr/>
            <a:lstStyle/>
            <a:p>
              <a:pPr>
                <a:defRPr sz="9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delete val="0"/>
        <c:axPos val="b"/>
        <c:majorGridlines>
          <c:spPr>
            <a:ln>
              <a:solidFill>
                <a:srgbClr val="E2E8F0"/>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Aegis-Net is a prototype that takes a degraded telecom network from alerts to an explained incident, an AI-assisted root-cause analysis, a report, and a policy-gated remediation, with every step recorded. Say up front that all data is synthetic and that the production rollback is a simulation. The next 18 minutes go from the problem, through the architecture and each stage, to the evidence that it works and the limits.</a:t>
            </a:r>
          </a:p>
          <a:p/>
          <a:p>
            <a:r>
              <a:t>READING THE VISUAL: The four coloured tags on later slides mean: verified (a test or run in this repository exercised it), unverified here (code exists, not exercised in this environment), simulated, and not implemented.</a:t>
            </a:r>
          </a:p>
          <a:p/>
          <a:p>
            <a:r>
              <a:t>LIKELY QUESTIONS: Is this production software? No: no TLS termination, no external identity provider, no secret manager, no high availability. Who wrote it? The title slide names no author on purpose; see the repository history.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things make incidents slow. Evidence lives in different tools. One fault shows up as a cascade of alerts, and the first symptom is rarely the one people notice. And risky decisions such as rolling back a production release need justification and approval. Aegis-Net automates evidence gathering, ordering and bookkeeping. It does not automate judgement: causes are always called hypotheses, confidence is capped at 0.95, and risky actions need a human.</a:t>
            </a:r>
          </a:p>
          <a:p/>
          <a:p>
            <a:r>
              <a:t>READING THE VISUAL: The chain at the bottom is the seeded incident: a memory leak raises memory, then CPU, then latency, packet loss and dropped calls. Nine KPIs alert; there is one fault.</a:t>
            </a:r>
          </a:p>
          <a:p/>
          <a:p>
            <a:r>
              <a:t>LIKELY QUESTIONS: What counts as a symptom versus a cause? A symptom is a measurement that changed, such as high latency. A cause is the change that explains it, here a software release.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Walk the tiles. The C library, the analytics, the API and the agent policy were verified by tests and by runs for this handbook. The data is simulated by design. The AI investigation is verified only with the deterministic mock provider; the Anthropic, OpenAI and local providers are implemented but were never called live. Reports are JSON, Markdown and HTML; PDF is not implemented. The rollback is a simulation.</a:t>
            </a:r>
          </a:p>
          <a:p/>
          <a:p>
            <a:r>
              <a:t>READING THE VISUAL: Green is verified, orange unverified here, purple simulated, red not implemented. A tile can carry two tags when part of it is verified and part is not.</a:t>
            </a:r>
          </a:p>
          <a:p/>
          <a:p>
            <a:r>
              <a:t>LIKELY QUESTIONS: Why is the mock not an LLM? It is a rule-based investigator that uses the same read-only tools and the same answer validation; it exists to make the pipeline testable offline.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Follow INC-2026-001. Stage 1 generates synthetic telemetry. Stage 2 runs the call log through the C library. Stage 3 detects anomalies. Stage 4 correlates them with events into one incident. Stage 5 stores everything. From then on, RCA, reporting and the agent work from the database. The agent proposes a rollback, the policy gates it, an approver and an admin act, recovery is verified, and the audit log records it.</a:t>
            </a:r>
          </a:p>
          <a:p/>
          <a:p>
            <a:r>
              <a:t>READING THE VISUAL: Colours follow the architecture slide: amber native C, blue Python, purple AI, red policy, teal storage, green UI. The footer line is a recorded result: make demo ran for this handbook with exit 0 and a valid audit chain of 24 rows.</a:t>
            </a:r>
          </a:p>
          <a:p/>
          <a:p>
            <a:r>
              <a:t>LIKELY QUESTIONS: Does everything run synchronously? Yes: the pipeline and agent runs execute inside the request, taking seconds; there is no job queue.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 handles the untrusted, hot path of CDR parsing. Python orchestrates analytics, the API and the agent. TypeScript builds the dashboard so API shapes are checked at compile time. SQL holds relational integrity. The interfaces are the C header, the REST API and its OpenAPI schema, and the database schema. Four trust boundaries drive the security design: CSV into the parser, LLM output into the engine, HTTP into the API, and the agent into the operating system.</a:t>
            </a:r>
          </a:p>
          <a:p/>
          <a:p>
            <a:r>
              <a:t>READING THE VISUAL: Read top to bottom: browser, API, services, analytics and native code, persistence. The dashed arrow from the C library marks that the call-analysis result feeds the pipeline through the binding.</a:t>
            </a:r>
          </a:p>
          <a:p/>
          <a:p>
            <a:r>
              <a:t>LIKELY QUESTIONS: Why not do it all in Python? Parsing millions of untrusted rows with bounded memory and stable ABI suits C; the cost is memory-safety risk, which is why it has sanitizer and fault-injection tests.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library parses CSV strictly, aggregates by cell, code, window and caller, and flags outliers with a robust z-score against peer cells. It is built with strict warnings and -Werror, tested under address, undefined-behaviour and leak sanitizers, and with allocation-failure injection that fails every allocation in turn. Python loads it through ctypes, checks struct sizes at load time and frees every native array in a finally block.</a:t>
            </a:r>
          </a:p>
          <a:p/>
          <a:p>
            <a:r>
              <a:t>READING THE VISUAL: In the screenshot the four tall bars are CELL-101 to 104, the cells behind the faulty gateway, and the table at the bottom is the C library's own output. Status-code classes are this project's convention, not a telecom standard.</a:t>
            </a:r>
          </a:p>
          <a:p/>
          <a:p>
            <a:r>
              <a:t>LIKELY QUESTIONS: How do you know the binding matches the header? A load-time struct-size handshake and tests that compile an offsetof probe against the header and compare every field. Result: C 2/2 and 2/2 under sanitizers; 352 Python tests passed.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simulator is a test instrument, not real traffic. It generates 17 KPIs for 12 cells every minute from an explicit causal model with autocorrelated noise. Incidents change only drivers, so symptoms emerge from the formulas. The seeded scenario deploys packet-gateway 2.4.1 to pgw-1 at 14:05 and leaks memory; a harmless hotfix to pgw-3 at 13:10 is a distractor.</a:t>
            </a:r>
          </a:p>
          <a:p/>
          <a:p>
            <a:r>
              <a:t>READING THE VISUAL: Eight KPI cards compare the last 30 minutes with the baseline. The chart plots all twelve cells: four climb, eight stay flat. The shaded region is the detected anomaly window.</a:t>
            </a:r>
          </a:p>
          <a:p/>
          <a:p>
            <a:r>
              <a:t>LIKELY QUESTIONS: Does detector performance on this generalise? No claim is made. Thresholds were tuned on this simulator.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Each point is scored by a z-score against a trailing 60-minute baseline, a time-aware EWMA, static thresholds and a rate-of-change test. A point is flagged on a threshold breach, on z-score and EWMA together, or on rate of change plus one of them, and only if the deviation is practically meaningful. Only clearly normal points update the baseline, so a slow ramp cannot hide itself. Flagged points merge into episodes with a score and a severity.</a:t>
            </a:r>
          </a:p>
          <a:p/>
          <a:p>
            <a:r>
              <a:t>READING THE VISUAL: The chart is the worked example: nine readings near 50, then 80. With the latency noise floor of 1.0 the z-score is 29.8, far past 4. The screenshot lists the critical episodes: memory first at 14:13 to 14:15, then CPU, then latency.</a:t>
            </a:r>
          </a:p>
          <a:p/>
          <a:p>
            <a:r>
              <a:t>LIKELY QUESTIONS: False positives? The plan records 0.27 episodes per 100 series-days on healthy synthetic data, none high or critical. That is a recorded result and is synthetic. Isolation Forest and DBSCAN are not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Anomalies cluster per cell and merge across cells on the same node. An incident needs at least two metrics and one symptom of severity high or above. Each candidate cause is scored from temporal precedence, mechanism match against a fixed causal graph, and topology. Deployments on other nodes are listed as excluded with a reason. The result is a ranked list of hypotheses; correlation is not causation and the engine says so in a caveat.</a:t>
            </a:r>
          </a:p>
          <a:p/>
          <a:p>
            <a:r>
              <a:t>READING THE VISUAL: Left to right: evidence in, four steps, incident out. The formula is score = 0.45 temporal + 0.35 mechanism + 0.20 topology; confidence is the top score scaled by chain consistency, with a cap of 0.95.</a:t>
            </a:r>
          </a:p>
          <a:p/>
          <a:p>
            <a:r>
              <a:t>LIKELY QUESTIONS: Why is confidence capped? To avoid presenting a time-ordering argument as certainty. How did the distractor get excluded? It targeted pgw-3; the incident's node was pgw-1.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timeline shows the deployment at 14:05, memory at 14:13, CPU at 14:31, latency at 14:40, packet loss at 14:50 and dropped calls at 14:53. Deployment regression scores 0.8947: temporal 0.766 because the deployment was 8 minutes before onset, mechanism 1.0, topology 1.0. Memory exhaustion has the same mechanism score but only neutral temporal and topology terms, so 0.675.</a:t>
            </a:r>
          </a:p>
          <a:p/>
          <a:p>
            <a:r>
              <a:t>READING THE VISUAL: In the bar chart each bar is the sum of the three weighted terms. The incident list shows the result as the operator sees it: CRITICAL, four cells, leading hypothesis at 89 percent. The RCA's own figure on the next slide is 85 percent.</a:t>
            </a:r>
          </a:p>
          <a:p/>
          <a:p>
            <a:r>
              <a:t>LIKELY QUESTIONS: Why two different confidences? The correlation engine and the RCA engine compute them separately. Cross-correlation lags came out mostly 0, so onset order, not lag, carries the temporal argument; the report says so.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prompt holds only identifiers and symptom names. The model requests tools; the engine checks the name against an allowlist, validates arguments twice, runs a read-only incident-scoped query and returns a size-limited result with an id. The final answer must be one JSON object that validates against a schema, cite real, successful tool calls, and make the leading hypothesis the root cause. Rejected answers get feedback up to three times, then the RCA is stored as failed. Nothing is invented and private reasoning is never stored.</a:t>
            </a:r>
          </a:p>
          <a:p/>
          <a:p>
            <a:r>
              <a:t>READING THE VISUAL: Each evidence bullet ends with a tool-call id such as mock-3-1. The hypothesis table lists deployment regression 85 percent, memory exhaustion 34 percent and security attack 5 percent, each with its reasoning. The header says LLM: mock.</a:t>
            </a:r>
          </a:p>
          <a:p/>
          <a:p>
            <a:r>
              <a:t>LIKELY QUESTIONS: Was a real model tested? No. Anthropic, OpenAI and local providers were only tested with fake clients; the live test is opt-in and was skipped. How are prompt injections handled? Structurally: read-only tools, schema validation, citation checks and human approval, not prompt wording.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report builder takes the incident, the RCA and the stored telemetry and computes every number itself: baselines, incident means, worst values. The only generated text is the executive summary, accepted only if every number in it appears in the context given to the model; otherwise a template is used. Renderers produce JSON, Markdown and HTML with escaping; the HTML endpoint sends a strict content-security policy. PDF is not implemented.</a:t>
            </a:r>
          </a:p>
          <a:p/>
          <a:p>
            <a:r>
              <a:t>READING THE VISUAL: The page shows a synthetic-data notice, the summary labelled as generated by the mock provider, and the KPI table, for example packet loss from 0.316 percent to 7.211 percent.</a:t>
            </a:r>
          </a:p>
          <a:p/>
          <a:p>
            <a:r>
              <a:t>LIKELY QUESTIONS: Why not let the model write the whole report? Ungrounded numbers are the main risk; this design makes them mechanically checkable.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loop is observe, analyze, plan, act, verify, close, and never moves backwards. The planner is a pure function of earlier results; the LLM never chooses tools, arguments or commands. Every action is stored with its rationale before it runs. There are three scenarios: a vulnerable dependency, a failed CI run, and a production anomaly. Code scenarios run in a disposable git copy of a fictional service.</a:t>
            </a:r>
          </a:p>
          <a:p/>
          <a:p>
            <a:r>
              <a:t>READING THE VISUAL: The first run is closed: the rollback is blocked because high-risk actions are disabled, so the incident stays open with the RCA recommendation. The second run waits for approval to apply a revert patch for the commit that broke the checksum code.</a:t>
            </a:r>
          </a:p>
          <a:p/>
          <a:p>
            <a:r>
              <a:t>LIKELY QUESTIONS: What is real? Tests, linting, git and file edits in the sandbox are real. The advisories are fictional and the rollback re-simulates telemetry. restart_service is registered but always fails by design.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Read-only and low-risk tools run automatically. Approval-required tools wait for an approver who is not the run's initiator, then an operator or higher executes. High-risk actions are denied unless a flag is on, and then still need approval and an admin. Blocked tools never run. The service re-checks every rule immediately before executing, so bypassing the UI or the API route gains nothing. Each audit row hashes its content together with the previous row's hash.</a:t>
            </a:r>
          </a:p>
          <a:p/>
          <a:p>
            <a:r>
              <a:t>READING THE VISUAL: The audit screenshot shows agent proposals and successes, a policy block and a denied self-approval, with chain valid for 38 rows. The small image is the separation-of-duties message.</a:t>
            </a:r>
          </a:p>
          <a:p/>
          <a:p>
            <a:r>
              <a:t>LIKELY QUESTIONS: Can the chain be forged? A party who can rewrite the whole suffix and recompute hashes could; external anchoring of the head hash is not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Take the questions in order. Is the network healthy: a score of 62, which is 100 minus 30 for the critical incident minus 8 for four degraded cells. What is broken and how severe: INC-2026-001, critical, four cells. Why: the RCA headline with its confidence, labelled a hypothesis. What do the KPIs and chart show: latency on the affected cells with the detected window shaded. What is the AI doing: the agent run and its actions. Has the remediation worked: not yet.</a:t>
            </a:r>
          </a:p>
          <a:p/>
          <a:p>
            <a:r>
              <a:t>READING THE VISUAL: The top bar shows API, database and C analyzer health, LLM: mock, and a synthetic-data notice. The cell strip colours the four affected cells red.</a:t>
            </a:r>
          </a:p>
          <a:p/>
          <a:p>
            <a:r>
              <a:t>LIKELY QUESTIONS: Where is the token stored? In sessionStorage; every request sends it as a bearer header. Roles are enforced by the server, not by hiding buttons.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API has 26 routes plus a metrics endpoint. Most reads need a viewer; running pipelines, investigations, reports and agent runs need an operator; approvals need an approver; verifying the audit chain needs an admin. Request bodies reject unknown fields and parameters are pattern-checked. The 19 tables keep relational columns for filtering and JSON only for evidence documents; one migration runs on SQLite and PostgreSQL.</a:t>
            </a:r>
          </a:p>
          <a:p/>
          <a:p>
            <a:r>
              <a:t>READING THE VISUAL: Table groups on the right follow the entity-relationship diagram in the handbook: run data, call analysis, incidents and AI, agent and audit.</a:t>
            </a:r>
          </a:p>
          <a:p/>
          <a:p>
            <a:r>
              <a:t>LIKELY QUESTIONS: Is PostgreSQL verified? The plan records a run against postgres:16; the PostgreSQL test was skipped in this session's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backend image is two stages: the first builds libcallanalyzer and runs ctest, so a failing C test fails the build; the second is a slim Python runtime with a non-root user. The entrypoint runs migrations and optionally loads the seeded incident. nginx serves the dashboard and proxies only the API. Ports bind to localhost. Required secrets use a fail-fast form that tells you to run make env.</a:t>
            </a:r>
          </a:p>
          <a:p/>
          <a:p>
            <a:r>
              <a:t>READING THE VISUAL: Arrows show who talks to whom. The Redis container only holds the rate-limit window and does not persist.</a:t>
            </a:r>
          </a:p>
          <a:p/>
          <a:p>
            <a:r>
              <a:t>LIKELY QUESTIONS: Was Docker run for this deliverable? No: the recorded smoke test is in the plan; this session verified the host builds and tests instead.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Results from commands run for this handbook: C tests 2 of 2 normal and 2 of 2 under sanitizers; Python 352 passed and 3 skipped; mypy strict clean on 86 files; the frontend type-check, 10 Vitest tests and build; and the offline demo. The three skipped tests need PostgreSQL, Redis or a live LLM key. Passing tests show internal consistency, not field accuracy.</a:t>
            </a:r>
          </a:p>
          <a:p/>
          <a:p>
            <a:r>
              <a:t>READING THE VISUAL: The chart counts collected pytest tests per module: 355 in total, of which 3 are opt-in skips.</a:t>
            </a:r>
          </a:p>
          <a:p/>
          <a:p>
            <a:r>
              <a:t>LIKELY QUESTIONS: Mutation testing? Hand-applied mutations in a scratch copy are recorded in the plan; there is no mutation tool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For the offline path run make demo: it builds the library, runs 13 steps through the real API with role-scoped tokens, refuses an unapproved execution with a 409, then approves and executes the simulated rollback and verifies recovery. For the dashboard run make env once and docker compose up --build, then sign in with a token from the git-ignored token file. Use different users for starting and approving, because the same user is refused.</a:t>
            </a:r>
          </a:p>
          <a:p/>
          <a:p>
            <a:r>
              <a:t>READING THE VISUAL: Nothing here needs an LLM key: the mock provider is the default and the system falls back to it with a visible reason.</a:t>
            </a:r>
          </a:p>
          <a:p/>
          <a:p>
            <a:r>
              <a:t>LIKELY QUESTIONS: What if the key is wrong? The factory falls back to the mock and reports the reason; check the health endpoint.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Be direct. Verified: the C library, binding, analytics, correlation, API, security controls, agent policy and the offline demo. Unverified here: live LLM providers, Docker in this session, PostgreSQL and Redis tests. Simulated: all data and the rollback. Not implemented: PDF reports, Isolation Forest, DBSCAN, OpenTelemetry, Grafana, anything on real telemetry.</a:t>
            </a:r>
          </a:p>
          <a:p/>
          <a:p>
            <a:r>
              <a:t>READING THE VISUAL: Every cell is traceable to a test, a command in the verification appendix, or a recorded result in the implementation plan.</a:t>
            </a:r>
          </a:p>
          <a:p/>
          <a:p>
            <a:r>
              <a:t>LIKELY QUESTIONS: Is it production-ready? No.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First evaluate live LLM RCA with adversarial log lines, because that is the largest unverified claim. Second validate detectors on recorded, anonymised telemetry. Third make pipeline and agent runs asynchronous. Then add seasonal baselines and a model-based detector beside the interpretable ones, harden identity, TLS and secrets, extend patch generation beyond reverts, and add OpenTelemetry. These are recommendations, not capabilities.</a:t>
            </a:r>
          </a:p>
          <a:p/>
          <a:p>
            <a:r>
              <a:t>READING THE VISUAL: Rationale is given for each item; none is presented as built.</a:t>
            </a:r>
          </a:p>
          <a:p/>
          <a:p>
            <a:r>
              <a:t>LIKELY QUESTIONS: Why not add Isolation Forest now? It is optional in the specification, and the interpretable path is easier to defend until real data exists.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Close with five points. One: a compact native library does the risky parsing, with tests that fail allocations on purpose. Two: detection and correlation are interpretable and every cause is a hypothesis. Three: the AI can only read, and its answers are validated and cited. Four: actions are gated by policy re-checked at execution and recorded in a hash chain. Five: it is a prototype with synthetic data, and the limits are documented rather than hidden.</a:t>
            </a:r>
          </a:p>
          <a:p/>
          <a:p>
            <a:r>
              <a:t>READING THE VISUAL: None.</a:t>
            </a:r>
          </a:p>
          <a:p/>
          <a:p>
            <a:r>
              <a:t>LIKELY QUESTIONS: Where do I start reading? call_analyzer.h, _native.py, model.py, detectors.py, correlation.py, rca/engine.py, agents/policy.py and security/audit.py.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p:cNvSpPr/>
          <p:nvPr/>
        </p:nvSpPr>
        <p:spPr>
          <a:xfrm>
            <a:off x="731520" y="1828800"/>
            <a:ext cx="109728" cy="201168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1051560" y="1691640"/>
            <a:ext cx="10058400" cy="822960"/>
          </a:xfrm>
          <a:prstGeom prst="rect">
            <a:avLst/>
          </a:prstGeom>
          <a:noFill/>
        </p:spPr>
        <p:txBody>
          <a:bodyPr wrap="square" lIns="36576" rIns="36576" tIns="18288" bIns="18288" anchor="t">
            <a:spAutoFit/>
          </a:bodyPr>
          <a:lstStyle/>
          <a:p>
            <a:pPr algn="l">
              <a:lnSpc>
                <a:spcPct val="105000"/>
              </a:lnSpc>
              <a:spcAft>
                <a:spcPts val="300"/>
              </a:spcAft>
            </a:pPr>
            <a:r>
              <a:rPr sz="6000" b="1" i="0">
                <a:solidFill>
                  <a:srgbClr val="FFFFFF"/>
                </a:solidFill>
                <a:latin typeface="Calibri"/>
              </a:rPr>
              <a:t>AEGIS-NET</a:t>
            </a:r>
          </a:p>
        </p:txBody>
      </p:sp>
      <p:sp>
        <p:nvSpPr>
          <p:cNvPr id="5" name="subtitle"/>
          <p:cNvSpPr txBox="1"/>
          <p:nvPr/>
        </p:nvSpPr>
        <p:spPr>
          <a:xfrm>
            <a:off x="1051560" y="2697480"/>
            <a:ext cx="10058400" cy="1097280"/>
          </a:xfrm>
          <a:prstGeom prst="rect">
            <a:avLst/>
          </a:prstGeom>
          <a:noFill/>
        </p:spPr>
        <p:txBody>
          <a:bodyPr wrap="square" lIns="36576" rIns="36576" tIns="18288" bIns="18288" anchor="t">
            <a:spAutoFit/>
          </a:bodyPr>
          <a:lstStyle/>
          <a:p>
            <a:pPr algn="l">
              <a:lnSpc>
                <a:spcPct val="105000"/>
              </a:lnSpc>
              <a:spcAft>
                <a:spcPts val="300"/>
              </a:spcAft>
            </a:pPr>
            <a:r>
              <a:rPr sz="3000" b="0" i="0">
                <a:solidFill>
                  <a:srgbClr val="BFDBFE"/>
                </a:solidFill>
                <a:latin typeface="Calibri"/>
              </a:rPr>
              <a:t>From network symptoms to audited remediation</a:t>
            </a:r>
          </a:p>
        </p:txBody>
      </p:sp>
      <p:sp>
        <p:nvSpPr>
          <p:cNvPr id="6" name="description"/>
          <p:cNvSpPr txBox="1"/>
          <p:nvPr/>
        </p:nvSpPr>
        <p:spPr>
          <a:xfrm>
            <a:off x="1051560" y="3749039"/>
            <a:ext cx="10058400" cy="457200"/>
          </a:xfrm>
          <a:prstGeom prst="rect">
            <a:avLst/>
          </a:prstGeom>
          <a:noFill/>
        </p:spPr>
        <p:txBody>
          <a:bodyPr wrap="square" lIns="36576" rIns="36576" tIns="18288" bIns="18288" anchor="t">
            <a:spAutoFit/>
          </a:bodyPr>
          <a:lstStyle/>
          <a:p>
            <a:pPr algn="l">
              <a:lnSpc>
                <a:spcPct val="105000"/>
              </a:lnSpc>
              <a:spcAft>
                <a:spcPts val="300"/>
              </a:spcAft>
            </a:pPr>
            <a:r>
              <a:rPr sz="1600" b="0" i="0">
                <a:solidFill>
                  <a:srgbClr val="DBEAFE"/>
                </a:solidFill>
                <a:latin typeface="Calibri"/>
              </a:rPr>
              <a:t>Technical walkthrough: C analysis, anomaly detection, correlation, AI root-cause analysis, and a policy-gated DevSecOps agent</a:t>
            </a:r>
          </a:p>
        </p:txBody>
      </p:sp>
      <p:sp>
        <p:nvSpPr>
          <p:cNvPr id="7" name="Rounded Rectangle 6"/>
          <p:cNvSpPr/>
          <p:nvPr/>
        </p:nvSpPr>
        <p:spPr>
          <a:xfrm>
            <a:off x="1051560" y="4754880"/>
            <a:ext cx="1188720" cy="310896"/>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14532D"/>
                </a:solidFill>
                <a:latin typeface="Calibri"/>
              </a:rPr>
              <a:t>VERIFIED</a:t>
            </a:r>
          </a:p>
        </p:txBody>
      </p:sp>
      <p:sp>
        <p:nvSpPr>
          <p:cNvPr id="8" name="Rounded Rectangle 7"/>
          <p:cNvSpPr/>
          <p:nvPr/>
        </p:nvSpPr>
        <p:spPr>
          <a:xfrm>
            <a:off x="2377439" y="4754880"/>
            <a:ext cx="1737360" cy="310896"/>
          </a:xfrm>
          <a:prstGeom prst="roundRect">
            <a:avLst>
              <a:gd name="adj" fmla="val 50000"/>
            </a:avLst>
          </a:prstGeom>
          <a:solidFill>
            <a:srgbClr val="FFEDD5"/>
          </a:solidFill>
          <a:ln w="12700">
            <a:solidFill>
              <a:srgbClr val="7C2D1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7C2D12"/>
                </a:solidFill>
                <a:latin typeface="Calibri"/>
              </a:rPr>
              <a:t>UNVERIFIED HERE</a:t>
            </a:r>
          </a:p>
        </p:txBody>
      </p:sp>
      <p:sp>
        <p:nvSpPr>
          <p:cNvPr id="9" name="Rounded Rectangle 8"/>
          <p:cNvSpPr/>
          <p:nvPr/>
        </p:nvSpPr>
        <p:spPr>
          <a:xfrm>
            <a:off x="4251959" y="4754880"/>
            <a:ext cx="1188720" cy="310896"/>
          </a:xfrm>
          <a:prstGeom prst="roundRect">
            <a:avLst>
              <a:gd name="adj" fmla="val 50000"/>
            </a:avLst>
          </a:prstGeom>
          <a:solidFill>
            <a:srgbClr val="EDE9FE"/>
          </a:solidFill>
          <a:ln w="12700">
            <a:solidFill>
              <a:srgbClr val="4C1D9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4C1D95"/>
                </a:solidFill>
                <a:latin typeface="Calibri"/>
              </a:rPr>
              <a:t>SIMULATED</a:t>
            </a:r>
          </a:p>
        </p:txBody>
      </p:sp>
      <p:sp>
        <p:nvSpPr>
          <p:cNvPr id="10" name="Rounded Rectangle 9"/>
          <p:cNvSpPr/>
          <p:nvPr/>
        </p:nvSpPr>
        <p:spPr>
          <a:xfrm>
            <a:off x="5577840" y="4754880"/>
            <a:ext cx="1737360" cy="310896"/>
          </a:xfrm>
          <a:prstGeom prst="roundRect">
            <a:avLst>
              <a:gd name="adj" fmla="val 50000"/>
            </a:avLst>
          </a:prstGeom>
          <a:solidFill>
            <a:srgbClr val="FEE2E2"/>
          </a:solidFill>
          <a:ln w="12700">
            <a:solidFill>
              <a:srgbClr val="7F1D1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7F1D1D"/>
                </a:solidFill>
                <a:latin typeface="Calibri"/>
              </a:rPr>
              <a:t>NOT IMPLEMENTED</a:t>
            </a:r>
          </a:p>
        </p:txBody>
      </p:sp>
      <p:sp>
        <p:nvSpPr>
          <p:cNvPr id="11" name="TextBox 10"/>
          <p:cNvSpPr txBox="1"/>
          <p:nvPr/>
        </p:nvSpPr>
        <p:spPr>
          <a:xfrm>
            <a:off x="1051560" y="5212080"/>
            <a:ext cx="10058400" cy="365760"/>
          </a:xfrm>
          <a:prstGeom prst="rect">
            <a:avLst/>
          </a:prstGeom>
          <a:noFill/>
        </p:spPr>
        <p:txBody>
          <a:bodyPr wrap="square" lIns="36576" rIns="36576" tIns="18288" bIns="18288" anchor="t">
            <a:spAutoFit/>
          </a:bodyPr>
          <a:lstStyle/>
          <a:p>
            <a:pPr algn="l">
              <a:lnSpc>
                <a:spcPct val="105000"/>
              </a:lnSpc>
              <a:spcAft>
                <a:spcPts val="300"/>
              </a:spcAft>
            </a:pPr>
            <a:r>
              <a:rPr sz="1200" b="0" i="1">
                <a:solidFill>
                  <a:srgbClr val="93C5FD"/>
                </a:solidFill>
                <a:latin typeface="Calibri"/>
              </a:rPr>
              <a:t>Status tags used on the following slides</a:t>
            </a:r>
          </a:p>
        </p:txBody>
      </p:sp>
      <p:sp>
        <p:nvSpPr>
          <p:cNvPr id="12" name="notice"/>
          <p:cNvSpPr txBox="1"/>
          <p:nvPr/>
        </p:nvSpPr>
        <p:spPr>
          <a:xfrm>
            <a:off x="1051560" y="6035040"/>
            <a:ext cx="10515600" cy="457200"/>
          </a:xfrm>
          <a:prstGeom prst="rect">
            <a:avLst/>
          </a:prstGeom>
          <a:noFill/>
        </p:spPr>
        <p:txBody>
          <a:bodyPr wrap="square" lIns="36576" rIns="36576" tIns="18288" bIns="18288" anchor="t">
            <a:spAutoFit/>
          </a:bodyPr>
          <a:lstStyle/>
          <a:p>
            <a:pPr algn="l">
              <a:lnSpc>
                <a:spcPct val="105000"/>
              </a:lnSpc>
              <a:spcAft>
                <a:spcPts val="300"/>
              </a:spcAft>
            </a:pPr>
            <a:r>
              <a:rPr sz="1200" b="0" i="0">
                <a:solidFill>
                  <a:srgbClr val="93C5FD"/>
                </a:solidFill>
                <a:latin typeface="Calibri"/>
              </a:rPr>
              <a:t>All data is synthetic. Prototype, not production. Repository commit 5d742e7 - 2026-10-20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THE PROBLEM</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Troubleshooting a degraded network means stitching together scattered evidence</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2 / 22</a:t>
            </a:r>
          </a:p>
        </p:txBody>
      </p:sp>
      <p:sp>
        <p:nvSpPr>
          <p:cNvPr id="7" name="card 1"/>
          <p:cNvSpPr/>
          <p:nvPr/>
        </p:nvSpPr>
        <p:spPr>
          <a:xfrm>
            <a:off x="502920" y="1463040"/>
            <a:ext cx="3611880" cy="2834640"/>
          </a:xfrm>
          <a:prstGeom prst="roundRect">
            <a:avLst>
              <a:gd name="adj" fmla="val 3225"/>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3291840" cy="457200"/>
          </a:xfrm>
          <a:prstGeom prst="rect">
            <a:avLst/>
          </a:prstGeom>
          <a:noFill/>
        </p:spPr>
        <p:txBody>
          <a:bodyPr wrap="square" lIns="36576" rIns="36576" tIns="18288" bIns="18288" anchor="t">
            <a:spAutoFit/>
          </a:bodyPr>
          <a:lstStyle/>
          <a:p>
            <a:pPr algn="l">
              <a:lnSpc>
                <a:spcPct val="105000"/>
              </a:lnSpc>
              <a:spcAft>
                <a:spcPts val="300"/>
              </a:spcAft>
            </a:pPr>
            <a:r>
              <a:rPr sz="1700" b="1" i="0">
                <a:solidFill>
                  <a:srgbClr val="0B2545"/>
                </a:solidFill>
                <a:latin typeface="Calibri"/>
              </a:rPr>
              <a:t>Evidence is scattered</a:t>
            </a:r>
          </a:p>
        </p:txBody>
      </p:sp>
      <p:sp>
        <p:nvSpPr>
          <p:cNvPr id="9" name="node: Metrics"/>
          <p:cNvSpPr/>
          <p:nvPr/>
        </p:nvSpPr>
        <p:spPr>
          <a:xfrm>
            <a:off x="731520" y="2148840"/>
            <a:ext cx="1508760" cy="457200"/>
          </a:xfrm>
          <a:prstGeom prst="roundRect">
            <a:avLst>
              <a:gd name="adj" fmla="val 20000"/>
            </a:avLst>
          </a:prstGeom>
          <a:solidFill>
            <a:srgbClr val="F1F5F9"/>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Metrics</a:t>
            </a:r>
          </a:p>
        </p:txBody>
      </p:sp>
      <p:sp>
        <p:nvSpPr>
          <p:cNvPr id="10" name="node: Deployments"/>
          <p:cNvSpPr/>
          <p:nvPr/>
        </p:nvSpPr>
        <p:spPr>
          <a:xfrm>
            <a:off x="2377440" y="2148840"/>
            <a:ext cx="1508760" cy="457200"/>
          </a:xfrm>
          <a:prstGeom prst="roundRect">
            <a:avLst>
              <a:gd name="adj" fmla="val 20000"/>
            </a:avLst>
          </a:prstGeom>
          <a:solidFill>
            <a:srgbClr val="F1F5F9"/>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Deployments</a:t>
            </a:r>
          </a:p>
        </p:txBody>
      </p:sp>
      <p:sp>
        <p:nvSpPr>
          <p:cNvPr id="11" name="node: IDS alerts"/>
          <p:cNvSpPr/>
          <p:nvPr/>
        </p:nvSpPr>
        <p:spPr>
          <a:xfrm>
            <a:off x="731520" y="2715768"/>
            <a:ext cx="1508760" cy="457200"/>
          </a:xfrm>
          <a:prstGeom prst="roundRect">
            <a:avLst>
              <a:gd name="adj" fmla="val 20000"/>
            </a:avLst>
          </a:prstGeom>
          <a:solidFill>
            <a:srgbClr val="F1F5F9"/>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IDS alerts</a:t>
            </a:r>
          </a:p>
        </p:txBody>
      </p:sp>
      <p:sp>
        <p:nvSpPr>
          <p:cNvPr id="12" name="node: Logs"/>
          <p:cNvSpPr/>
          <p:nvPr/>
        </p:nvSpPr>
        <p:spPr>
          <a:xfrm>
            <a:off x="2377440" y="2715768"/>
            <a:ext cx="1508760" cy="457200"/>
          </a:xfrm>
          <a:prstGeom prst="roundRect">
            <a:avLst>
              <a:gd name="adj" fmla="val 20000"/>
            </a:avLst>
          </a:prstGeom>
          <a:solidFill>
            <a:srgbClr val="F1F5F9"/>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Logs</a:t>
            </a:r>
          </a:p>
        </p:txBody>
      </p:sp>
      <p:sp>
        <p:nvSpPr>
          <p:cNvPr id="13" name="TextBox 12"/>
          <p:cNvSpPr txBox="1"/>
          <p:nvPr/>
        </p:nvSpPr>
        <p:spPr>
          <a:xfrm>
            <a:off x="685800" y="3520440"/>
            <a:ext cx="3291840" cy="731520"/>
          </a:xfrm>
          <a:prstGeom prst="rect">
            <a:avLst/>
          </a:prstGeom>
          <a:noFill/>
        </p:spPr>
        <p:txBody>
          <a:bodyPr wrap="square" lIns="36576" rIns="36576" tIns="18288" bIns="18288" anchor="t">
            <a:spAutoFit/>
          </a:bodyPr>
          <a:lstStyle/>
          <a:p>
            <a:pPr algn="l">
              <a:lnSpc>
                <a:spcPct val="105000"/>
              </a:lnSpc>
              <a:spcAft>
                <a:spcPts val="300"/>
              </a:spcAft>
            </a:pPr>
            <a:r>
              <a:rPr sz="1300" b="0" i="0">
                <a:solidFill>
                  <a:srgbClr val="1B2A41"/>
                </a:solidFill>
                <a:latin typeface="Calibri"/>
              </a:rPr>
              <a:t>Four tools, four formats, one question: what changed?</a:t>
            </a:r>
          </a:p>
        </p:txBody>
      </p:sp>
      <p:sp>
        <p:nvSpPr>
          <p:cNvPr id="14" name="card 2"/>
          <p:cNvSpPr/>
          <p:nvPr/>
        </p:nvSpPr>
        <p:spPr>
          <a:xfrm>
            <a:off x="4297680" y="1463040"/>
            <a:ext cx="3611880" cy="2834640"/>
          </a:xfrm>
          <a:prstGeom prst="roundRect">
            <a:avLst>
              <a:gd name="adj" fmla="val 3225"/>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554480"/>
            <a:ext cx="3291840" cy="457200"/>
          </a:xfrm>
          <a:prstGeom prst="rect">
            <a:avLst/>
          </a:prstGeom>
          <a:noFill/>
        </p:spPr>
        <p:txBody>
          <a:bodyPr wrap="square" lIns="36576" rIns="36576" tIns="18288" bIns="18288" anchor="t">
            <a:spAutoFit/>
          </a:bodyPr>
          <a:lstStyle/>
          <a:p>
            <a:pPr algn="l">
              <a:lnSpc>
                <a:spcPct val="105000"/>
              </a:lnSpc>
              <a:spcAft>
                <a:spcPts val="300"/>
              </a:spcAft>
            </a:pPr>
            <a:r>
              <a:rPr sz="1700" b="1" i="0">
                <a:solidFill>
                  <a:srgbClr val="0B2545"/>
                </a:solidFill>
                <a:latin typeface="Calibri"/>
              </a:rPr>
              <a:t>Symptoms arrive in a cascade</a:t>
            </a:r>
          </a:p>
        </p:txBody>
      </p:sp>
      <p:sp>
        <p:nvSpPr>
          <p:cNvPr id="16" name="TextBox 15"/>
          <p:cNvSpPr txBox="1"/>
          <p:nvPr/>
        </p:nvSpPr>
        <p:spPr>
          <a:xfrm>
            <a:off x="4480560" y="2011680"/>
            <a:ext cx="3291840" cy="822960"/>
          </a:xfrm>
          <a:prstGeom prst="rect">
            <a:avLst/>
          </a:prstGeom>
          <a:noFill/>
        </p:spPr>
        <p:txBody>
          <a:bodyPr wrap="square" lIns="36576" rIns="36576" tIns="18288" bIns="18288" anchor="t">
            <a:spAutoFit/>
          </a:bodyPr>
          <a:lstStyle/>
          <a:p>
            <a:pPr algn="l">
              <a:lnSpc>
                <a:spcPct val="105000"/>
              </a:lnSpc>
              <a:spcAft>
                <a:spcPts val="300"/>
              </a:spcAft>
            </a:pPr>
            <a:r>
              <a:rPr sz="3400" b="1" i="0">
                <a:solidFill>
                  <a:srgbClr val="B91C1C"/>
                </a:solidFill>
                <a:latin typeface="Calibri"/>
              </a:rPr>
              <a:t>9 alerts </a:t>
            </a:r>
            <a:r>
              <a:rPr sz="3400" b="1" i="0">
                <a:solidFill>
                  <a:srgbClr val="0B2545"/>
                </a:solidFill>
                <a:latin typeface="Calibri"/>
              </a:rPr>
              <a:t>→ 1 fault</a:t>
            </a:r>
          </a:p>
        </p:txBody>
      </p:sp>
      <p:sp>
        <p:nvSpPr>
          <p:cNvPr id="17" name="TextBox 16"/>
          <p:cNvSpPr txBox="1"/>
          <p:nvPr/>
        </p:nvSpPr>
        <p:spPr>
          <a:xfrm>
            <a:off x="4480560" y="2834640"/>
            <a:ext cx="3291840" cy="548640"/>
          </a:xfrm>
          <a:prstGeom prst="rect">
            <a:avLst/>
          </a:prstGeom>
          <a:noFill/>
        </p:spPr>
        <p:txBody>
          <a:bodyPr wrap="square" lIns="36576" rIns="36576" tIns="18288" bIns="18288" anchor="t">
            <a:spAutoFit/>
          </a:bodyPr>
          <a:lstStyle/>
          <a:p>
            <a:pPr algn="l">
              <a:lnSpc>
                <a:spcPct val="105000"/>
              </a:lnSpc>
              <a:spcAft>
                <a:spcPts val="300"/>
              </a:spcAft>
            </a:pPr>
            <a:r>
              <a:rPr sz="1150" b="0" i="0">
                <a:solidFill>
                  <a:srgbClr val="5B6B7F"/>
                </a:solidFill>
                <a:latin typeface="Calibri"/>
              </a:rPr>
              <a:t>memory, CPU, latency, jitter, loss, retransmits, drops, setup success, throughput</a:t>
            </a:r>
          </a:p>
        </p:txBody>
      </p:sp>
      <p:sp>
        <p:nvSpPr>
          <p:cNvPr id="18" name="TextBox 17"/>
          <p:cNvSpPr txBox="1"/>
          <p:nvPr/>
        </p:nvSpPr>
        <p:spPr>
          <a:xfrm>
            <a:off x="4480560" y="3520440"/>
            <a:ext cx="3291840" cy="731520"/>
          </a:xfrm>
          <a:prstGeom prst="rect">
            <a:avLst/>
          </a:prstGeom>
          <a:noFill/>
        </p:spPr>
        <p:txBody>
          <a:bodyPr wrap="square" lIns="36576" rIns="36576" tIns="18288" bIns="18288" anchor="t">
            <a:spAutoFit/>
          </a:bodyPr>
          <a:lstStyle/>
          <a:p>
            <a:pPr algn="l">
              <a:lnSpc>
                <a:spcPct val="105000"/>
              </a:lnSpc>
              <a:spcAft>
                <a:spcPts val="300"/>
              </a:spcAft>
            </a:pPr>
            <a:r>
              <a:rPr sz="1300" b="0" i="0">
                <a:solidFill>
                  <a:srgbClr val="1B2A41"/>
                </a:solidFill>
                <a:latin typeface="Calibri"/>
              </a:rPr>
              <a:t>One fault, nine alerts. The first symptom is rarely the one people notice.</a:t>
            </a:r>
          </a:p>
        </p:txBody>
      </p:sp>
      <p:sp>
        <p:nvSpPr>
          <p:cNvPr id="19" name="card 3"/>
          <p:cNvSpPr/>
          <p:nvPr/>
        </p:nvSpPr>
        <p:spPr>
          <a:xfrm>
            <a:off x="8092440" y="1463040"/>
            <a:ext cx="3611880" cy="2834640"/>
          </a:xfrm>
          <a:prstGeom prst="roundRect">
            <a:avLst>
              <a:gd name="adj" fmla="val 3225"/>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54480"/>
            <a:ext cx="3291840" cy="457200"/>
          </a:xfrm>
          <a:prstGeom prst="rect">
            <a:avLst/>
          </a:prstGeom>
          <a:noFill/>
        </p:spPr>
        <p:txBody>
          <a:bodyPr wrap="square" lIns="36576" rIns="36576" tIns="18288" bIns="18288" anchor="t">
            <a:spAutoFit/>
          </a:bodyPr>
          <a:lstStyle/>
          <a:p>
            <a:pPr algn="l">
              <a:lnSpc>
                <a:spcPct val="105000"/>
              </a:lnSpc>
              <a:spcAft>
                <a:spcPts val="300"/>
              </a:spcAft>
            </a:pPr>
            <a:r>
              <a:rPr sz="1700" b="1" i="0">
                <a:solidFill>
                  <a:srgbClr val="0B2545"/>
                </a:solidFill>
                <a:latin typeface="Calibri"/>
              </a:rPr>
              <a:t>Decisions need an audit trail</a:t>
            </a:r>
          </a:p>
        </p:txBody>
      </p:sp>
      <p:sp>
        <p:nvSpPr>
          <p:cNvPr id="21" name="node: Rollback?"/>
          <p:cNvSpPr/>
          <p:nvPr/>
        </p:nvSpPr>
        <p:spPr>
          <a:xfrm>
            <a:off x="8321040" y="2148840"/>
            <a:ext cx="1508760" cy="457200"/>
          </a:xfrm>
          <a:prstGeom prst="roundRect">
            <a:avLst>
              <a:gd name="adj" fmla="val 20000"/>
            </a:avLst>
          </a:prstGeom>
          <a:solidFill>
            <a:srgbClr val="FEE2E2"/>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Rollback?</a:t>
            </a:r>
          </a:p>
        </p:txBody>
      </p:sp>
      <p:sp>
        <p:nvSpPr>
          <p:cNvPr id="22" name="node: Approval"/>
          <p:cNvSpPr/>
          <p:nvPr/>
        </p:nvSpPr>
        <p:spPr>
          <a:xfrm>
            <a:off x="9966960" y="2148840"/>
            <a:ext cx="1508760" cy="457200"/>
          </a:xfrm>
          <a:prstGeom prst="roundRect">
            <a:avLst>
              <a:gd name="adj" fmla="val 20000"/>
            </a:avLst>
          </a:prstGeom>
          <a:solidFill>
            <a:srgbClr val="FEE2E2"/>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Approval</a:t>
            </a:r>
          </a:p>
        </p:txBody>
      </p:sp>
      <p:sp>
        <p:nvSpPr>
          <p:cNvPr id="23" name="node: Record"/>
          <p:cNvSpPr/>
          <p:nvPr/>
        </p:nvSpPr>
        <p:spPr>
          <a:xfrm>
            <a:off x="8321040" y="2715768"/>
            <a:ext cx="1508760" cy="457200"/>
          </a:xfrm>
          <a:prstGeom prst="roundRect">
            <a:avLst>
              <a:gd name="adj" fmla="val 20000"/>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Record</a:t>
            </a:r>
          </a:p>
        </p:txBody>
      </p:sp>
      <p:sp>
        <p:nvSpPr>
          <p:cNvPr id="24" name="TextBox 23"/>
          <p:cNvSpPr txBox="1"/>
          <p:nvPr/>
        </p:nvSpPr>
        <p:spPr>
          <a:xfrm>
            <a:off x="8275320" y="3520440"/>
            <a:ext cx="3291840" cy="731520"/>
          </a:xfrm>
          <a:prstGeom prst="rect">
            <a:avLst/>
          </a:prstGeom>
          <a:noFill/>
        </p:spPr>
        <p:txBody>
          <a:bodyPr wrap="square" lIns="36576" rIns="36576" tIns="18288" bIns="18288" anchor="t">
            <a:spAutoFit/>
          </a:bodyPr>
          <a:lstStyle/>
          <a:p>
            <a:pPr algn="l">
              <a:lnSpc>
                <a:spcPct val="105000"/>
              </a:lnSpc>
              <a:spcAft>
                <a:spcPts val="300"/>
              </a:spcAft>
            </a:pPr>
            <a:r>
              <a:rPr sz="1300" b="0" i="0">
                <a:solidFill>
                  <a:srgbClr val="1B2A41"/>
                </a:solidFill>
                <a:latin typeface="Calibri"/>
              </a:rPr>
              <a:t>A production rollback is risky and must be justified, approved and recorded.</a:t>
            </a:r>
          </a:p>
        </p:txBody>
      </p:sp>
      <p:sp>
        <p:nvSpPr>
          <p:cNvPr id="25" name="TextBox 24"/>
          <p:cNvSpPr txBox="1"/>
          <p:nvPr/>
        </p:nvSpPr>
        <p:spPr>
          <a:xfrm>
            <a:off x="502920" y="4526280"/>
            <a:ext cx="5486400" cy="274320"/>
          </a:xfrm>
          <a:prstGeom prst="rect">
            <a:avLst/>
          </a:prstGeom>
          <a:noFill/>
        </p:spPr>
        <p:txBody>
          <a:bodyPr wrap="square" lIns="36576" rIns="36576" tIns="18288" bIns="18288" anchor="t">
            <a:spAutoFit/>
          </a:bodyPr>
          <a:lstStyle/>
          <a:p>
            <a:pPr algn="l">
              <a:lnSpc>
                <a:spcPct val="105000"/>
              </a:lnSpc>
              <a:spcAft>
                <a:spcPts val="300"/>
              </a:spcAft>
            </a:pPr>
            <a:r>
              <a:rPr sz="1300" b="1" i="0">
                <a:solidFill>
                  <a:srgbClr val="0B2545"/>
                </a:solidFill>
                <a:latin typeface="Calibri"/>
              </a:rPr>
              <a:t>The seeded incident as an operator sees it</a:t>
            </a:r>
          </a:p>
        </p:txBody>
      </p:sp>
      <p:sp>
        <p:nvSpPr>
          <p:cNvPr id="26" name="node: memory"/>
          <p:cNvSpPr/>
          <p:nvPr/>
        </p:nvSpPr>
        <p:spPr>
          <a:xfrm>
            <a:off x="502920" y="4846320"/>
            <a:ext cx="1554480" cy="548640"/>
          </a:xfrm>
          <a:prstGeom prst="roundRect">
            <a:avLst>
              <a:gd name="adj" fmla="val 16666"/>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memory</a:t>
            </a:r>
          </a:p>
        </p:txBody>
      </p:sp>
      <p:cxnSp>
        <p:nvCxnSpPr>
          <p:cNvPr id="27" name="Connector 26"/>
          <p:cNvCxnSpPr/>
          <p:nvPr/>
        </p:nvCxnSpPr>
        <p:spPr>
          <a:xfrm>
            <a:off x="2057400" y="5120640"/>
            <a:ext cx="36576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node: CPU"/>
          <p:cNvSpPr/>
          <p:nvPr/>
        </p:nvSpPr>
        <p:spPr>
          <a:xfrm>
            <a:off x="2423160" y="4846320"/>
            <a:ext cx="1554480" cy="548640"/>
          </a:xfrm>
          <a:prstGeom prst="roundRect">
            <a:avLst>
              <a:gd name="adj" fmla="val 16666"/>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CPU</a:t>
            </a:r>
          </a:p>
        </p:txBody>
      </p:sp>
      <p:cxnSp>
        <p:nvCxnSpPr>
          <p:cNvPr id="29" name="Connector 28"/>
          <p:cNvCxnSpPr/>
          <p:nvPr/>
        </p:nvCxnSpPr>
        <p:spPr>
          <a:xfrm>
            <a:off x="3977640" y="5120640"/>
            <a:ext cx="36576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node: latency"/>
          <p:cNvSpPr/>
          <p:nvPr/>
        </p:nvSpPr>
        <p:spPr>
          <a:xfrm>
            <a:off x="4343400" y="4846320"/>
            <a:ext cx="1554480" cy="548640"/>
          </a:xfrm>
          <a:prstGeom prst="roundRect">
            <a:avLst>
              <a:gd name="adj" fmla="val 16666"/>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latency</a:t>
            </a:r>
          </a:p>
        </p:txBody>
      </p:sp>
      <p:cxnSp>
        <p:nvCxnSpPr>
          <p:cNvPr id="31" name="Connector 30"/>
          <p:cNvCxnSpPr/>
          <p:nvPr/>
        </p:nvCxnSpPr>
        <p:spPr>
          <a:xfrm>
            <a:off x="5897880" y="5120640"/>
            <a:ext cx="36576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node: packet loss"/>
          <p:cNvSpPr/>
          <p:nvPr/>
        </p:nvSpPr>
        <p:spPr>
          <a:xfrm>
            <a:off x="6263640" y="4846320"/>
            <a:ext cx="1554480" cy="548640"/>
          </a:xfrm>
          <a:prstGeom prst="roundRect">
            <a:avLst>
              <a:gd name="adj" fmla="val 16666"/>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packet loss</a:t>
            </a:r>
          </a:p>
        </p:txBody>
      </p:sp>
      <p:cxnSp>
        <p:nvCxnSpPr>
          <p:cNvPr id="33" name="Connector 32"/>
          <p:cNvCxnSpPr/>
          <p:nvPr/>
        </p:nvCxnSpPr>
        <p:spPr>
          <a:xfrm>
            <a:off x="7818120" y="5120640"/>
            <a:ext cx="36576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node: dropped calls"/>
          <p:cNvSpPr/>
          <p:nvPr/>
        </p:nvSpPr>
        <p:spPr>
          <a:xfrm>
            <a:off x="8183880" y="4846320"/>
            <a:ext cx="1554480" cy="548640"/>
          </a:xfrm>
          <a:prstGeom prst="roundRect">
            <a:avLst>
              <a:gd name="adj" fmla="val 16666"/>
            </a:avLst>
          </a:prstGeom>
          <a:solidFill>
            <a:srgbClr val="FEE2E2"/>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dropped calls</a:t>
            </a:r>
          </a:p>
        </p:txBody>
      </p:sp>
      <p:sp>
        <p:nvSpPr>
          <p:cNvPr id="35" name="TextBox 34"/>
          <p:cNvSpPr txBox="1"/>
          <p:nvPr/>
        </p:nvSpPr>
        <p:spPr>
          <a:xfrm>
            <a:off x="502920" y="5577840"/>
            <a:ext cx="11155680" cy="502920"/>
          </a:xfrm>
          <a:prstGeom prst="rect">
            <a:avLst/>
          </a:prstGeom>
          <a:noFill/>
        </p:spPr>
        <p:txBody>
          <a:bodyPr wrap="square" lIns="36576" rIns="36576" tIns="18288" bIns="18288" anchor="t">
            <a:spAutoFit/>
          </a:bodyPr>
          <a:lstStyle/>
          <a:p>
            <a:pPr algn="l">
              <a:lnSpc>
                <a:spcPct val="105000"/>
              </a:lnSpc>
              <a:spcAft>
                <a:spcPts val="300"/>
              </a:spcAft>
            </a:pPr>
            <a:r>
              <a:rPr sz="1400" b="1" i="0">
                <a:solidFill>
                  <a:srgbClr val="0B2545"/>
                </a:solidFill>
                <a:latin typeface="Calibri"/>
              </a:rPr>
              <a:t>Automated: </a:t>
            </a:r>
            <a:r>
              <a:rPr sz="1400" b="0" i="0">
                <a:solidFill>
                  <a:srgbClr val="1B2A41"/>
                </a:solidFill>
                <a:latin typeface="Calibri"/>
              </a:rPr>
              <a:t>evidence gathering, ordering, bookkeeping.   </a:t>
            </a:r>
            <a:r>
              <a:rPr sz="1400" b="1" i="0">
                <a:solidFill>
                  <a:srgbClr val="B91C1C"/>
                </a:solidFill>
                <a:latin typeface="Calibri"/>
              </a:rPr>
              <a:t>Still human: </a:t>
            </a:r>
            <a:r>
              <a:rPr sz="1400" b="0" i="0">
                <a:solidFill>
                  <a:srgbClr val="1B2A41"/>
                </a:solidFill>
                <a:latin typeface="Calibri"/>
              </a:rPr>
              <a:t>judgement, approval, accepting risk.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GOALS AND CAPABILITIES</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Six capabilities, each with an honest status</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3 / 22</a:t>
            </a:r>
          </a:p>
        </p:txBody>
      </p:sp>
      <p:sp>
        <p:nvSpPr>
          <p:cNvPr id="7" name="tile 1"/>
          <p:cNvSpPr/>
          <p:nvPr/>
        </p:nvSpPr>
        <p:spPr>
          <a:xfrm>
            <a:off x="502920" y="1508760"/>
            <a:ext cx="3611880" cy="2148840"/>
          </a:xfrm>
          <a:prstGeom prst="roundRect">
            <a:avLst>
              <a:gd name="adj" fmla="val 4255"/>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18488"/>
            <a:ext cx="3291840" cy="411480"/>
          </a:xfrm>
          <a:prstGeom prst="rect">
            <a:avLst/>
          </a:prstGeom>
          <a:noFill/>
        </p:spPr>
        <p:txBody>
          <a:bodyPr wrap="square" lIns="36576" rIns="36576" tIns="18288" bIns="18288" anchor="t">
            <a:spAutoFit/>
          </a:bodyPr>
          <a:lstStyle/>
          <a:p>
            <a:pPr algn="l">
              <a:lnSpc>
                <a:spcPct val="105000"/>
              </a:lnSpc>
              <a:spcAft>
                <a:spcPts val="300"/>
              </a:spcAft>
            </a:pPr>
            <a:r>
              <a:rPr sz="1800" b="1" i="0">
                <a:solidFill>
                  <a:srgbClr val="0B2545"/>
                </a:solidFill>
                <a:latin typeface="Calibri"/>
              </a:rPr>
              <a:t>C call analysis</a:t>
            </a:r>
          </a:p>
        </p:txBody>
      </p:sp>
      <p:sp>
        <p:nvSpPr>
          <p:cNvPr id="9" name="TextBox 8"/>
          <p:cNvSpPr txBox="1"/>
          <p:nvPr/>
        </p:nvSpPr>
        <p:spPr>
          <a:xfrm>
            <a:off x="685800" y="2075688"/>
            <a:ext cx="3291840" cy="868680"/>
          </a:xfrm>
          <a:prstGeom prst="rect">
            <a:avLst/>
          </a:prstGeom>
          <a:noFill/>
        </p:spPr>
        <p:txBody>
          <a:bodyPr wrap="square" lIns="36576" rIns="36576" tIns="18288" bIns="18288" anchor="t">
            <a:spAutoFit/>
          </a:bodyPr>
          <a:lstStyle/>
          <a:p>
            <a:pPr algn="l">
              <a:lnSpc>
                <a:spcPct val="105000"/>
              </a:lnSpc>
              <a:spcAft>
                <a:spcPts val="300"/>
              </a:spcAft>
            </a:pPr>
            <a:r>
              <a:rPr sz="1300" b="0" i="0">
                <a:solidFill>
                  <a:srgbClr val="1B2A41"/>
                </a:solidFill>
                <a:latin typeface="Calibri"/>
              </a:rPr>
              <a:t>Strict CSV parsing, per-cell and per-window statistics, robust outliers</a:t>
            </a:r>
          </a:p>
        </p:txBody>
      </p:sp>
      <p:sp>
        <p:nvSpPr>
          <p:cNvPr id="10" name="Rounded Rectangle 9"/>
          <p:cNvSpPr/>
          <p:nvPr/>
        </p:nvSpPr>
        <p:spPr>
          <a:xfrm>
            <a:off x="685800" y="3108960"/>
            <a:ext cx="109728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VERIFIED</a:t>
            </a:r>
          </a:p>
        </p:txBody>
      </p:sp>
      <p:sp>
        <p:nvSpPr>
          <p:cNvPr id="11" name="tile 2"/>
          <p:cNvSpPr/>
          <p:nvPr/>
        </p:nvSpPr>
        <p:spPr>
          <a:xfrm>
            <a:off x="4297680" y="1508760"/>
            <a:ext cx="3611880" cy="2148840"/>
          </a:xfrm>
          <a:prstGeom prst="roundRect">
            <a:avLst>
              <a:gd name="adj" fmla="val 4255"/>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618488"/>
            <a:ext cx="3291840" cy="411480"/>
          </a:xfrm>
          <a:prstGeom prst="rect">
            <a:avLst/>
          </a:prstGeom>
          <a:noFill/>
        </p:spPr>
        <p:txBody>
          <a:bodyPr wrap="square" lIns="36576" rIns="36576" tIns="18288" bIns="18288" anchor="t">
            <a:spAutoFit/>
          </a:bodyPr>
          <a:lstStyle/>
          <a:p>
            <a:pPr algn="l">
              <a:lnSpc>
                <a:spcPct val="105000"/>
              </a:lnSpc>
              <a:spcAft>
                <a:spcPts val="300"/>
              </a:spcAft>
            </a:pPr>
            <a:r>
              <a:rPr sz="1800" b="1" i="0">
                <a:solidFill>
                  <a:srgbClr val="0B2545"/>
                </a:solidFill>
                <a:latin typeface="Calibri"/>
              </a:rPr>
              <a:t>Telemetry and detection</a:t>
            </a:r>
          </a:p>
        </p:txBody>
      </p:sp>
      <p:sp>
        <p:nvSpPr>
          <p:cNvPr id="13" name="TextBox 12"/>
          <p:cNvSpPr txBox="1"/>
          <p:nvPr/>
        </p:nvSpPr>
        <p:spPr>
          <a:xfrm>
            <a:off x="4480560" y="2075688"/>
            <a:ext cx="3291840" cy="868680"/>
          </a:xfrm>
          <a:prstGeom prst="rect">
            <a:avLst/>
          </a:prstGeom>
          <a:noFill/>
        </p:spPr>
        <p:txBody>
          <a:bodyPr wrap="square" lIns="36576" rIns="36576" tIns="18288" bIns="18288" anchor="t">
            <a:spAutoFit/>
          </a:bodyPr>
          <a:lstStyle/>
          <a:p>
            <a:pPr algn="l">
              <a:lnSpc>
                <a:spcPct val="105000"/>
              </a:lnSpc>
              <a:spcAft>
                <a:spcPts val="300"/>
              </a:spcAft>
            </a:pPr>
            <a:r>
              <a:rPr sz="1300" b="0" i="0">
                <a:solidFill>
                  <a:srgbClr val="1B2A41"/>
                </a:solidFill>
                <a:latin typeface="Calibri"/>
              </a:rPr>
              <a:t>17 KPIs, 9 incident types, 4 interpretable detectors</a:t>
            </a:r>
          </a:p>
        </p:txBody>
      </p:sp>
      <p:sp>
        <p:nvSpPr>
          <p:cNvPr id="14" name="Rounded Rectangle 13"/>
          <p:cNvSpPr/>
          <p:nvPr/>
        </p:nvSpPr>
        <p:spPr>
          <a:xfrm>
            <a:off x="4480560" y="3108960"/>
            <a:ext cx="1417320" cy="274320"/>
          </a:xfrm>
          <a:prstGeom prst="roundRect">
            <a:avLst>
              <a:gd name="adj" fmla="val 50000"/>
            </a:avLst>
          </a:prstGeom>
          <a:solidFill>
            <a:srgbClr val="EDE9FE"/>
          </a:solidFill>
          <a:ln w="12700">
            <a:solidFill>
              <a:srgbClr val="4C1D9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4C1D95"/>
                </a:solidFill>
                <a:latin typeface="Calibri"/>
              </a:rPr>
              <a:t>SIMULATED DATA</a:t>
            </a:r>
          </a:p>
        </p:txBody>
      </p:sp>
      <p:sp>
        <p:nvSpPr>
          <p:cNvPr id="15" name="Rounded Rectangle 14"/>
          <p:cNvSpPr/>
          <p:nvPr/>
        </p:nvSpPr>
        <p:spPr>
          <a:xfrm>
            <a:off x="6007608" y="3108960"/>
            <a:ext cx="109728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VERIFIED</a:t>
            </a:r>
          </a:p>
        </p:txBody>
      </p:sp>
      <p:sp>
        <p:nvSpPr>
          <p:cNvPr id="16" name="tile 3"/>
          <p:cNvSpPr/>
          <p:nvPr/>
        </p:nvSpPr>
        <p:spPr>
          <a:xfrm>
            <a:off x="8092440" y="1508760"/>
            <a:ext cx="3611880" cy="2148840"/>
          </a:xfrm>
          <a:prstGeom prst="roundRect">
            <a:avLst>
              <a:gd name="adj" fmla="val 4255"/>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1618488"/>
            <a:ext cx="3291840" cy="411480"/>
          </a:xfrm>
          <a:prstGeom prst="rect">
            <a:avLst/>
          </a:prstGeom>
          <a:noFill/>
        </p:spPr>
        <p:txBody>
          <a:bodyPr wrap="square" lIns="36576" rIns="36576" tIns="18288" bIns="18288" anchor="t">
            <a:spAutoFit/>
          </a:bodyPr>
          <a:lstStyle/>
          <a:p>
            <a:pPr algn="l">
              <a:lnSpc>
                <a:spcPct val="105000"/>
              </a:lnSpc>
              <a:spcAft>
                <a:spcPts val="300"/>
              </a:spcAft>
            </a:pPr>
            <a:r>
              <a:rPr sz="1800" b="1" i="0">
                <a:solidFill>
                  <a:srgbClr val="0B2545"/>
                </a:solidFill>
                <a:latin typeface="Calibri"/>
              </a:rPr>
              <a:t>Correlation and RCA</a:t>
            </a:r>
          </a:p>
        </p:txBody>
      </p:sp>
      <p:sp>
        <p:nvSpPr>
          <p:cNvPr id="18" name="TextBox 17"/>
          <p:cNvSpPr txBox="1"/>
          <p:nvPr/>
        </p:nvSpPr>
        <p:spPr>
          <a:xfrm>
            <a:off x="8275320" y="2075688"/>
            <a:ext cx="3291840" cy="868680"/>
          </a:xfrm>
          <a:prstGeom prst="rect">
            <a:avLst/>
          </a:prstGeom>
          <a:noFill/>
        </p:spPr>
        <p:txBody>
          <a:bodyPr wrap="square" lIns="36576" rIns="36576" tIns="18288" bIns="18288" anchor="t">
            <a:spAutoFit/>
          </a:bodyPr>
          <a:lstStyle/>
          <a:p>
            <a:pPr algn="l">
              <a:lnSpc>
                <a:spcPct val="105000"/>
              </a:lnSpc>
              <a:spcAft>
                <a:spcPts val="300"/>
              </a:spcAft>
            </a:pPr>
            <a:r>
              <a:rPr sz="1300" b="0" i="0">
                <a:solidFill>
                  <a:srgbClr val="1B2A41"/>
                </a:solidFill>
                <a:latin typeface="Calibri"/>
              </a:rPr>
              <a:t>Ranked hypotheses; nine read-only tools; schema-validated answers</a:t>
            </a:r>
          </a:p>
        </p:txBody>
      </p:sp>
      <p:sp>
        <p:nvSpPr>
          <p:cNvPr id="19" name="Rounded Rectangle 18"/>
          <p:cNvSpPr/>
          <p:nvPr/>
        </p:nvSpPr>
        <p:spPr>
          <a:xfrm>
            <a:off x="8275320" y="3108960"/>
            <a:ext cx="137160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MOCK VERIFIED</a:t>
            </a:r>
          </a:p>
        </p:txBody>
      </p:sp>
      <p:sp>
        <p:nvSpPr>
          <p:cNvPr id="20" name="Rounded Rectangle 19"/>
          <p:cNvSpPr/>
          <p:nvPr/>
        </p:nvSpPr>
        <p:spPr>
          <a:xfrm>
            <a:off x="9756648" y="3108960"/>
            <a:ext cx="1828800" cy="274320"/>
          </a:xfrm>
          <a:prstGeom prst="roundRect">
            <a:avLst>
              <a:gd name="adj" fmla="val 50000"/>
            </a:avLst>
          </a:prstGeom>
          <a:solidFill>
            <a:srgbClr val="FFEDD5"/>
          </a:solidFill>
          <a:ln w="12700">
            <a:solidFill>
              <a:srgbClr val="7C2D1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7C2D12"/>
                </a:solidFill>
                <a:latin typeface="Calibri"/>
              </a:rPr>
              <a:t>LIVE LLM UNVERIFIED</a:t>
            </a:r>
          </a:p>
        </p:txBody>
      </p:sp>
      <p:sp>
        <p:nvSpPr>
          <p:cNvPr id="21" name="tile 4"/>
          <p:cNvSpPr/>
          <p:nvPr/>
        </p:nvSpPr>
        <p:spPr>
          <a:xfrm>
            <a:off x="502920" y="3840479"/>
            <a:ext cx="3611880" cy="2148840"/>
          </a:xfrm>
          <a:prstGeom prst="roundRect">
            <a:avLst>
              <a:gd name="adj" fmla="val 4255"/>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50207"/>
            <a:ext cx="3291840" cy="411480"/>
          </a:xfrm>
          <a:prstGeom prst="rect">
            <a:avLst/>
          </a:prstGeom>
          <a:noFill/>
        </p:spPr>
        <p:txBody>
          <a:bodyPr wrap="square" lIns="36576" rIns="36576" tIns="18288" bIns="18288" anchor="t">
            <a:spAutoFit/>
          </a:bodyPr>
          <a:lstStyle/>
          <a:p>
            <a:pPr algn="l">
              <a:lnSpc>
                <a:spcPct val="105000"/>
              </a:lnSpc>
              <a:spcAft>
                <a:spcPts val="300"/>
              </a:spcAft>
            </a:pPr>
            <a:r>
              <a:rPr sz="1800" b="1" i="0">
                <a:solidFill>
                  <a:srgbClr val="0B2545"/>
                </a:solidFill>
                <a:latin typeface="Calibri"/>
              </a:rPr>
              <a:t>Reports</a:t>
            </a:r>
          </a:p>
        </p:txBody>
      </p:sp>
      <p:sp>
        <p:nvSpPr>
          <p:cNvPr id="23" name="TextBox 22"/>
          <p:cNvSpPr txBox="1"/>
          <p:nvPr/>
        </p:nvSpPr>
        <p:spPr>
          <a:xfrm>
            <a:off x="685800" y="4407407"/>
            <a:ext cx="3291840" cy="868680"/>
          </a:xfrm>
          <a:prstGeom prst="rect">
            <a:avLst/>
          </a:prstGeom>
          <a:noFill/>
        </p:spPr>
        <p:txBody>
          <a:bodyPr wrap="square" lIns="36576" rIns="36576" tIns="18288" bIns="18288" anchor="t">
            <a:spAutoFit/>
          </a:bodyPr>
          <a:lstStyle/>
          <a:p>
            <a:pPr algn="l">
              <a:lnSpc>
                <a:spcPct val="105000"/>
              </a:lnSpc>
              <a:spcAft>
                <a:spcPts val="300"/>
              </a:spcAft>
            </a:pPr>
            <a:r>
              <a:rPr sz="1300" b="0" i="0">
                <a:solidFill>
                  <a:srgbClr val="1B2A41"/>
                </a:solidFill>
                <a:latin typeface="Calibri"/>
              </a:rPr>
              <a:t>JSON, Markdown, HTML computed from stored figures</a:t>
            </a:r>
          </a:p>
        </p:txBody>
      </p:sp>
      <p:sp>
        <p:nvSpPr>
          <p:cNvPr id="24" name="Rounded Rectangle 23"/>
          <p:cNvSpPr/>
          <p:nvPr/>
        </p:nvSpPr>
        <p:spPr>
          <a:xfrm>
            <a:off x="685800" y="5440679"/>
            <a:ext cx="109728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VERIFIED</a:t>
            </a:r>
          </a:p>
        </p:txBody>
      </p:sp>
      <p:sp>
        <p:nvSpPr>
          <p:cNvPr id="25" name="Rounded Rectangle 24"/>
          <p:cNvSpPr/>
          <p:nvPr/>
        </p:nvSpPr>
        <p:spPr>
          <a:xfrm>
            <a:off x="1892807" y="5440679"/>
            <a:ext cx="914400" cy="274320"/>
          </a:xfrm>
          <a:prstGeom prst="roundRect">
            <a:avLst>
              <a:gd name="adj" fmla="val 50000"/>
            </a:avLst>
          </a:prstGeom>
          <a:solidFill>
            <a:srgbClr val="FEE2E2"/>
          </a:solidFill>
          <a:ln w="12700">
            <a:solidFill>
              <a:srgbClr val="7F1D1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7F1D1D"/>
                </a:solidFill>
                <a:latin typeface="Calibri"/>
              </a:rPr>
              <a:t>NO PDF</a:t>
            </a:r>
          </a:p>
        </p:txBody>
      </p:sp>
      <p:sp>
        <p:nvSpPr>
          <p:cNvPr id="26" name="tile 5"/>
          <p:cNvSpPr/>
          <p:nvPr/>
        </p:nvSpPr>
        <p:spPr>
          <a:xfrm>
            <a:off x="4297680" y="3840479"/>
            <a:ext cx="3611880" cy="2148840"/>
          </a:xfrm>
          <a:prstGeom prst="roundRect">
            <a:avLst>
              <a:gd name="adj" fmla="val 4255"/>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3950207"/>
            <a:ext cx="3291840" cy="411480"/>
          </a:xfrm>
          <a:prstGeom prst="rect">
            <a:avLst/>
          </a:prstGeom>
          <a:noFill/>
        </p:spPr>
        <p:txBody>
          <a:bodyPr wrap="square" lIns="36576" rIns="36576" tIns="18288" bIns="18288" anchor="t">
            <a:spAutoFit/>
          </a:bodyPr>
          <a:lstStyle/>
          <a:p>
            <a:pPr algn="l">
              <a:lnSpc>
                <a:spcPct val="105000"/>
              </a:lnSpc>
              <a:spcAft>
                <a:spcPts val="300"/>
              </a:spcAft>
            </a:pPr>
            <a:r>
              <a:rPr sz="1800" b="1" i="0">
                <a:solidFill>
                  <a:srgbClr val="0B2545"/>
                </a:solidFill>
                <a:latin typeface="Calibri"/>
              </a:rPr>
              <a:t>DevSecOps agent</a:t>
            </a:r>
          </a:p>
        </p:txBody>
      </p:sp>
      <p:sp>
        <p:nvSpPr>
          <p:cNvPr id="28" name="TextBox 27"/>
          <p:cNvSpPr txBox="1"/>
          <p:nvPr/>
        </p:nvSpPr>
        <p:spPr>
          <a:xfrm>
            <a:off x="4480560" y="4407407"/>
            <a:ext cx="3291840" cy="868680"/>
          </a:xfrm>
          <a:prstGeom prst="rect">
            <a:avLst/>
          </a:prstGeom>
          <a:noFill/>
        </p:spPr>
        <p:txBody>
          <a:bodyPr wrap="square" lIns="36576" rIns="36576" tIns="18288" bIns="18288" anchor="t">
            <a:spAutoFit/>
          </a:bodyPr>
          <a:lstStyle/>
          <a:p>
            <a:pPr algn="l">
              <a:lnSpc>
                <a:spcPct val="105000"/>
              </a:lnSpc>
              <a:spcAft>
                <a:spcPts val="300"/>
              </a:spcAft>
            </a:pPr>
            <a:r>
              <a:rPr sz="1300" b="0" i="0">
                <a:solidFill>
                  <a:srgbClr val="1B2A41"/>
                </a:solidFill>
                <a:latin typeface="Calibri"/>
              </a:rPr>
              <a:t>Deterministic playbooks, risk classes, approvals, sandbox</a:t>
            </a:r>
          </a:p>
        </p:txBody>
      </p:sp>
      <p:sp>
        <p:nvSpPr>
          <p:cNvPr id="29" name="Rounded Rectangle 28"/>
          <p:cNvSpPr/>
          <p:nvPr/>
        </p:nvSpPr>
        <p:spPr>
          <a:xfrm>
            <a:off x="4480560" y="5440679"/>
            <a:ext cx="109728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VERIFIED</a:t>
            </a:r>
          </a:p>
        </p:txBody>
      </p:sp>
      <p:sp>
        <p:nvSpPr>
          <p:cNvPr id="30" name="Rounded Rectangle 29"/>
          <p:cNvSpPr/>
          <p:nvPr/>
        </p:nvSpPr>
        <p:spPr>
          <a:xfrm>
            <a:off x="5687568" y="5440679"/>
            <a:ext cx="1828800" cy="274320"/>
          </a:xfrm>
          <a:prstGeom prst="roundRect">
            <a:avLst>
              <a:gd name="adj" fmla="val 50000"/>
            </a:avLst>
          </a:prstGeom>
          <a:solidFill>
            <a:srgbClr val="EDE9FE"/>
          </a:solidFill>
          <a:ln w="12700">
            <a:solidFill>
              <a:srgbClr val="4C1D9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4C1D95"/>
                </a:solidFill>
                <a:latin typeface="Calibri"/>
              </a:rPr>
              <a:t>ROLLBACK SIMULATED</a:t>
            </a:r>
          </a:p>
        </p:txBody>
      </p:sp>
      <p:sp>
        <p:nvSpPr>
          <p:cNvPr id="31" name="tile 6"/>
          <p:cNvSpPr/>
          <p:nvPr/>
        </p:nvSpPr>
        <p:spPr>
          <a:xfrm>
            <a:off x="8092440" y="3840479"/>
            <a:ext cx="3611880" cy="2148840"/>
          </a:xfrm>
          <a:prstGeom prst="roundRect">
            <a:avLst>
              <a:gd name="adj" fmla="val 4255"/>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20" y="3950207"/>
            <a:ext cx="3291840" cy="411480"/>
          </a:xfrm>
          <a:prstGeom prst="rect">
            <a:avLst/>
          </a:prstGeom>
          <a:noFill/>
        </p:spPr>
        <p:txBody>
          <a:bodyPr wrap="square" lIns="36576" rIns="36576" tIns="18288" bIns="18288" anchor="t">
            <a:spAutoFit/>
          </a:bodyPr>
          <a:lstStyle/>
          <a:p>
            <a:pPr algn="l">
              <a:lnSpc>
                <a:spcPct val="105000"/>
              </a:lnSpc>
              <a:spcAft>
                <a:spcPts val="300"/>
              </a:spcAft>
            </a:pPr>
            <a:r>
              <a:rPr sz="1800" b="1" i="0">
                <a:solidFill>
                  <a:srgbClr val="0B2545"/>
                </a:solidFill>
                <a:latin typeface="Calibri"/>
              </a:rPr>
              <a:t>Platform</a:t>
            </a:r>
          </a:p>
        </p:txBody>
      </p:sp>
      <p:sp>
        <p:nvSpPr>
          <p:cNvPr id="33" name="TextBox 32"/>
          <p:cNvSpPr txBox="1"/>
          <p:nvPr/>
        </p:nvSpPr>
        <p:spPr>
          <a:xfrm>
            <a:off x="8275320" y="4407407"/>
            <a:ext cx="3291840" cy="868680"/>
          </a:xfrm>
          <a:prstGeom prst="rect">
            <a:avLst/>
          </a:prstGeom>
          <a:noFill/>
        </p:spPr>
        <p:txBody>
          <a:bodyPr wrap="square" lIns="36576" rIns="36576" tIns="18288" bIns="18288" anchor="t">
            <a:spAutoFit/>
          </a:bodyPr>
          <a:lstStyle/>
          <a:p>
            <a:pPr algn="l">
              <a:lnSpc>
                <a:spcPct val="105000"/>
              </a:lnSpc>
              <a:spcAft>
                <a:spcPts val="300"/>
              </a:spcAft>
            </a:pPr>
            <a:r>
              <a:rPr sz="1300" b="0" i="0">
                <a:solidFill>
                  <a:srgbClr val="1B2A41"/>
                </a:solidFill>
                <a:latin typeface="Calibri"/>
              </a:rPr>
              <a:t>FastAPI, RBAC, hash-chained audit, React dashboard, Docker</a:t>
            </a:r>
          </a:p>
        </p:txBody>
      </p:sp>
      <p:sp>
        <p:nvSpPr>
          <p:cNvPr id="34" name="Rounded Rectangle 33"/>
          <p:cNvSpPr/>
          <p:nvPr/>
        </p:nvSpPr>
        <p:spPr>
          <a:xfrm>
            <a:off x="8275320" y="5440679"/>
            <a:ext cx="109728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VERIFIED</a:t>
            </a:r>
          </a:p>
        </p:txBody>
      </p:sp>
      <p:sp>
        <p:nvSpPr>
          <p:cNvPr id="35" name="Rounded Rectangle 34"/>
          <p:cNvSpPr/>
          <p:nvPr/>
        </p:nvSpPr>
        <p:spPr>
          <a:xfrm>
            <a:off x="9482328" y="5440679"/>
            <a:ext cx="1737360" cy="274320"/>
          </a:xfrm>
          <a:prstGeom prst="roundRect">
            <a:avLst>
              <a:gd name="adj" fmla="val 50000"/>
            </a:avLst>
          </a:prstGeom>
          <a:solidFill>
            <a:srgbClr val="FFEDD5"/>
          </a:solidFill>
          <a:ln w="12700">
            <a:solidFill>
              <a:srgbClr val="7C2D1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7C2D12"/>
                </a:solidFill>
                <a:latin typeface="Calibri"/>
              </a:rPr>
              <a:t>DOCKER NOT RE-RUN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END TO END</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One incident travels through ten stages, and later stages read stored evidence</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4 / 22</a:t>
            </a:r>
          </a:p>
        </p:txBody>
      </p:sp>
      <p:sp>
        <p:nvSpPr>
          <p:cNvPr id="7" name="node: 1 Generate"/>
          <p:cNvSpPr/>
          <p:nvPr/>
        </p:nvSpPr>
        <p:spPr>
          <a:xfrm>
            <a:off x="502920" y="1554480"/>
            <a:ext cx="2011680" cy="1234440"/>
          </a:xfrm>
          <a:prstGeom prst="roundRect">
            <a:avLst>
              <a:gd name="adj" fmla="val 7407"/>
            </a:avLst>
          </a:prstGeom>
          <a:solidFill>
            <a:srgbClr val="F1F5F9"/>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1 Generate</a:t>
            </a:r>
          </a:p>
          <a:p>
            <a:pPr algn="ctr"/>
            <a:r>
              <a:rPr sz="1200">
                <a:solidFill>
                  <a:srgbClr val="5B6B7F"/>
                </a:solidFill>
                <a:latin typeface="Calibri"/>
              </a:rPr>
              <a:t>simulator, events, CDR CSV</a:t>
            </a:r>
          </a:p>
        </p:txBody>
      </p:sp>
      <p:cxnSp>
        <p:nvCxnSpPr>
          <p:cNvPr id="8" name="Connector 7"/>
          <p:cNvCxnSpPr/>
          <p:nvPr/>
        </p:nvCxnSpPr>
        <p:spPr>
          <a:xfrm>
            <a:off x="2514600" y="2171700"/>
            <a:ext cx="27432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node: 2 Call analysis"/>
          <p:cNvSpPr/>
          <p:nvPr/>
        </p:nvSpPr>
        <p:spPr>
          <a:xfrm>
            <a:off x="2788920" y="1554480"/>
            <a:ext cx="2011680" cy="1234440"/>
          </a:xfrm>
          <a:prstGeom prst="roundRect">
            <a:avLst>
              <a:gd name="adj" fmla="val 7407"/>
            </a:avLst>
          </a:prstGeom>
          <a:solidFill>
            <a:srgbClr val="FEF3C7"/>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2 Call analysis</a:t>
            </a:r>
          </a:p>
          <a:p>
            <a:pPr algn="ctr"/>
            <a:r>
              <a:rPr sz="1200">
                <a:solidFill>
                  <a:srgbClr val="5B6B7F"/>
                </a:solidFill>
                <a:latin typeface="Calibri"/>
              </a:rPr>
              <a:t>C library, ctypes</a:t>
            </a:r>
          </a:p>
        </p:txBody>
      </p:sp>
      <p:cxnSp>
        <p:nvCxnSpPr>
          <p:cNvPr id="10" name="Connector 9"/>
          <p:cNvCxnSpPr/>
          <p:nvPr/>
        </p:nvCxnSpPr>
        <p:spPr>
          <a:xfrm>
            <a:off x="4800600" y="2171700"/>
            <a:ext cx="27432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node: 3 Detect"/>
          <p:cNvSpPr/>
          <p:nvPr/>
        </p:nvSpPr>
        <p:spPr>
          <a:xfrm>
            <a:off x="5074920" y="1554480"/>
            <a:ext cx="2011680" cy="1234440"/>
          </a:xfrm>
          <a:prstGeom prst="roundRect">
            <a:avLst>
              <a:gd name="adj" fmla="val 7407"/>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3 Detect</a:t>
            </a:r>
          </a:p>
          <a:p>
            <a:pPr algn="ctr"/>
            <a:r>
              <a:rPr sz="1200">
                <a:solidFill>
                  <a:srgbClr val="5B6B7F"/>
                </a:solidFill>
                <a:latin typeface="Calibri"/>
              </a:rPr>
              <a:t>4 detectors per KPI</a:t>
            </a:r>
          </a:p>
        </p:txBody>
      </p:sp>
      <p:cxnSp>
        <p:nvCxnSpPr>
          <p:cNvPr id="12" name="Connector 11"/>
          <p:cNvCxnSpPr/>
          <p:nvPr/>
        </p:nvCxnSpPr>
        <p:spPr>
          <a:xfrm>
            <a:off x="7086600" y="2171700"/>
            <a:ext cx="27432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node: 4 Correlate"/>
          <p:cNvSpPr/>
          <p:nvPr/>
        </p:nvSpPr>
        <p:spPr>
          <a:xfrm>
            <a:off x="7360920" y="1554480"/>
            <a:ext cx="2011680" cy="1234440"/>
          </a:xfrm>
          <a:prstGeom prst="roundRect">
            <a:avLst>
              <a:gd name="adj" fmla="val 7407"/>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4 Correlate</a:t>
            </a:r>
          </a:p>
          <a:p>
            <a:pPr algn="ctr"/>
            <a:r>
              <a:rPr sz="1200">
                <a:solidFill>
                  <a:srgbClr val="5B6B7F"/>
                </a:solidFill>
                <a:latin typeface="Calibri"/>
              </a:rPr>
              <a:t>cluster, score causes</a:t>
            </a:r>
          </a:p>
        </p:txBody>
      </p:sp>
      <p:cxnSp>
        <p:nvCxnSpPr>
          <p:cNvPr id="14" name="Connector 13"/>
          <p:cNvCxnSpPr/>
          <p:nvPr/>
        </p:nvCxnSpPr>
        <p:spPr>
          <a:xfrm>
            <a:off x="9372600" y="2171700"/>
            <a:ext cx="27432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node: 5 Store"/>
          <p:cNvSpPr/>
          <p:nvPr/>
        </p:nvSpPr>
        <p:spPr>
          <a:xfrm>
            <a:off x="9646920" y="1554480"/>
            <a:ext cx="2011680" cy="1234440"/>
          </a:xfrm>
          <a:prstGeom prst="roundRect">
            <a:avLst>
              <a:gd name="adj" fmla="val 7407"/>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5 Store</a:t>
            </a:r>
          </a:p>
          <a:p>
            <a:pPr algn="ctr"/>
            <a:r>
              <a:rPr sz="1200">
                <a:solidFill>
                  <a:srgbClr val="5B6B7F"/>
                </a:solidFill>
                <a:latin typeface="Calibri"/>
              </a:rPr>
              <a:t>19 tables</a:t>
            </a:r>
          </a:p>
        </p:txBody>
      </p:sp>
      <p:sp>
        <p:nvSpPr>
          <p:cNvPr id="16" name="node: 6 Investigate"/>
          <p:cNvSpPr/>
          <p:nvPr/>
        </p:nvSpPr>
        <p:spPr>
          <a:xfrm>
            <a:off x="502920" y="3474720"/>
            <a:ext cx="2011680" cy="1234440"/>
          </a:xfrm>
          <a:prstGeom prst="roundRect">
            <a:avLst>
              <a:gd name="adj" fmla="val 7407"/>
            </a:avLst>
          </a:prstGeom>
          <a:solidFill>
            <a:srgbClr val="EDE9FE"/>
          </a:solidFill>
          <a:ln w="15875">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6 Investigate</a:t>
            </a:r>
          </a:p>
          <a:p>
            <a:pPr algn="ctr"/>
            <a:r>
              <a:rPr sz="1200">
                <a:solidFill>
                  <a:srgbClr val="5B6B7F"/>
                </a:solidFill>
                <a:latin typeface="Calibri"/>
              </a:rPr>
              <a:t>RCA + read-only tools</a:t>
            </a:r>
          </a:p>
        </p:txBody>
      </p:sp>
      <p:cxnSp>
        <p:nvCxnSpPr>
          <p:cNvPr id="17" name="Connector 16"/>
          <p:cNvCxnSpPr/>
          <p:nvPr/>
        </p:nvCxnSpPr>
        <p:spPr>
          <a:xfrm>
            <a:off x="2514600" y="4091939"/>
            <a:ext cx="27432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node: 7 Report"/>
          <p:cNvSpPr/>
          <p:nvPr/>
        </p:nvSpPr>
        <p:spPr>
          <a:xfrm>
            <a:off x="2788920" y="3474720"/>
            <a:ext cx="2011680" cy="1234440"/>
          </a:xfrm>
          <a:prstGeom prst="roundRect">
            <a:avLst>
              <a:gd name="adj" fmla="val 7407"/>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7 Report</a:t>
            </a:r>
          </a:p>
          <a:p>
            <a:pPr algn="ctr"/>
            <a:r>
              <a:rPr sz="1200">
                <a:solidFill>
                  <a:srgbClr val="5B6B7F"/>
                </a:solidFill>
                <a:latin typeface="Calibri"/>
              </a:rPr>
              <a:t>JSON / MD / HTML</a:t>
            </a:r>
          </a:p>
        </p:txBody>
      </p:sp>
      <p:cxnSp>
        <p:nvCxnSpPr>
          <p:cNvPr id="19" name="Connector 18"/>
          <p:cNvCxnSpPr/>
          <p:nvPr/>
        </p:nvCxnSpPr>
        <p:spPr>
          <a:xfrm>
            <a:off x="4800600" y="4091939"/>
            <a:ext cx="27432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node: 8 Act"/>
          <p:cNvSpPr/>
          <p:nvPr/>
        </p:nvSpPr>
        <p:spPr>
          <a:xfrm>
            <a:off x="5074920" y="3474720"/>
            <a:ext cx="2011680" cy="1234440"/>
          </a:xfrm>
          <a:prstGeom prst="roundRect">
            <a:avLst>
              <a:gd name="adj" fmla="val 7407"/>
            </a:avLst>
          </a:prstGeom>
          <a:solidFill>
            <a:srgbClr val="FEE2E2"/>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8 Act</a:t>
            </a:r>
          </a:p>
          <a:p>
            <a:pPr algn="ctr"/>
            <a:r>
              <a:rPr sz="1200">
                <a:solidFill>
                  <a:srgbClr val="5B6B7F"/>
                </a:solidFill>
                <a:latin typeface="Calibri"/>
              </a:rPr>
              <a:t>playbook + policy gate</a:t>
            </a:r>
          </a:p>
        </p:txBody>
      </p:sp>
      <p:cxnSp>
        <p:nvCxnSpPr>
          <p:cNvPr id="21" name="Connector 20"/>
          <p:cNvCxnSpPr/>
          <p:nvPr/>
        </p:nvCxnSpPr>
        <p:spPr>
          <a:xfrm>
            <a:off x="7086600" y="4091939"/>
            <a:ext cx="27432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node: 9 Verify"/>
          <p:cNvSpPr/>
          <p:nvPr/>
        </p:nvSpPr>
        <p:spPr>
          <a:xfrm>
            <a:off x="7360920" y="3474720"/>
            <a:ext cx="2011680" cy="1234440"/>
          </a:xfrm>
          <a:prstGeom prst="roundRect">
            <a:avLst>
              <a:gd name="adj" fmla="val 7407"/>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9 Verify</a:t>
            </a:r>
          </a:p>
          <a:p>
            <a:pPr algn="ctr"/>
            <a:r>
              <a:rPr sz="1200">
                <a:solidFill>
                  <a:srgbClr val="5B6B7F"/>
                </a:solidFill>
                <a:latin typeface="Calibri"/>
              </a:rPr>
              <a:t>recovery vs baseline</a:t>
            </a:r>
          </a:p>
        </p:txBody>
      </p:sp>
      <p:cxnSp>
        <p:nvCxnSpPr>
          <p:cNvPr id="23" name="Connector 22"/>
          <p:cNvCxnSpPr/>
          <p:nvPr/>
        </p:nvCxnSpPr>
        <p:spPr>
          <a:xfrm>
            <a:off x="9372600" y="4091939"/>
            <a:ext cx="27432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node: 10 Audit + show"/>
          <p:cNvSpPr/>
          <p:nvPr/>
        </p:nvSpPr>
        <p:spPr>
          <a:xfrm>
            <a:off x="9646920" y="3474720"/>
            <a:ext cx="2011680" cy="1234440"/>
          </a:xfrm>
          <a:prstGeom prst="roundRect">
            <a:avLst>
              <a:gd name="adj" fmla="val 7407"/>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10 Audit + show</a:t>
            </a:r>
          </a:p>
          <a:p>
            <a:pPr algn="ctr"/>
            <a:r>
              <a:rPr sz="1200">
                <a:solidFill>
                  <a:srgbClr val="5B6B7F"/>
                </a:solidFill>
                <a:latin typeface="Calibri"/>
              </a:rPr>
              <a:t>hash chain, dashboard</a:t>
            </a:r>
          </a:p>
        </p:txBody>
      </p:sp>
      <p:cxnSp>
        <p:nvCxnSpPr>
          <p:cNvPr id="25" name="Connector 24"/>
          <p:cNvCxnSpPr/>
          <p:nvPr/>
        </p:nvCxnSpPr>
        <p:spPr>
          <a:xfrm>
            <a:off x="10652760" y="2788920"/>
            <a:ext cx="0" cy="34290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508760" y="3131820"/>
            <a:ext cx="9144000" cy="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508760" y="3131820"/>
            <a:ext cx="0" cy="34290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926080" y="2802636"/>
            <a:ext cx="5852160" cy="274320"/>
          </a:xfrm>
          <a:prstGeom prst="rect">
            <a:avLst/>
          </a:prstGeom>
          <a:noFill/>
        </p:spPr>
        <p:txBody>
          <a:bodyPr wrap="square" lIns="36576" rIns="36576" tIns="18288" bIns="18288" anchor="t">
            <a:spAutoFit/>
          </a:bodyPr>
          <a:lstStyle/>
          <a:p>
            <a:pPr algn="ctr">
              <a:lnSpc>
                <a:spcPct val="105000"/>
              </a:lnSpc>
              <a:spcAft>
                <a:spcPts val="300"/>
              </a:spcAft>
            </a:pPr>
            <a:r>
              <a:rPr sz="1150" b="0" i="1">
                <a:solidFill>
                  <a:srgbClr val="5B6B7F"/>
                </a:solidFill>
                <a:latin typeface="Calibri"/>
              </a:rPr>
              <a:t>state persisted: later stages read the database</a:t>
            </a:r>
          </a:p>
        </p:txBody>
      </p:sp>
      <p:sp>
        <p:nvSpPr>
          <p:cNvPr id="29" name="recorded result"/>
          <p:cNvSpPr/>
          <p:nvPr/>
        </p:nvSpPr>
        <p:spPr>
          <a:xfrm>
            <a:off x="502920" y="5440680"/>
            <a:ext cx="11155680" cy="640080"/>
          </a:xfrm>
          <a:prstGeom prst="roundRect">
            <a:avLst>
              <a:gd name="adj" fmla="val 14285"/>
            </a:avLst>
          </a:prstGeom>
          <a:solidFill>
            <a:srgbClr val="F0FDF4"/>
          </a:solidFill>
          <a:ln w="12700">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504688"/>
            <a:ext cx="10789920" cy="502920"/>
          </a:xfrm>
          <a:prstGeom prst="rect">
            <a:avLst/>
          </a:prstGeom>
          <a:noFill/>
        </p:spPr>
        <p:txBody>
          <a:bodyPr wrap="square" lIns="36576" rIns="36576" tIns="18288" bIns="18288" anchor="ctr">
            <a:spAutoFit/>
          </a:bodyPr>
          <a:lstStyle/>
          <a:p>
            <a:pPr algn="l">
              <a:lnSpc>
                <a:spcPct val="105000"/>
              </a:lnSpc>
              <a:spcAft>
                <a:spcPts val="300"/>
              </a:spcAft>
            </a:pPr>
            <a:r>
              <a:rPr sz="1400" b="1" i="0">
                <a:solidFill>
                  <a:srgbClr val="14532D"/>
                </a:solidFill>
                <a:latin typeface="Calibri"/>
              </a:rPr>
              <a:t>Recorded run: </a:t>
            </a:r>
            <a:r>
              <a:rPr sz="1400" b="0" i="0">
                <a:solidFill>
                  <a:srgbClr val="1B2A41"/>
                </a:solidFill>
                <a:latin typeface="Calibri"/>
              </a:rPr>
              <a:t>make demo (seed 7) - INC-2026-001 CRITICAL, 13 steps, exit 0, rollback verified, audit chain valid (24 rows).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ARCHITECTURE</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Four languages meet at three explicit interfaces</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5 / 22</a:t>
            </a:r>
          </a:p>
        </p:txBody>
      </p:sp>
      <p:sp>
        <p:nvSpPr>
          <p:cNvPr id="7" name="layer Presentation"/>
          <p:cNvSpPr/>
          <p:nvPr/>
        </p:nvSpPr>
        <p:spPr>
          <a:xfrm>
            <a:off x="502920" y="1344168"/>
            <a:ext cx="11155680" cy="822960"/>
          </a:xfrm>
          <a:prstGeom prst="roundRect">
            <a:avLst>
              <a:gd name="adj" fmla="val 11111"/>
            </a:avLst>
          </a:prstGeom>
          <a:solidFill>
            <a:srgbClr val="F8FAFC"/>
          </a:solidFill>
          <a:ln w="12700">
            <a:solidFill>
              <a:srgbClr val="E2E8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62456"/>
            <a:ext cx="1463040" cy="274320"/>
          </a:xfrm>
          <a:prstGeom prst="rect">
            <a:avLst/>
          </a:prstGeom>
          <a:noFill/>
        </p:spPr>
        <p:txBody>
          <a:bodyPr wrap="square" lIns="36576" rIns="36576" tIns="18288" bIns="18288" anchor="t">
            <a:spAutoFit/>
          </a:bodyPr>
          <a:lstStyle/>
          <a:p>
            <a:pPr algn="l">
              <a:lnSpc>
                <a:spcPct val="105000"/>
              </a:lnSpc>
              <a:spcAft>
                <a:spcPts val="300"/>
              </a:spcAft>
            </a:pPr>
            <a:r>
              <a:rPr sz="1000" b="1" i="0">
                <a:solidFill>
                  <a:srgbClr val="5B6B7F"/>
                </a:solidFill>
                <a:latin typeface="Calibri"/>
              </a:rPr>
              <a:t>PRESENTATION</a:t>
            </a:r>
          </a:p>
        </p:txBody>
      </p:sp>
      <p:sp>
        <p:nvSpPr>
          <p:cNvPr id="9" name="node: React + TypeScript dashboard"/>
          <p:cNvSpPr/>
          <p:nvPr/>
        </p:nvSpPr>
        <p:spPr>
          <a:xfrm>
            <a:off x="1828800" y="1453896"/>
            <a:ext cx="4754880" cy="640080"/>
          </a:xfrm>
          <a:prstGeom prst="roundRect">
            <a:avLst>
              <a:gd name="adj" fmla="val 14285"/>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React + TypeScript dashboard</a:t>
            </a:r>
          </a:p>
          <a:p>
            <a:pPr algn="ctr"/>
            <a:r>
              <a:rPr sz="1000">
                <a:solidFill>
                  <a:srgbClr val="5B6B7F"/>
                </a:solidFill>
                <a:latin typeface="Calibri"/>
              </a:rPr>
              <a:t>11 pages</a:t>
            </a:r>
          </a:p>
        </p:txBody>
      </p:sp>
      <p:sp>
        <p:nvSpPr>
          <p:cNvPr id="10" name="node: nginx"/>
          <p:cNvSpPr/>
          <p:nvPr/>
        </p:nvSpPr>
        <p:spPr>
          <a:xfrm>
            <a:off x="6812280" y="1453896"/>
            <a:ext cx="4206240" cy="640080"/>
          </a:xfrm>
          <a:prstGeom prst="roundRect">
            <a:avLst>
              <a:gd name="adj" fmla="val 14285"/>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nginx</a:t>
            </a:r>
          </a:p>
          <a:p>
            <a:pPr algn="ctr"/>
            <a:r>
              <a:rPr sz="1000">
                <a:solidFill>
                  <a:srgbClr val="5B6B7F"/>
                </a:solidFill>
                <a:latin typeface="Calibri"/>
              </a:rPr>
              <a:t>serves SPA, proxies /api</a:t>
            </a:r>
          </a:p>
        </p:txBody>
      </p:sp>
      <p:sp>
        <p:nvSpPr>
          <p:cNvPr id="11" name="layer API"/>
          <p:cNvSpPr/>
          <p:nvPr/>
        </p:nvSpPr>
        <p:spPr>
          <a:xfrm>
            <a:off x="502920" y="2258568"/>
            <a:ext cx="11155680" cy="822960"/>
          </a:xfrm>
          <a:prstGeom prst="roundRect">
            <a:avLst>
              <a:gd name="adj" fmla="val 11111"/>
            </a:avLst>
          </a:prstGeom>
          <a:solidFill>
            <a:srgbClr val="F8FAFC"/>
          </a:solidFill>
          <a:ln w="12700">
            <a:solidFill>
              <a:srgbClr val="E2E8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76856"/>
            <a:ext cx="1463040" cy="274320"/>
          </a:xfrm>
          <a:prstGeom prst="rect">
            <a:avLst/>
          </a:prstGeom>
          <a:noFill/>
        </p:spPr>
        <p:txBody>
          <a:bodyPr wrap="square" lIns="36576" rIns="36576" tIns="18288" bIns="18288" anchor="t">
            <a:spAutoFit/>
          </a:bodyPr>
          <a:lstStyle/>
          <a:p>
            <a:pPr algn="l">
              <a:lnSpc>
                <a:spcPct val="105000"/>
              </a:lnSpc>
              <a:spcAft>
                <a:spcPts val="300"/>
              </a:spcAft>
            </a:pPr>
            <a:r>
              <a:rPr sz="1000" b="1" i="0">
                <a:solidFill>
                  <a:srgbClr val="5B6B7F"/>
                </a:solidFill>
                <a:latin typeface="Calibri"/>
              </a:rPr>
              <a:t>API</a:t>
            </a:r>
          </a:p>
        </p:txBody>
      </p:sp>
      <p:sp>
        <p:nvSpPr>
          <p:cNvPr id="13" name="node: FastAPI + ASGI middleware"/>
          <p:cNvSpPr/>
          <p:nvPr/>
        </p:nvSpPr>
        <p:spPr>
          <a:xfrm>
            <a:off x="1828800" y="2368296"/>
            <a:ext cx="6949440" cy="640080"/>
          </a:xfrm>
          <a:prstGeom prst="roundRect">
            <a:avLst>
              <a:gd name="adj" fmla="val 14285"/>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FastAPI + ASGI middleware</a:t>
            </a:r>
          </a:p>
          <a:p>
            <a:pPr algn="ctr"/>
            <a:r>
              <a:rPr sz="1000">
                <a:solidFill>
                  <a:srgbClr val="5B6B7F"/>
                </a:solidFill>
                <a:latin typeface="Calibri"/>
              </a:rPr>
              <a:t>Pydantic, bearer RBAC, limits, audit</a:t>
            </a:r>
          </a:p>
        </p:txBody>
      </p:sp>
      <p:sp>
        <p:nvSpPr>
          <p:cNvPr id="14" name="node: Redis"/>
          <p:cNvSpPr/>
          <p:nvPr/>
        </p:nvSpPr>
        <p:spPr>
          <a:xfrm>
            <a:off x="9006840" y="2368296"/>
            <a:ext cx="2011680" cy="640080"/>
          </a:xfrm>
          <a:prstGeom prst="roundRect">
            <a:avLst>
              <a:gd name="adj" fmla="val 14285"/>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Redis</a:t>
            </a:r>
          </a:p>
          <a:p>
            <a:pPr algn="ctr"/>
            <a:r>
              <a:rPr sz="1000">
                <a:solidFill>
                  <a:srgbClr val="5B6B7F"/>
                </a:solidFill>
                <a:latin typeface="Calibri"/>
              </a:rPr>
              <a:t>rate limit</a:t>
            </a:r>
          </a:p>
        </p:txBody>
      </p:sp>
      <p:sp>
        <p:nvSpPr>
          <p:cNvPr id="15" name="layer Services"/>
          <p:cNvSpPr/>
          <p:nvPr/>
        </p:nvSpPr>
        <p:spPr>
          <a:xfrm>
            <a:off x="502920" y="3172968"/>
            <a:ext cx="11155680" cy="822960"/>
          </a:xfrm>
          <a:prstGeom prst="roundRect">
            <a:avLst>
              <a:gd name="adj" fmla="val 11111"/>
            </a:avLst>
          </a:prstGeom>
          <a:solidFill>
            <a:srgbClr val="F8FAFC"/>
          </a:solidFill>
          <a:ln w="12700">
            <a:solidFill>
              <a:srgbClr val="E2E8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191256"/>
            <a:ext cx="1463040" cy="274320"/>
          </a:xfrm>
          <a:prstGeom prst="rect">
            <a:avLst/>
          </a:prstGeom>
          <a:noFill/>
        </p:spPr>
        <p:txBody>
          <a:bodyPr wrap="square" lIns="36576" rIns="36576" tIns="18288" bIns="18288" anchor="t">
            <a:spAutoFit/>
          </a:bodyPr>
          <a:lstStyle/>
          <a:p>
            <a:pPr algn="l">
              <a:lnSpc>
                <a:spcPct val="105000"/>
              </a:lnSpc>
              <a:spcAft>
                <a:spcPts val="300"/>
              </a:spcAft>
            </a:pPr>
            <a:r>
              <a:rPr sz="1000" b="1" i="0">
                <a:solidFill>
                  <a:srgbClr val="5B6B7F"/>
                </a:solidFill>
                <a:latin typeface="Calibri"/>
              </a:rPr>
              <a:t>SERVICES</a:t>
            </a:r>
          </a:p>
        </p:txBody>
      </p:sp>
      <p:sp>
        <p:nvSpPr>
          <p:cNvPr id="17" name="node: Pipeline"/>
          <p:cNvSpPr/>
          <p:nvPr/>
        </p:nvSpPr>
        <p:spPr>
          <a:xfrm>
            <a:off x="1828800" y="3282696"/>
            <a:ext cx="2103120" cy="640080"/>
          </a:xfrm>
          <a:prstGeom prst="roundRect">
            <a:avLst>
              <a:gd name="adj" fmla="val 14285"/>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Pipeline</a:t>
            </a:r>
          </a:p>
          <a:p>
            <a:pPr algn="ctr"/>
            <a:r>
              <a:rPr sz="1000">
                <a:solidFill>
                  <a:srgbClr val="5B6B7F"/>
                </a:solidFill>
                <a:latin typeface="Calibri"/>
              </a:rPr>
              <a:t>simulate, analyse, store</a:t>
            </a:r>
          </a:p>
        </p:txBody>
      </p:sp>
      <p:sp>
        <p:nvSpPr>
          <p:cNvPr id="18" name="node: RCA engine + LLM provider"/>
          <p:cNvSpPr/>
          <p:nvPr/>
        </p:nvSpPr>
        <p:spPr>
          <a:xfrm>
            <a:off x="4160520" y="3282696"/>
            <a:ext cx="2926080" cy="640080"/>
          </a:xfrm>
          <a:prstGeom prst="roundRect">
            <a:avLst>
              <a:gd name="adj" fmla="val 14285"/>
            </a:avLst>
          </a:prstGeom>
          <a:solidFill>
            <a:srgbClr val="EDE9FE"/>
          </a:solidFill>
          <a:ln w="15875">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RCA engine + LLM provider</a:t>
            </a:r>
          </a:p>
          <a:p>
            <a:pPr algn="ctr"/>
            <a:r>
              <a:rPr sz="1000">
                <a:solidFill>
                  <a:srgbClr val="5B6B7F"/>
                </a:solidFill>
                <a:latin typeface="Calibri"/>
              </a:rPr>
              <a:t>9 read-only tools</a:t>
            </a:r>
          </a:p>
        </p:txBody>
      </p:sp>
      <p:sp>
        <p:nvSpPr>
          <p:cNvPr id="19" name="node: Reporting"/>
          <p:cNvSpPr/>
          <p:nvPr/>
        </p:nvSpPr>
        <p:spPr>
          <a:xfrm>
            <a:off x="7315200" y="3282696"/>
            <a:ext cx="2011680" cy="640080"/>
          </a:xfrm>
          <a:prstGeom prst="roundRect">
            <a:avLst>
              <a:gd name="adj" fmla="val 14285"/>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Reporting</a:t>
            </a:r>
          </a:p>
          <a:p>
            <a:pPr algn="ctr"/>
            <a:r>
              <a:rPr sz="1000">
                <a:solidFill>
                  <a:srgbClr val="5B6B7F"/>
                </a:solidFill>
                <a:latin typeface="Calibri"/>
              </a:rPr>
              <a:t>JSON / MD / HTML</a:t>
            </a:r>
          </a:p>
        </p:txBody>
      </p:sp>
      <p:sp>
        <p:nvSpPr>
          <p:cNvPr id="20" name="node: DevSecOps agent"/>
          <p:cNvSpPr/>
          <p:nvPr/>
        </p:nvSpPr>
        <p:spPr>
          <a:xfrm>
            <a:off x="9555480" y="3282696"/>
            <a:ext cx="2194560" cy="640080"/>
          </a:xfrm>
          <a:prstGeom prst="roundRect">
            <a:avLst>
              <a:gd name="adj" fmla="val 14285"/>
            </a:avLst>
          </a:prstGeom>
          <a:solidFill>
            <a:srgbClr val="FEE2E2"/>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DevSecOps agent</a:t>
            </a:r>
          </a:p>
          <a:p>
            <a:pPr algn="ctr"/>
            <a:r>
              <a:rPr sz="1000">
                <a:solidFill>
                  <a:srgbClr val="5B6B7F"/>
                </a:solidFill>
                <a:latin typeface="Calibri"/>
              </a:rPr>
              <a:t>planner, policy, sandbox</a:t>
            </a:r>
          </a:p>
        </p:txBody>
      </p:sp>
      <p:sp>
        <p:nvSpPr>
          <p:cNvPr id="21" name="layer Analytics + native"/>
          <p:cNvSpPr/>
          <p:nvPr/>
        </p:nvSpPr>
        <p:spPr>
          <a:xfrm>
            <a:off x="502920" y="4087368"/>
            <a:ext cx="11155680" cy="822960"/>
          </a:xfrm>
          <a:prstGeom prst="roundRect">
            <a:avLst>
              <a:gd name="adj" fmla="val 11111"/>
            </a:avLst>
          </a:prstGeom>
          <a:solidFill>
            <a:srgbClr val="F8FAFC"/>
          </a:solidFill>
          <a:ln w="12700">
            <a:solidFill>
              <a:srgbClr val="E2E8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105656"/>
            <a:ext cx="1463040" cy="274320"/>
          </a:xfrm>
          <a:prstGeom prst="rect">
            <a:avLst/>
          </a:prstGeom>
          <a:noFill/>
        </p:spPr>
        <p:txBody>
          <a:bodyPr wrap="square" lIns="36576" rIns="36576" tIns="18288" bIns="18288" anchor="t">
            <a:spAutoFit/>
          </a:bodyPr>
          <a:lstStyle/>
          <a:p>
            <a:pPr algn="l">
              <a:lnSpc>
                <a:spcPct val="105000"/>
              </a:lnSpc>
              <a:spcAft>
                <a:spcPts val="300"/>
              </a:spcAft>
            </a:pPr>
            <a:r>
              <a:rPr sz="1000" b="1" i="0">
                <a:solidFill>
                  <a:srgbClr val="5B6B7F"/>
                </a:solidFill>
                <a:latin typeface="Calibri"/>
              </a:rPr>
              <a:t>ANALYTICS + NATIVE</a:t>
            </a:r>
          </a:p>
        </p:txBody>
      </p:sp>
      <p:sp>
        <p:nvSpPr>
          <p:cNvPr id="23" name="node: Simulator"/>
          <p:cNvSpPr/>
          <p:nvPr/>
        </p:nvSpPr>
        <p:spPr>
          <a:xfrm>
            <a:off x="1828800" y="4197096"/>
            <a:ext cx="1828800" cy="640080"/>
          </a:xfrm>
          <a:prstGeom prst="roundRect">
            <a:avLst>
              <a:gd name="adj" fmla="val 14285"/>
            </a:avLst>
          </a:prstGeom>
          <a:solidFill>
            <a:srgbClr val="F1F5F9"/>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Simulator</a:t>
            </a:r>
          </a:p>
          <a:p>
            <a:pPr algn="ctr"/>
            <a:r>
              <a:rPr sz="1000">
                <a:solidFill>
                  <a:srgbClr val="5B6B7F"/>
                </a:solidFill>
                <a:latin typeface="Calibri"/>
              </a:rPr>
              <a:t>17 KPIs</a:t>
            </a:r>
          </a:p>
        </p:txBody>
      </p:sp>
      <p:sp>
        <p:nvSpPr>
          <p:cNvPr id="24" name="node: Detectors"/>
          <p:cNvSpPr/>
          <p:nvPr/>
        </p:nvSpPr>
        <p:spPr>
          <a:xfrm>
            <a:off x="3886200" y="4197096"/>
            <a:ext cx="2194560" cy="640080"/>
          </a:xfrm>
          <a:prstGeom prst="roundRect">
            <a:avLst>
              <a:gd name="adj" fmla="val 14285"/>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Detectors</a:t>
            </a:r>
          </a:p>
          <a:p>
            <a:pPr algn="ctr"/>
            <a:r>
              <a:rPr sz="1000">
                <a:solidFill>
                  <a:srgbClr val="5B6B7F"/>
                </a:solidFill>
                <a:latin typeface="Calibri"/>
              </a:rPr>
              <a:t>z, EWMA, RoC, thresh.</a:t>
            </a:r>
          </a:p>
        </p:txBody>
      </p:sp>
      <p:sp>
        <p:nvSpPr>
          <p:cNvPr id="25" name="node: Correlation"/>
          <p:cNvSpPr/>
          <p:nvPr/>
        </p:nvSpPr>
        <p:spPr>
          <a:xfrm>
            <a:off x="6309360" y="4197096"/>
            <a:ext cx="2011680" cy="640080"/>
          </a:xfrm>
          <a:prstGeom prst="roundRect">
            <a:avLst>
              <a:gd name="adj" fmla="val 14285"/>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Correlation</a:t>
            </a:r>
          </a:p>
          <a:p>
            <a:pPr algn="ctr"/>
            <a:r>
              <a:rPr sz="1000">
                <a:solidFill>
                  <a:srgbClr val="5B6B7F"/>
                </a:solidFill>
                <a:latin typeface="Calibri"/>
              </a:rPr>
              <a:t>causes, timeline</a:t>
            </a:r>
          </a:p>
        </p:txBody>
      </p:sp>
      <p:sp>
        <p:nvSpPr>
          <p:cNvPr id="26" name="node: libcallanalyzer (C11)"/>
          <p:cNvSpPr/>
          <p:nvPr/>
        </p:nvSpPr>
        <p:spPr>
          <a:xfrm>
            <a:off x="8549640" y="4197096"/>
            <a:ext cx="2651760" cy="640080"/>
          </a:xfrm>
          <a:prstGeom prst="roundRect">
            <a:avLst>
              <a:gd name="adj" fmla="val 14285"/>
            </a:avLst>
          </a:prstGeom>
          <a:solidFill>
            <a:srgbClr val="FEF3C7"/>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libcallanalyzer (C11)</a:t>
            </a:r>
          </a:p>
          <a:p>
            <a:pPr algn="ctr"/>
            <a:r>
              <a:rPr sz="1000">
                <a:solidFill>
                  <a:srgbClr val="5B6B7F"/>
                </a:solidFill>
                <a:latin typeface="Calibri"/>
              </a:rPr>
              <a:t>ctypes binding</a:t>
            </a:r>
          </a:p>
        </p:txBody>
      </p:sp>
      <p:sp>
        <p:nvSpPr>
          <p:cNvPr id="27" name="layer Persistence"/>
          <p:cNvSpPr/>
          <p:nvPr/>
        </p:nvSpPr>
        <p:spPr>
          <a:xfrm>
            <a:off x="502920" y="5001768"/>
            <a:ext cx="11155680" cy="822960"/>
          </a:xfrm>
          <a:prstGeom prst="roundRect">
            <a:avLst>
              <a:gd name="adj" fmla="val 11111"/>
            </a:avLst>
          </a:prstGeom>
          <a:solidFill>
            <a:srgbClr val="F8FAFC"/>
          </a:solidFill>
          <a:ln w="12700">
            <a:solidFill>
              <a:srgbClr val="E2E8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020056"/>
            <a:ext cx="1463040" cy="274320"/>
          </a:xfrm>
          <a:prstGeom prst="rect">
            <a:avLst/>
          </a:prstGeom>
          <a:noFill/>
        </p:spPr>
        <p:txBody>
          <a:bodyPr wrap="square" lIns="36576" rIns="36576" tIns="18288" bIns="18288" anchor="t">
            <a:spAutoFit/>
          </a:bodyPr>
          <a:lstStyle/>
          <a:p>
            <a:pPr algn="l">
              <a:lnSpc>
                <a:spcPct val="105000"/>
              </a:lnSpc>
              <a:spcAft>
                <a:spcPts val="300"/>
              </a:spcAft>
            </a:pPr>
            <a:r>
              <a:rPr sz="1000" b="1" i="0">
                <a:solidFill>
                  <a:srgbClr val="5B6B7F"/>
                </a:solidFill>
                <a:latin typeface="Calibri"/>
              </a:rPr>
              <a:t>PERSISTENCE</a:t>
            </a:r>
          </a:p>
        </p:txBody>
      </p:sp>
      <p:sp>
        <p:nvSpPr>
          <p:cNvPr id="29" name="node: PostgreSQL 16 / SQLite"/>
          <p:cNvSpPr/>
          <p:nvPr/>
        </p:nvSpPr>
        <p:spPr>
          <a:xfrm>
            <a:off x="1828800" y="5111496"/>
            <a:ext cx="4754880" cy="640080"/>
          </a:xfrm>
          <a:prstGeom prst="roundRect">
            <a:avLst>
              <a:gd name="adj" fmla="val 14285"/>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PostgreSQL 16 / SQLite</a:t>
            </a:r>
          </a:p>
          <a:p>
            <a:pPr algn="ctr"/>
            <a:r>
              <a:rPr sz="1000">
                <a:solidFill>
                  <a:srgbClr val="5B6B7F"/>
                </a:solidFill>
                <a:latin typeface="Calibri"/>
              </a:rPr>
              <a:t>19 tables, Alembic</a:t>
            </a:r>
          </a:p>
        </p:txBody>
      </p:sp>
      <p:sp>
        <p:nvSpPr>
          <p:cNvPr id="30" name="node: audit_logs"/>
          <p:cNvSpPr/>
          <p:nvPr/>
        </p:nvSpPr>
        <p:spPr>
          <a:xfrm>
            <a:off x="6812280" y="5111496"/>
            <a:ext cx="4023360" cy="640080"/>
          </a:xfrm>
          <a:prstGeom prst="roundRect">
            <a:avLst>
              <a:gd name="adj" fmla="val 14285"/>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a:solidFill>
                  <a:srgbClr val="1B2A41"/>
                </a:solidFill>
                <a:latin typeface="Calibri"/>
              </a:rPr>
              <a:t>audit_logs</a:t>
            </a:r>
          </a:p>
          <a:p>
            <a:pPr algn="ctr"/>
            <a:r>
              <a:rPr sz="1000">
                <a:solidFill>
                  <a:srgbClr val="5B6B7F"/>
                </a:solidFill>
                <a:latin typeface="Calibri"/>
              </a:rPr>
              <a:t>SHA-256 hash chain</a:t>
            </a:r>
          </a:p>
        </p:txBody>
      </p:sp>
      <p:cxnSp>
        <p:nvCxnSpPr>
          <p:cNvPr id="31" name="Connector 30"/>
          <p:cNvCxnSpPr/>
          <p:nvPr/>
        </p:nvCxnSpPr>
        <p:spPr>
          <a:xfrm>
            <a:off x="5852160" y="2258568"/>
            <a:ext cx="0" cy="109728"/>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852160" y="3172968"/>
            <a:ext cx="0" cy="109728"/>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852160" y="4087368"/>
            <a:ext cx="0" cy="109728"/>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852160" y="5001768"/>
            <a:ext cx="0" cy="109728"/>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source note"/>
          <p:cNvSpPr txBox="1"/>
          <p:nvPr/>
        </p:nvSpPr>
        <p:spPr>
          <a:xfrm>
            <a:off x="502920" y="6053328"/>
            <a:ext cx="11155680" cy="256032"/>
          </a:xfrm>
          <a:prstGeom prst="rect">
            <a:avLst/>
          </a:prstGeom>
          <a:noFill/>
        </p:spPr>
        <p:txBody>
          <a:bodyPr wrap="square" lIns="36576" rIns="36576" tIns="18288" bIns="18288" anchor="t">
            <a:spAutoFit/>
          </a:bodyPr>
          <a:lstStyle/>
          <a:p>
            <a:pPr algn="l">
              <a:lnSpc>
                <a:spcPct val="105000"/>
              </a:lnSpc>
              <a:spcAft>
                <a:spcPts val="300"/>
              </a:spcAft>
            </a:pPr>
            <a:r>
              <a:rPr sz="950" b="0" i="1">
                <a:solidFill>
                  <a:srgbClr val="5B6B7F"/>
                </a:solidFill>
                <a:latin typeface="Calibri"/>
              </a:rPr>
              <a:t>Interfaces: C header, REST API (OpenAPI), database schema. Trust boundaries: CSV, LLM output, HTTP, agent to 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CALL ANALYSIS</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A C library parses and analyses call records; Python only marshals results</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6 / 22</a:t>
            </a:r>
          </a:p>
        </p:txBody>
      </p:sp>
      <p:sp>
        <p:nvSpPr>
          <p:cNvPr id="7" name="node: CDR CSV"/>
          <p:cNvSpPr/>
          <p:nvPr/>
        </p:nvSpPr>
        <p:spPr>
          <a:xfrm>
            <a:off x="502920" y="1463040"/>
            <a:ext cx="2743200" cy="640080"/>
          </a:xfrm>
          <a:prstGeom prst="roundRect">
            <a:avLst>
              <a:gd name="adj" fmla="val 14285"/>
            </a:avLst>
          </a:prstGeom>
          <a:solidFill>
            <a:srgbClr val="F1F5F9"/>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CDR CSV</a:t>
            </a:r>
          </a:p>
          <a:p>
            <a:pPr algn="ctr"/>
            <a:r>
              <a:rPr sz="1100">
                <a:solidFill>
                  <a:srgbClr val="5B6B7F"/>
                </a:solidFill>
                <a:latin typeface="Calibri"/>
              </a:rPr>
              <a:t>8 columns</a:t>
            </a:r>
          </a:p>
        </p:txBody>
      </p:sp>
      <p:cxnSp>
        <p:nvCxnSpPr>
          <p:cNvPr id="8" name="Connector 7"/>
          <p:cNvCxnSpPr/>
          <p:nvPr/>
        </p:nvCxnSpPr>
        <p:spPr>
          <a:xfrm>
            <a:off x="1874519" y="2103120"/>
            <a:ext cx="0" cy="22860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node: libcallanalyzer"/>
          <p:cNvSpPr/>
          <p:nvPr/>
        </p:nvSpPr>
        <p:spPr>
          <a:xfrm>
            <a:off x="502920" y="2331720"/>
            <a:ext cx="2743200" cy="640080"/>
          </a:xfrm>
          <a:prstGeom prst="roundRect">
            <a:avLst>
              <a:gd name="adj" fmla="val 14285"/>
            </a:avLst>
          </a:prstGeom>
          <a:solidFill>
            <a:srgbClr val="FEF3C7"/>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libcallanalyzer</a:t>
            </a:r>
          </a:p>
          <a:p>
            <a:pPr algn="ctr"/>
            <a:r>
              <a:rPr sz="1100">
                <a:solidFill>
                  <a:srgbClr val="5B6B7F"/>
                </a:solidFill>
                <a:latin typeface="Calibri"/>
              </a:rPr>
              <a:t>parse, aggregate, outliers</a:t>
            </a:r>
          </a:p>
        </p:txBody>
      </p:sp>
      <p:cxnSp>
        <p:nvCxnSpPr>
          <p:cNvPr id="10" name="Connector 9"/>
          <p:cNvCxnSpPr/>
          <p:nvPr/>
        </p:nvCxnSpPr>
        <p:spPr>
          <a:xfrm>
            <a:off x="1874519" y="2971800"/>
            <a:ext cx="0" cy="22860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node: ctypes binding"/>
          <p:cNvSpPr/>
          <p:nvPr/>
        </p:nvSpPr>
        <p:spPr>
          <a:xfrm>
            <a:off x="502920" y="3200400"/>
            <a:ext cx="2743200" cy="640080"/>
          </a:xfrm>
          <a:prstGeom prst="roundRect">
            <a:avLst>
              <a:gd name="adj" fmla="val 14285"/>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ctypes binding</a:t>
            </a:r>
          </a:p>
          <a:p>
            <a:pPr algn="ctr"/>
            <a:r>
              <a:rPr sz="1100">
                <a:solidFill>
                  <a:srgbClr val="5B6B7F"/>
                </a:solidFill>
                <a:latin typeface="Calibri"/>
              </a:rPr>
              <a:t>struct check, free_*</a:t>
            </a:r>
          </a:p>
        </p:txBody>
      </p:sp>
      <p:cxnSp>
        <p:nvCxnSpPr>
          <p:cNvPr id="12" name="Connector 11"/>
          <p:cNvCxnSpPr/>
          <p:nvPr/>
        </p:nvCxnSpPr>
        <p:spPr>
          <a:xfrm>
            <a:off x="1874519" y="3840480"/>
            <a:ext cx="0" cy="22860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node: Result dict"/>
          <p:cNvSpPr/>
          <p:nvPr/>
        </p:nvSpPr>
        <p:spPr>
          <a:xfrm>
            <a:off x="502920" y="4069079"/>
            <a:ext cx="2743200" cy="640080"/>
          </a:xfrm>
          <a:prstGeom prst="roundRect">
            <a:avLst>
              <a:gd name="adj" fmla="val 14285"/>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Result dict</a:t>
            </a:r>
          </a:p>
          <a:p>
            <a:pPr algn="ctr"/>
            <a:r>
              <a:rPr sz="1100">
                <a:solidFill>
                  <a:srgbClr val="5B6B7F"/>
                </a:solidFill>
                <a:latin typeface="Calibri"/>
              </a:rPr>
              <a:t>stats + anomalies</a:t>
            </a:r>
          </a:p>
        </p:txBody>
      </p:sp>
      <p:sp>
        <p:nvSpPr>
          <p:cNvPr id="14" name="TextBox 13"/>
          <p:cNvSpPr txBox="1"/>
          <p:nvPr/>
        </p:nvSpPr>
        <p:spPr>
          <a:xfrm>
            <a:off x="502920" y="4846320"/>
            <a:ext cx="3108960" cy="868680"/>
          </a:xfrm>
          <a:prstGeom prst="rect">
            <a:avLst/>
          </a:prstGeom>
          <a:noFill/>
        </p:spPr>
        <p:txBody>
          <a:bodyPr wrap="square" lIns="36576" rIns="36576" tIns="18288" bIns="18288" anchor="t">
            <a:spAutoFit/>
          </a:bodyPr>
          <a:lstStyle/>
          <a:p>
            <a:pPr algn="l" marL="182880" indent="-182880">
              <a:lnSpc>
                <a:spcPct val="105000"/>
              </a:lnSpc>
              <a:spcAft>
                <a:spcPts val="400"/>
              </a:spcAft>
              <a:buChar char="•"/>
            </a:pPr>
            <a:r>
              <a:rPr sz="1150" b="0" i="0">
                <a:solidFill>
                  <a:srgbClr val="1B2A41"/>
                </a:solidFill>
                <a:latin typeface="Calibri"/>
              </a:rPr>
              <a:t>strict warnings, -Werror</a:t>
            </a:r>
          </a:p>
          <a:p>
            <a:pPr algn="l" marL="182880" indent="-182880">
              <a:lnSpc>
                <a:spcPct val="105000"/>
              </a:lnSpc>
              <a:spcAft>
                <a:spcPts val="400"/>
              </a:spcAft>
              <a:buChar char="•"/>
            </a:pPr>
            <a:r>
              <a:rPr sz="1150" b="0" i="0">
                <a:solidFill>
                  <a:srgbClr val="1B2A41"/>
                </a:solidFill>
                <a:latin typeface="Calibri"/>
              </a:rPr>
              <a:t>ASan/UBSan/LSan + fault injection</a:t>
            </a:r>
          </a:p>
          <a:p>
            <a:pPr algn="l" marL="182880" indent="-182880">
              <a:lnSpc>
                <a:spcPct val="105000"/>
              </a:lnSpc>
              <a:spcAft>
                <a:spcPts val="400"/>
              </a:spcAft>
              <a:buChar char="•"/>
            </a:pPr>
            <a:r>
              <a:rPr sz="1150" b="0" i="0">
                <a:solidFill>
                  <a:srgbClr val="1B2A41"/>
                </a:solidFill>
                <a:latin typeface="Calibri"/>
              </a:rPr>
              <a:t>drop = dropped / (completed + dropped)</a:t>
            </a:r>
          </a:p>
        </p:txBody>
      </p:sp>
      <p:pic>
        <p:nvPicPr>
          <p:cNvPr id="15" name="picture: shot_03_src-image6" descr="Call Analytics page: totals, drop rate by cell, status codes and C-library anomalies"/>
          <p:cNvPicPr>
            <a:picLocks noChangeAspect="1"/>
          </p:cNvPicPr>
          <p:nvPr/>
        </p:nvPicPr>
        <p:blipFill>
          <a:blip r:embed="rId2"/>
          <a:srcRect/>
          <a:stretch>
            <a:fillRect/>
          </a:stretch>
        </p:blipFill>
        <p:spPr>
          <a:xfrm>
            <a:off x="3657600" y="1537838"/>
            <a:ext cx="8001000" cy="4010923"/>
          </a:xfrm>
          <a:prstGeom prst="rect">
            <a:avLst/>
          </a:prstGeom>
          <a:ln w="9525">
            <a:solidFill>
              <a:srgbClr val="CBD5E1"/>
            </a:solidFill>
          </a:ln>
        </p:spPr>
      </p:pic>
      <p:sp>
        <p:nvSpPr>
          <p:cNvPr id="16" name="source note"/>
          <p:cNvSpPr txBox="1"/>
          <p:nvPr/>
        </p:nvSpPr>
        <p:spPr>
          <a:xfrm>
            <a:off x="502920" y="5806440"/>
            <a:ext cx="11155680" cy="256032"/>
          </a:xfrm>
          <a:prstGeom prst="rect">
            <a:avLst/>
          </a:prstGeom>
          <a:noFill/>
        </p:spPr>
        <p:txBody>
          <a:bodyPr wrap="square" lIns="36576" rIns="36576" tIns="18288" bIns="18288" anchor="t">
            <a:spAutoFit/>
          </a:bodyPr>
          <a:lstStyle/>
          <a:p>
            <a:pPr algn="l">
              <a:lnSpc>
                <a:spcPct val="105000"/>
              </a:lnSpc>
              <a:spcAft>
                <a:spcPts val="300"/>
              </a:spcAft>
            </a:pPr>
            <a:r>
              <a:rPr sz="950" b="0" i="1">
                <a:solidFill>
                  <a:srgbClr val="5B6B7F"/>
                </a:solidFill>
                <a:latin typeface="Calibri"/>
              </a:rPr>
              <a:t>Screenshot: Call Analytics page (supplied document, synthetic data). Bars CELL-101 to 104 are the cells behind the faulty gateway. Status-code classes are this project's convention.</a:t>
            </a:r>
          </a:p>
        </p:txBody>
      </p:sp>
      <p:sp>
        <p:nvSpPr>
          <p:cNvPr id="17" name="Rounded Rectangle 16"/>
          <p:cNvSpPr/>
          <p:nvPr/>
        </p:nvSpPr>
        <p:spPr>
          <a:xfrm>
            <a:off x="502920" y="6144768"/>
            <a:ext cx="109728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VERIFIED</a:t>
            </a:r>
          </a:p>
        </p:txBody>
      </p:sp>
      <p:sp>
        <p:nvSpPr>
          <p:cNvPr id="18" name="TextBox 17"/>
          <p:cNvSpPr txBox="1"/>
          <p:nvPr/>
        </p:nvSpPr>
        <p:spPr>
          <a:xfrm>
            <a:off x="1691640" y="6126480"/>
            <a:ext cx="7772400" cy="274320"/>
          </a:xfrm>
          <a:prstGeom prst="rect">
            <a:avLst/>
          </a:prstGeom>
          <a:noFill/>
        </p:spPr>
        <p:txBody>
          <a:bodyPr wrap="square" lIns="36576" rIns="36576" tIns="18288" bIns="18288" anchor="t">
            <a:spAutoFit/>
          </a:bodyPr>
          <a:lstStyle/>
          <a:p>
            <a:pPr algn="l">
              <a:lnSpc>
                <a:spcPct val="105000"/>
              </a:lnSpc>
              <a:spcAft>
                <a:spcPts val="300"/>
              </a:spcAft>
            </a:pPr>
            <a:r>
              <a:rPr sz="1100" b="0" i="0">
                <a:solidFill>
                  <a:srgbClr val="5B6B7F"/>
                </a:solidFill>
                <a:latin typeface="Calibri"/>
              </a:rPr>
              <a:t>make c-test and make c-test-asan: 2 of 2 passed each; 28 test functions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TELEMETRY</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A causal simulator produces a repeatable memory-leak incident</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7 / 22</a:t>
            </a:r>
          </a:p>
        </p:txBody>
      </p:sp>
      <p:pic>
        <p:nvPicPr>
          <p:cNvPr id="7" name="picture: shot_02_src-image8" descr="Network Overview page: eight KPI cards and a 12-cell latency chart"/>
          <p:cNvPicPr>
            <a:picLocks noChangeAspect="1"/>
          </p:cNvPicPr>
          <p:nvPr/>
        </p:nvPicPr>
        <p:blipFill>
          <a:blip r:embed="rId2"/>
          <a:srcRect/>
          <a:stretch>
            <a:fillRect/>
          </a:stretch>
        </p:blipFill>
        <p:spPr>
          <a:xfrm>
            <a:off x="502920" y="1706101"/>
            <a:ext cx="7315199" cy="2988596"/>
          </a:xfrm>
          <a:prstGeom prst="rect">
            <a:avLst/>
          </a:prstGeom>
          <a:ln w="9525">
            <a:solidFill>
              <a:srgbClr val="CBD5E1"/>
            </a:solidFill>
          </a:ln>
        </p:spPr>
      </p:pic>
      <p:sp>
        <p:nvSpPr>
          <p:cNvPr id="8" name="TextBox 7"/>
          <p:cNvSpPr txBox="1"/>
          <p:nvPr/>
        </p:nvSpPr>
        <p:spPr>
          <a:xfrm>
            <a:off x="502920" y="5029200"/>
            <a:ext cx="7315200" cy="274320"/>
          </a:xfrm>
          <a:prstGeom prst="rect">
            <a:avLst/>
          </a:prstGeom>
          <a:noFill/>
        </p:spPr>
        <p:txBody>
          <a:bodyPr wrap="square" lIns="36576" rIns="36576" tIns="18288" bIns="18288" anchor="t">
            <a:spAutoFit/>
          </a:bodyPr>
          <a:lstStyle/>
          <a:p>
            <a:pPr algn="l">
              <a:lnSpc>
                <a:spcPct val="105000"/>
              </a:lnSpc>
              <a:spcAft>
                <a:spcPts val="300"/>
              </a:spcAft>
            </a:pPr>
            <a:r>
              <a:rPr sz="1050" b="0" i="1">
                <a:solidFill>
                  <a:srgbClr val="5B6B7F"/>
                </a:solidFill>
                <a:latin typeface="Calibri"/>
              </a:rPr>
              <a:t>Screenshot: Network Overview (supplied document, synthetic data)</a:t>
            </a:r>
          </a:p>
        </p:txBody>
      </p:sp>
      <p:sp>
        <p:nvSpPr>
          <p:cNvPr id="9" name="node: deploy 2.4.1&#10;14:05, pgw-1"/>
          <p:cNvSpPr/>
          <p:nvPr/>
        </p:nvSpPr>
        <p:spPr>
          <a:xfrm>
            <a:off x="8229600" y="1417320"/>
            <a:ext cx="3383280" cy="475488"/>
          </a:xfrm>
          <a:prstGeom prst="roundRect">
            <a:avLst>
              <a:gd name="adj" fmla="val 19230"/>
            </a:avLst>
          </a:prstGeom>
          <a:solidFill>
            <a:srgbClr val="F1F5F9"/>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deploy 2.4.1
14:05, pgw-1</a:t>
            </a:r>
          </a:p>
        </p:txBody>
      </p:sp>
      <p:cxnSp>
        <p:nvCxnSpPr>
          <p:cNvPr id="10" name="Connector 9"/>
          <p:cNvCxnSpPr/>
          <p:nvPr/>
        </p:nvCxnSpPr>
        <p:spPr>
          <a:xfrm>
            <a:off x="9921240" y="1892808"/>
            <a:ext cx="0" cy="146304"/>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node: memory leak"/>
          <p:cNvSpPr/>
          <p:nvPr/>
        </p:nvSpPr>
        <p:spPr>
          <a:xfrm>
            <a:off x="8229600" y="2039112"/>
            <a:ext cx="3383280" cy="475488"/>
          </a:xfrm>
          <a:prstGeom prst="roundRect">
            <a:avLst>
              <a:gd name="adj" fmla="val 19230"/>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memory leak</a:t>
            </a:r>
          </a:p>
        </p:txBody>
      </p:sp>
      <p:cxnSp>
        <p:nvCxnSpPr>
          <p:cNvPr id="12" name="Connector 11"/>
          <p:cNvCxnSpPr/>
          <p:nvPr/>
        </p:nvCxnSpPr>
        <p:spPr>
          <a:xfrm>
            <a:off x="9921240" y="2514600"/>
            <a:ext cx="0" cy="146304"/>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node: GC pressure -&gt; CPU"/>
          <p:cNvSpPr/>
          <p:nvPr/>
        </p:nvSpPr>
        <p:spPr>
          <a:xfrm>
            <a:off x="8229600" y="2660904"/>
            <a:ext cx="3383280" cy="475488"/>
          </a:xfrm>
          <a:prstGeom prst="roundRect">
            <a:avLst>
              <a:gd name="adj" fmla="val 19230"/>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GC pressure -&gt; CPU</a:t>
            </a:r>
          </a:p>
        </p:txBody>
      </p:sp>
      <p:cxnSp>
        <p:nvCxnSpPr>
          <p:cNvPr id="14" name="Connector 13"/>
          <p:cNvCxnSpPr/>
          <p:nvPr/>
        </p:nvCxnSpPr>
        <p:spPr>
          <a:xfrm>
            <a:off x="9921240" y="3136392"/>
            <a:ext cx="0" cy="146304"/>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node: queueing latency"/>
          <p:cNvSpPr/>
          <p:nvPr/>
        </p:nvSpPr>
        <p:spPr>
          <a:xfrm>
            <a:off x="8229600" y="3282696"/>
            <a:ext cx="3383280" cy="475488"/>
          </a:xfrm>
          <a:prstGeom prst="roundRect">
            <a:avLst>
              <a:gd name="adj" fmla="val 19230"/>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queueing latency</a:t>
            </a:r>
          </a:p>
        </p:txBody>
      </p:sp>
      <p:cxnSp>
        <p:nvCxnSpPr>
          <p:cNvPr id="16" name="Connector 15"/>
          <p:cNvCxnSpPr/>
          <p:nvPr/>
        </p:nvCxnSpPr>
        <p:spPr>
          <a:xfrm>
            <a:off x="9921240" y="3758183"/>
            <a:ext cx="0" cy="146304"/>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node: packet loss"/>
          <p:cNvSpPr/>
          <p:nvPr/>
        </p:nvSpPr>
        <p:spPr>
          <a:xfrm>
            <a:off x="8229600" y="3904488"/>
            <a:ext cx="3383280" cy="475488"/>
          </a:xfrm>
          <a:prstGeom prst="roundRect">
            <a:avLst>
              <a:gd name="adj" fmla="val 19230"/>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packet loss</a:t>
            </a:r>
          </a:p>
        </p:txBody>
      </p:sp>
      <p:cxnSp>
        <p:nvCxnSpPr>
          <p:cNvPr id="18" name="Connector 17"/>
          <p:cNvCxnSpPr/>
          <p:nvPr/>
        </p:nvCxnSpPr>
        <p:spPr>
          <a:xfrm>
            <a:off x="9921240" y="4379976"/>
            <a:ext cx="0" cy="146304"/>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node: dropped calls"/>
          <p:cNvSpPr/>
          <p:nvPr/>
        </p:nvSpPr>
        <p:spPr>
          <a:xfrm>
            <a:off x="8229600" y="4526280"/>
            <a:ext cx="3383280" cy="475488"/>
          </a:xfrm>
          <a:prstGeom prst="roundRect">
            <a:avLst>
              <a:gd name="adj" fmla="val 19230"/>
            </a:avLst>
          </a:prstGeom>
          <a:solidFill>
            <a:srgbClr val="FEE2E2"/>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B2A41"/>
                </a:solidFill>
                <a:latin typeface="Calibri"/>
              </a:rPr>
              <a:t>dropped calls</a:t>
            </a:r>
          </a:p>
        </p:txBody>
      </p:sp>
      <p:sp>
        <p:nvSpPr>
          <p:cNvPr id="20" name="TextBox 19"/>
          <p:cNvSpPr txBox="1"/>
          <p:nvPr/>
        </p:nvSpPr>
        <p:spPr>
          <a:xfrm>
            <a:off x="8229600" y="5212080"/>
            <a:ext cx="3474720" cy="822960"/>
          </a:xfrm>
          <a:prstGeom prst="rect">
            <a:avLst/>
          </a:prstGeom>
          <a:noFill/>
        </p:spPr>
        <p:txBody>
          <a:bodyPr wrap="square" lIns="36576" rIns="36576" tIns="18288" bIns="18288" anchor="t">
            <a:spAutoFit/>
          </a:bodyPr>
          <a:lstStyle/>
          <a:p>
            <a:pPr algn="l" marL="182880" indent="-182880">
              <a:lnSpc>
                <a:spcPct val="105000"/>
              </a:lnSpc>
              <a:spcAft>
                <a:spcPts val="400"/>
              </a:spcAft>
              <a:buChar char="•"/>
            </a:pPr>
            <a:r>
              <a:rPr sz="1200" b="0" i="0">
                <a:solidFill>
                  <a:srgbClr val="1B2A41"/>
                </a:solidFill>
                <a:latin typeface="Calibri"/>
              </a:rPr>
              <a:t>17 KPIs x 12 cells x 1 min, seed 7</a:t>
            </a:r>
          </a:p>
          <a:p>
            <a:pPr algn="l" marL="182880" indent="-182880">
              <a:lnSpc>
                <a:spcPct val="105000"/>
              </a:lnSpc>
              <a:spcAft>
                <a:spcPts val="400"/>
              </a:spcAft>
              <a:buChar char="•"/>
            </a:pPr>
            <a:r>
              <a:rPr sz="1200" b="0" i="0">
                <a:solidFill>
                  <a:srgbClr val="1B2A41"/>
                </a:solidFill>
                <a:latin typeface="Calibri"/>
              </a:rPr>
              <a:t>distractor: hotfix on pgw-3 at 13:10</a:t>
            </a:r>
          </a:p>
        </p:txBody>
      </p:sp>
      <p:sp>
        <p:nvSpPr>
          <p:cNvPr id="21" name="Rounded Rectangle 20"/>
          <p:cNvSpPr/>
          <p:nvPr/>
        </p:nvSpPr>
        <p:spPr>
          <a:xfrm>
            <a:off x="502920" y="5440680"/>
            <a:ext cx="1188720" cy="274320"/>
          </a:xfrm>
          <a:prstGeom prst="roundRect">
            <a:avLst>
              <a:gd name="adj" fmla="val 50000"/>
            </a:avLst>
          </a:prstGeom>
          <a:solidFill>
            <a:srgbClr val="EDE9FE"/>
          </a:solidFill>
          <a:ln w="12700">
            <a:solidFill>
              <a:srgbClr val="4C1D9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4C1D95"/>
                </a:solidFill>
                <a:latin typeface="Calibri"/>
              </a:rPr>
              <a:t>SIMULATED</a:t>
            </a:r>
          </a:p>
        </p:txBody>
      </p:sp>
      <p:sp>
        <p:nvSpPr>
          <p:cNvPr id="22" name="TextBox 21"/>
          <p:cNvSpPr txBox="1"/>
          <p:nvPr/>
        </p:nvSpPr>
        <p:spPr>
          <a:xfrm>
            <a:off x="1828800" y="5413248"/>
            <a:ext cx="6035040" cy="731520"/>
          </a:xfrm>
          <a:prstGeom prst="rect">
            <a:avLst/>
          </a:prstGeom>
          <a:noFill/>
        </p:spPr>
        <p:txBody>
          <a:bodyPr wrap="square" lIns="36576" rIns="36576" tIns="18288" bIns="18288" anchor="t">
            <a:spAutoFit/>
          </a:bodyPr>
          <a:lstStyle/>
          <a:p>
            <a:pPr algn="l">
              <a:lnSpc>
                <a:spcPct val="105000"/>
              </a:lnSpc>
              <a:spcAft>
                <a:spcPts val="300"/>
              </a:spcAft>
            </a:pPr>
            <a:r>
              <a:rPr sz="1200" b="0" i="0">
                <a:solidFill>
                  <a:srgbClr val="7F1D1D"/>
                </a:solidFill>
                <a:latin typeface="Calibri"/>
              </a:rPr>
              <a:t>A testing instrument, not real traffic. Detector results here do not show how detectors would perform on production telemetry.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ANOMALY DETECTION</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Four interpretable detectors must agree before a point is flagged</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8 / 22</a:t>
            </a:r>
          </a:p>
        </p:txBody>
      </p:sp>
      <p:graphicFrame>
        <p:nvGraphicFramePr>
          <p:cNvPr id="7" name="chart: Worked example: step from ~50 to 80"/>
          <p:cNvGraphicFramePr>
            <a:graphicFrameLocks noGrp="1"/>
          </p:cNvGraphicFramePr>
          <p:nvPr/>
        </p:nvGraphicFramePr>
        <p:xfrm>
          <a:off x="502920" y="1371600"/>
          <a:ext cx="4572000" cy="2834640"/>
        </p:xfrm>
        <a:graphic>
          <a:graphicData uri="http://schemas.openxmlformats.org/drawingml/2006/chart">
            <c:chart xmlns:c="http://schemas.openxmlformats.org/drawingml/2006/chart" r:id="rId2"/>
          </a:graphicData>
        </a:graphic>
      </p:graphicFrame>
      <p:pic>
        <p:nvPicPr>
          <p:cNvPr id="8" name="picture: shot_04_src-image5" descr="Anomalies page: critical episodes with onset, baseline, worst value and detectors"/>
          <p:cNvPicPr>
            <a:picLocks noChangeAspect="1"/>
          </p:cNvPicPr>
          <p:nvPr/>
        </p:nvPicPr>
        <p:blipFill>
          <a:blip r:embed="rId3"/>
          <a:srcRect b="20000"/>
          <a:stretch>
            <a:fillRect/>
          </a:stretch>
        </p:blipFill>
        <p:spPr>
          <a:xfrm>
            <a:off x="5303520" y="1779879"/>
            <a:ext cx="6355080" cy="2018081"/>
          </a:xfrm>
          <a:prstGeom prst="rect">
            <a:avLst/>
          </a:prstGeom>
          <a:ln w="9525">
            <a:solidFill>
              <a:srgbClr val="CBD5E1"/>
            </a:solidFill>
          </a:ln>
        </p:spPr>
      </p:pic>
      <p:sp>
        <p:nvSpPr>
          <p:cNvPr id="9" name="node: z-score"/>
          <p:cNvSpPr/>
          <p:nvPr/>
        </p:nvSpPr>
        <p:spPr>
          <a:xfrm>
            <a:off x="502920" y="4389120"/>
            <a:ext cx="2697480" cy="960120"/>
          </a:xfrm>
          <a:prstGeom prst="roundRect">
            <a:avLst>
              <a:gd name="adj" fmla="val 9523"/>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z-score</a:t>
            </a:r>
          </a:p>
          <a:p>
            <a:pPr algn="ctr"/>
            <a:r>
              <a:rPr sz="1100">
                <a:solidFill>
                  <a:srgbClr val="5B6B7F"/>
                </a:solidFill>
                <a:latin typeface="Calibri"/>
              </a:rPr>
              <a:t>(x - mean) / max(std, floor), 60 min window</a:t>
            </a:r>
          </a:p>
        </p:txBody>
      </p:sp>
      <p:sp>
        <p:nvSpPr>
          <p:cNvPr id="10" name="node: EWMA"/>
          <p:cNvSpPr/>
          <p:nvPr/>
        </p:nvSpPr>
        <p:spPr>
          <a:xfrm>
            <a:off x="3319272" y="4389120"/>
            <a:ext cx="2697480" cy="960120"/>
          </a:xfrm>
          <a:prstGeom prst="roundRect">
            <a:avLst>
              <a:gd name="adj" fmla="val 9523"/>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EWMA</a:t>
            </a:r>
          </a:p>
          <a:p>
            <a:pPr algn="ctr"/>
            <a:r>
              <a:rPr sz="1100">
                <a:solidFill>
                  <a:srgbClr val="5B6B7F"/>
                </a:solidFill>
                <a:latin typeface="Calibri"/>
              </a:rPr>
              <a:t>alpha = 1 - exp(-dt/tau), tau 900 s</a:t>
            </a:r>
          </a:p>
        </p:txBody>
      </p:sp>
      <p:sp>
        <p:nvSpPr>
          <p:cNvPr id="11" name="node: Threshold"/>
          <p:cNvSpPr/>
          <p:nvPr/>
        </p:nvSpPr>
        <p:spPr>
          <a:xfrm>
            <a:off x="6135624" y="4389120"/>
            <a:ext cx="2697480" cy="960120"/>
          </a:xfrm>
          <a:prstGeom prst="roundRect">
            <a:avLst>
              <a:gd name="adj" fmla="val 9523"/>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Threshold</a:t>
            </a:r>
          </a:p>
          <a:p>
            <a:pPr algn="ctr"/>
            <a:r>
              <a:rPr sz="1100">
                <a:solidFill>
                  <a:srgbClr val="5B6B7F"/>
                </a:solidFill>
                <a:latin typeface="Calibri"/>
              </a:rPr>
              <a:t>warning / critical per KPI, e.g. latency 100 / 200 ms</a:t>
            </a:r>
          </a:p>
        </p:txBody>
      </p:sp>
      <p:sp>
        <p:nvSpPr>
          <p:cNvPr id="12" name="node: Rate of change"/>
          <p:cNvSpPr/>
          <p:nvPr/>
        </p:nvSpPr>
        <p:spPr>
          <a:xfrm>
            <a:off x="8951976" y="4389120"/>
            <a:ext cx="2697480" cy="960120"/>
          </a:xfrm>
          <a:prstGeom prst="roundRect">
            <a:avLst>
              <a:gd name="adj" fmla="val 9523"/>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Rate of change</a:t>
            </a:r>
          </a:p>
          <a:p>
            <a:pPr algn="ctr"/>
            <a:r>
              <a:rPr sz="1100">
                <a:solidFill>
                  <a:srgbClr val="5B6B7F"/>
                </a:solidFill>
                <a:latin typeface="Calibri"/>
              </a:rPr>
              <a:t>per-minute change vs median / MAD, z &gt;= 5</a:t>
            </a:r>
          </a:p>
        </p:txBody>
      </p:sp>
      <p:sp>
        <p:nvSpPr>
          <p:cNvPr id="13" name="TextBox 12"/>
          <p:cNvSpPr txBox="1"/>
          <p:nvPr/>
        </p:nvSpPr>
        <p:spPr>
          <a:xfrm>
            <a:off x="502920" y="5440680"/>
            <a:ext cx="11155680" cy="685800"/>
          </a:xfrm>
          <a:prstGeom prst="rect">
            <a:avLst/>
          </a:prstGeom>
          <a:noFill/>
        </p:spPr>
        <p:txBody>
          <a:bodyPr wrap="square" lIns="36576" rIns="36576" tIns="18288" bIns="18288" anchor="t">
            <a:spAutoFit/>
          </a:bodyPr>
          <a:lstStyle/>
          <a:p>
            <a:pPr algn="l">
              <a:lnSpc>
                <a:spcPct val="105000"/>
              </a:lnSpc>
              <a:spcAft>
                <a:spcPts val="300"/>
              </a:spcAft>
            </a:pPr>
            <a:r>
              <a:rPr sz="1250" b="1" i="0">
                <a:solidFill>
                  <a:srgbClr val="0B2545"/>
                </a:solidFill>
                <a:latin typeface="Calibri"/>
              </a:rPr>
              <a:t>Flag: </a:t>
            </a:r>
            <a:r>
              <a:rPr sz="1250" b="0" i="0">
                <a:solidFill>
                  <a:srgbClr val="1B2A41"/>
                </a:solidFill>
                <a:latin typeface="Calibri"/>
              </a:rPr>
              <a:t>threshold OR (z AND EWMA) OR (RoC AND one), and the deviation must pass a practical minimum.  </a:t>
            </a:r>
            <a:r>
              <a:rPr sz="1250" b="1" i="0">
                <a:solidFill>
                  <a:srgbClr val="0B2545"/>
                </a:solidFill>
                <a:latin typeface="Calibri"/>
              </a:rPr>
              <a:t>Score: </a:t>
            </a:r>
            <a:r>
              <a:rPr sz="1250" b="0" i="0">
                <a:solidFill>
                  <a:srgbClr val="1B2A41"/>
                </a:solidFill>
                <a:latin typeface="Calibri"/>
              </a:rPr>
              <a:t>1 - 2^(-z / threshold); 0.5 at the threshold.  </a:t>
            </a:r>
            <a:r>
              <a:rPr sz="1250" b="1" i="0">
                <a:solidFill>
                  <a:srgbClr val="0B2545"/>
                </a:solidFill>
                <a:latin typeface="Calibri"/>
              </a:rPr>
              <a:t>Baseline: </a:t>
            </a:r>
            <a:r>
              <a:rPr sz="1250" b="0" i="0">
                <a:solidFill>
                  <a:srgbClr val="1B2A41"/>
                </a:solidFill>
                <a:latin typeface="Calibri"/>
              </a:rPr>
              <a:t>only |z| &lt; 2.5 points update it.</a:t>
            </a:r>
          </a:p>
        </p:txBody>
      </p:sp>
      <p:sp>
        <p:nvSpPr>
          <p:cNvPr id="14" name="source note"/>
          <p:cNvSpPr txBox="1"/>
          <p:nvPr/>
        </p:nvSpPr>
        <p:spPr>
          <a:xfrm>
            <a:off x="502920" y="6144768"/>
            <a:ext cx="11155680" cy="256032"/>
          </a:xfrm>
          <a:prstGeom prst="rect">
            <a:avLst/>
          </a:prstGeom>
          <a:noFill/>
        </p:spPr>
        <p:txBody>
          <a:bodyPr wrap="square" lIns="36576" rIns="36576" tIns="18288" bIns="18288" anchor="t">
            <a:spAutoFit/>
          </a:bodyPr>
          <a:lstStyle/>
          <a:p>
            <a:pPr algn="l">
              <a:lnSpc>
                <a:spcPct val="105000"/>
              </a:lnSpc>
              <a:spcAft>
                <a:spcPts val="300"/>
              </a:spcAft>
            </a:pPr>
            <a:r>
              <a:rPr sz="950" b="0" i="1">
                <a:solidFill>
                  <a:srgbClr val="5B6B7F"/>
                </a:solidFill>
                <a:latin typeface="Calibri"/>
              </a:rPr>
              <a:t>Chart data from the repository's own EWMA helper. Screenshot: Anomalies page, critical filter (supplied document, synthetic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CORRELATION</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The correlation engine turns many symptoms into one ranked, caveated incident</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9 / 22</a:t>
            </a:r>
          </a:p>
        </p:txBody>
      </p:sp>
      <p:sp>
        <p:nvSpPr>
          <p:cNvPr id="7" name="node: Metric anomalies"/>
          <p:cNvSpPr/>
          <p:nvPr/>
        </p:nvSpPr>
        <p:spPr>
          <a:xfrm>
            <a:off x="502920" y="1463040"/>
            <a:ext cx="2286000" cy="731520"/>
          </a:xfrm>
          <a:prstGeom prst="roundRect">
            <a:avLst>
              <a:gd name="adj" fmla="val 12500"/>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Metric anomalies</a:t>
            </a:r>
          </a:p>
          <a:p>
            <a:pPr algn="ctr"/>
            <a:r>
              <a:rPr sz="1050">
                <a:solidFill>
                  <a:srgbClr val="5B6B7F"/>
                </a:solidFill>
                <a:latin typeface="Calibri"/>
              </a:rPr>
              <a:t>36 episodes</a:t>
            </a:r>
          </a:p>
        </p:txBody>
      </p:sp>
      <p:cxnSp>
        <p:nvCxnSpPr>
          <p:cNvPr id="8" name="Connector 7"/>
          <p:cNvCxnSpPr/>
          <p:nvPr/>
        </p:nvCxnSpPr>
        <p:spPr>
          <a:xfrm>
            <a:off x="2788920" y="1828800"/>
            <a:ext cx="457200" cy="1097280"/>
          </a:xfrm>
          <a:prstGeom prst="line">
            <a:avLst/>
          </a:prstGeom>
          <a:ln w="1587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node: Operational events"/>
          <p:cNvSpPr/>
          <p:nvPr/>
        </p:nvSpPr>
        <p:spPr>
          <a:xfrm>
            <a:off x="502920" y="2377440"/>
            <a:ext cx="2286000" cy="731520"/>
          </a:xfrm>
          <a:prstGeom prst="roundRect">
            <a:avLst>
              <a:gd name="adj" fmla="val 12500"/>
            </a:avLst>
          </a:prstGeom>
          <a:solidFill>
            <a:srgbClr val="F1F5F9"/>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Operational events</a:t>
            </a:r>
          </a:p>
          <a:p>
            <a:pPr algn="ctr"/>
            <a:r>
              <a:rPr sz="1050">
                <a:solidFill>
                  <a:srgbClr val="5B6B7F"/>
                </a:solidFill>
                <a:latin typeface="Calibri"/>
              </a:rPr>
              <a:t>deploy, config, IDS</a:t>
            </a:r>
          </a:p>
        </p:txBody>
      </p:sp>
      <p:cxnSp>
        <p:nvCxnSpPr>
          <p:cNvPr id="10" name="Connector 9"/>
          <p:cNvCxnSpPr/>
          <p:nvPr/>
        </p:nvCxnSpPr>
        <p:spPr>
          <a:xfrm>
            <a:off x="2788920" y="2743200"/>
            <a:ext cx="457200" cy="182880"/>
          </a:xfrm>
          <a:prstGeom prst="line">
            <a:avLst/>
          </a:prstGeom>
          <a:ln w="1587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node: C call anomalies"/>
          <p:cNvSpPr/>
          <p:nvPr/>
        </p:nvSpPr>
        <p:spPr>
          <a:xfrm>
            <a:off x="502920" y="3291840"/>
            <a:ext cx="2286000" cy="731520"/>
          </a:xfrm>
          <a:prstGeom prst="roundRect">
            <a:avLst>
              <a:gd name="adj" fmla="val 12500"/>
            </a:avLst>
          </a:prstGeom>
          <a:solidFill>
            <a:srgbClr val="FEF3C7"/>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C call anomalies</a:t>
            </a:r>
          </a:p>
          <a:p>
            <a:pPr algn="ctr"/>
            <a:r>
              <a:rPr sz="1050">
                <a:solidFill>
                  <a:srgbClr val="5B6B7F"/>
                </a:solidFill>
                <a:latin typeface="Calibri"/>
              </a:rPr>
              <a:t>cell + window</a:t>
            </a:r>
          </a:p>
        </p:txBody>
      </p:sp>
      <p:cxnSp>
        <p:nvCxnSpPr>
          <p:cNvPr id="12" name="Connector 11"/>
          <p:cNvCxnSpPr/>
          <p:nvPr/>
        </p:nvCxnSpPr>
        <p:spPr>
          <a:xfrm flipV="1">
            <a:off x="2788920" y="2926080"/>
            <a:ext cx="457200" cy="731520"/>
          </a:xfrm>
          <a:prstGeom prst="line">
            <a:avLst/>
          </a:prstGeom>
          <a:ln w="1587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node: Causal graph"/>
          <p:cNvSpPr/>
          <p:nvPr/>
        </p:nvSpPr>
        <p:spPr>
          <a:xfrm>
            <a:off x="502920" y="4206240"/>
            <a:ext cx="2286000" cy="731520"/>
          </a:xfrm>
          <a:prstGeom prst="roundRect">
            <a:avLst>
              <a:gd name="adj" fmla="val 12500"/>
            </a:avLst>
          </a:prstGeom>
          <a:solidFill>
            <a:srgbClr val="FFFFFF"/>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Causal graph</a:t>
            </a:r>
          </a:p>
          <a:p>
            <a:pPr algn="ctr"/>
            <a:r>
              <a:rPr sz="1050">
                <a:solidFill>
                  <a:srgbClr val="5B6B7F"/>
                </a:solidFill>
                <a:latin typeface="Calibri"/>
              </a:rPr>
              <a:t>fixed, hand-written</a:t>
            </a:r>
          </a:p>
        </p:txBody>
      </p:sp>
      <p:cxnSp>
        <p:nvCxnSpPr>
          <p:cNvPr id="14" name="Connector 13"/>
          <p:cNvCxnSpPr/>
          <p:nvPr/>
        </p:nvCxnSpPr>
        <p:spPr>
          <a:xfrm flipV="1">
            <a:off x="2788920" y="2926080"/>
            <a:ext cx="457200" cy="1645920"/>
          </a:xfrm>
          <a:prstGeom prst="line">
            <a:avLst/>
          </a:prstGeom>
          <a:ln w="1587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node: 1 Cluster"/>
          <p:cNvSpPr/>
          <p:nvPr/>
        </p:nvSpPr>
        <p:spPr>
          <a:xfrm>
            <a:off x="3246120" y="1463040"/>
            <a:ext cx="3931920" cy="731520"/>
          </a:xfrm>
          <a:prstGeom prst="roundRect">
            <a:avLst>
              <a:gd name="adj" fmla="val 12500"/>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1 Cluster</a:t>
            </a:r>
          </a:p>
          <a:p>
            <a:pPr algn="ctr"/>
            <a:r>
              <a:rPr sz="1100">
                <a:solidFill>
                  <a:srgbClr val="5B6B7F"/>
                </a:solidFill>
                <a:latin typeface="Calibri"/>
              </a:rPr>
              <a:t>per cell &lt;= 15 min; same node merges</a:t>
            </a:r>
          </a:p>
        </p:txBody>
      </p:sp>
      <p:cxnSp>
        <p:nvCxnSpPr>
          <p:cNvPr id="16" name="Connector 15"/>
          <p:cNvCxnSpPr/>
          <p:nvPr/>
        </p:nvCxnSpPr>
        <p:spPr>
          <a:xfrm>
            <a:off x="5212080" y="2194560"/>
            <a:ext cx="0" cy="182880"/>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node: 2 Gate"/>
          <p:cNvSpPr/>
          <p:nvPr/>
        </p:nvSpPr>
        <p:spPr>
          <a:xfrm>
            <a:off x="3246120" y="2377440"/>
            <a:ext cx="3931920" cy="731520"/>
          </a:xfrm>
          <a:prstGeom prst="roundRect">
            <a:avLst>
              <a:gd name="adj" fmla="val 12500"/>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2 Gate</a:t>
            </a:r>
          </a:p>
          <a:p>
            <a:pPr algn="ctr"/>
            <a:r>
              <a:rPr sz="1100">
                <a:solidFill>
                  <a:srgbClr val="5B6B7F"/>
                </a:solidFill>
                <a:latin typeface="Calibri"/>
              </a:rPr>
              <a:t>&gt;= 2 metrics, one severity &gt;= high</a:t>
            </a:r>
          </a:p>
        </p:txBody>
      </p:sp>
      <p:cxnSp>
        <p:nvCxnSpPr>
          <p:cNvPr id="18" name="Connector 17"/>
          <p:cNvCxnSpPr/>
          <p:nvPr/>
        </p:nvCxnSpPr>
        <p:spPr>
          <a:xfrm>
            <a:off x="5212080" y="3108960"/>
            <a:ext cx="0" cy="182880"/>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node: 3 Score causes"/>
          <p:cNvSpPr/>
          <p:nvPr/>
        </p:nvSpPr>
        <p:spPr>
          <a:xfrm>
            <a:off x="3246120" y="3291840"/>
            <a:ext cx="3931920" cy="731520"/>
          </a:xfrm>
          <a:prstGeom prst="roundRect">
            <a:avLst>
              <a:gd name="adj" fmla="val 12500"/>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3 Score causes</a:t>
            </a:r>
          </a:p>
          <a:p>
            <a:pPr algn="ctr"/>
            <a:r>
              <a:rPr sz="1100">
                <a:solidFill>
                  <a:srgbClr val="5B6B7F"/>
                </a:solidFill>
                <a:latin typeface="Calibri"/>
              </a:rPr>
              <a:t>0.45 time + 0.35 mechanism + 0.20 topology</a:t>
            </a:r>
          </a:p>
        </p:txBody>
      </p:sp>
      <p:cxnSp>
        <p:nvCxnSpPr>
          <p:cNvPr id="20" name="Connector 19"/>
          <p:cNvCxnSpPr/>
          <p:nvPr/>
        </p:nvCxnSpPr>
        <p:spPr>
          <a:xfrm>
            <a:off x="5212080" y="4023360"/>
            <a:ext cx="0" cy="182880"/>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node: 4 Confidence"/>
          <p:cNvSpPr/>
          <p:nvPr/>
        </p:nvSpPr>
        <p:spPr>
          <a:xfrm>
            <a:off x="3246120" y="4206240"/>
            <a:ext cx="3931920" cy="731520"/>
          </a:xfrm>
          <a:prstGeom prst="roundRect">
            <a:avLst>
              <a:gd name="adj" fmla="val 12500"/>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4 Confidence</a:t>
            </a:r>
          </a:p>
          <a:p>
            <a:pPr algn="ctr"/>
            <a:r>
              <a:rPr sz="1100">
                <a:solidFill>
                  <a:srgbClr val="5B6B7F"/>
                </a:solidFill>
                <a:latin typeface="Calibri"/>
              </a:rPr>
              <a:t>top x (0.6 + 0.4 consistency); cap 0.95</a:t>
            </a:r>
          </a:p>
        </p:txBody>
      </p:sp>
      <p:sp>
        <p:nvSpPr>
          <p:cNvPr id="22" name="node: symptoms"/>
          <p:cNvSpPr/>
          <p:nvPr/>
        </p:nvSpPr>
        <p:spPr>
          <a:xfrm>
            <a:off x="9144000" y="1463040"/>
            <a:ext cx="2514600" cy="731520"/>
          </a:xfrm>
          <a:prstGeom prst="roundRect">
            <a:avLst>
              <a:gd name="adj" fmla="val 12500"/>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symptoms</a:t>
            </a:r>
          </a:p>
          <a:p>
            <a:pPr algn="ctr"/>
            <a:r>
              <a:rPr sz="1050">
                <a:solidFill>
                  <a:srgbClr val="5B6B7F"/>
                </a:solidFill>
                <a:latin typeface="Calibri"/>
              </a:rPr>
              <a:t>ordered by onset</a:t>
            </a:r>
          </a:p>
        </p:txBody>
      </p:sp>
      <p:cxnSp>
        <p:nvCxnSpPr>
          <p:cNvPr id="23" name="Connector 22"/>
          <p:cNvCxnSpPr/>
          <p:nvPr/>
        </p:nvCxnSpPr>
        <p:spPr>
          <a:xfrm flipV="1">
            <a:off x="7178040" y="1828800"/>
            <a:ext cx="1965960" cy="1097280"/>
          </a:xfrm>
          <a:prstGeom prst="line">
            <a:avLst/>
          </a:prstGeom>
          <a:ln w="1587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node: suspected causes"/>
          <p:cNvSpPr/>
          <p:nvPr/>
        </p:nvSpPr>
        <p:spPr>
          <a:xfrm>
            <a:off x="9144000" y="2377440"/>
            <a:ext cx="2514600" cy="731520"/>
          </a:xfrm>
          <a:prstGeom prst="roundRect">
            <a:avLst>
              <a:gd name="adj" fmla="val 12500"/>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suspected causes</a:t>
            </a:r>
          </a:p>
          <a:p>
            <a:pPr algn="ctr"/>
            <a:r>
              <a:rPr sz="1050">
                <a:solidFill>
                  <a:srgbClr val="5B6B7F"/>
                </a:solidFill>
                <a:latin typeface="Calibri"/>
              </a:rPr>
              <a:t>status: hypothesis</a:t>
            </a:r>
          </a:p>
        </p:txBody>
      </p:sp>
      <p:cxnSp>
        <p:nvCxnSpPr>
          <p:cNvPr id="25" name="Connector 24"/>
          <p:cNvCxnSpPr/>
          <p:nvPr/>
        </p:nvCxnSpPr>
        <p:spPr>
          <a:xfrm flipV="1">
            <a:off x="7178040" y="2743200"/>
            <a:ext cx="1965960" cy="182880"/>
          </a:xfrm>
          <a:prstGeom prst="line">
            <a:avLst/>
          </a:prstGeom>
          <a:ln w="1587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node: excluded"/>
          <p:cNvSpPr/>
          <p:nvPr/>
        </p:nvSpPr>
        <p:spPr>
          <a:xfrm>
            <a:off x="9144000" y="3291840"/>
            <a:ext cx="2514600" cy="731520"/>
          </a:xfrm>
          <a:prstGeom prst="roundRect">
            <a:avLst>
              <a:gd name="adj" fmla="val 12500"/>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excluded</a:t>
            </a:r>
          </a:p>
          <a:p>
            <a:pPr algn="ctr"/>
            <a:r>
              <a:rPr sz="1050">
                <a:solidFill>
                  <a:srgbClr val="5B6B7F"/>
                </a:solidFill>
                <a:latin typeface="Calibri"/>
              </a:rPr>
              <a:t>with reasons</a:t>
            </a:r>
          </a:p>
        </p:txBody>
      </p:sp>
      <p:cxnSp>
        <p:nvCxnSpPr>
          <p:cNvPr id="27" name="Connector 26"/>
          <p:cNvCxnSpPr/>
          <p:nvPr/>
        </p:nvCxnSpPr>
        <p:spPr>
          <a:xfrm>
            <a:off x="7178040" y="2926080"/>
            <a:ext cx="1965960" cy="731520"/>
          </a:xfrm>
          <a:prstGeom prst="line">
            <a:avLst/>
          </a:prstGeom>
          <a:ln w="1587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node: timeline + caveats"/>
          <p:cNvSpPr/>
          <p:nvPr/>
        </p:nvSpPr>
        <p:spPr>
          <a:xfrm>
            <a:off x="9144000" y="4206240"/>
            <a:ext cx="2514600" cy="731520"/>
          </a:xfrm>
          <a:prstGeom prst="roundRect">
            <a:avLst>
              <a:gd name="adj" fmla="val 12500"/>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timeline + caveats</a:t>
            </a:r>
          </a:p>
        </p:txBody>
      </p:sp>
      <p:cxnSp>
        <p:nvCxnSpPr>
          <p:cNvPr id="29" name="Connector 28"/>
          <p:cNvCxnSpPr/>
          <p:nvPr/>
        </p:nvCxnSpPr>
        <p:spPr>
          <a:xfrm>
            <a:off x="7178040" y="2926080"/>
            <a:ext cx="1965960" cy="1645920"/>
          </a:xfrm>
          <a:prstGeom prst="line">
            <a:avLst/>
          </a:prstGeom>
          <a:ln w="1587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caveat"/>
          <p:cNvSpPr/>
          <p:nvPr/>
        </p:nvSpPr>
        <p:spPr>
          <a:xfrm>
            <a:off x="502920" y="5257800"/>
            <a:ext cx="11155680" cy="868680"/>
          </a:xfrm>
          <a:prstGeom prst="roundRect">
            <a:avLst>
              <a:gd name="adj" fmla="val 10526"/>
            </a:avLst>
          </a:prstGeom>
          <a:solidFill>
            <a:srgbClr val="FFFBEB"/>
          </a:solidFill>
          <a:ln w="12700">
            <a:solidFill>
              <a:srgbClr val="FCD3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303520"/>
            <a:ext cx="10789920" cy="777240"/>
          </a:xfrm>
          <a:prstGeom prst="rect">
            <a:avLst/>
          </a:prstGeom>
          <a:noFill/>
        </p:spPr>
        <p:txBody>
          <a:bodyPr wrap="square" lIns="36576" rIns="36576" tIns="18288" bIns="18288" anchor="ctr">
            <a:spAutoFit/>
          </a:bodyPr>
          <a:lstStyle/>
          <a:p>
            <a:pPr algn="l">
              <a:lnSpc>
                <a:spcPct val="105000"/>
              </a:lnSpc>
              <a:spcAft>
                <a:spcPts val="300"/>
              </a:spcAft>
            </a:pPr>
            <a:r>
              <a:rPr sz="1400" b="1" i="0">
                <a:solidFill>
                  <a:srgbClr val="92400E"/>
                </a:solidFill>
                <a:latin typeface="Calibri"/>
              </a:rPr>
              <a:t>Correlation is not causation. </a:t>
            </a:r>
            <a:r>
              <a:rPr sz="1400" b="0" i="0">
                <a:solidFill>
                  <a:srgbClr val="1B2A41"/>
                </a:solidFill>
                <a:latin typeface="Calibri"/>
              </a:rPr>
              <a:t>The engine ranks hypotheses by time order, topology and a fixed causal graph; every cause carries status "hypothesis" and the incident carries a caveat to that effect.</a:t>
            </a:r>
          </a:p>
        </p:txBody>
      </p:sp>
      <p:sp>
        <p:nvSpPr>
          <p:cNvPr id="32" name="Rounded Rectangle 31"/>
          <p:cNvSpPr/>
          <p:nvPr/>
        </p:nvSpPr>
        <p:spPr>
          <a:xfrm>
            <a:off x="502920" y="6199632"/>
            <a:ext cx="109728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VERIFIED</a:t>
            </a:r>
          </a:p>
        </p:txBody>
      </p:sp>
      <p:sp>
        <p:nvSpPr>
          <p:cNvPr id="33" name="TextBox 32"/>
          <p:cNvSpPr txBox="1"/>
          <p:nvPr/>
        </p:nvSpPr>
        <p:spPr>
          <a:xfrm>
            <a:off x="1691640" y="6181344"/>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0" i="0">
                <a:solidFill>
                  <a:srgbClr val="5B6B7F"/>
                </a:solidFill>
                <a:latin typeface="Calibri"/>
              </a:rPr>
              <a:t>29 tests; 0 incidents over 20 healthy days (recorded); seeded run recomputed for this handbook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INCIDENT TIMELINE</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The deployment outranks memory exhaustion because it preceded the first symptom on the same node</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10 / 22</a:t>
            </a:r>
          </a:p>
        </p:txBody>
      </p:sp>
      <p:sp>
        <p:nvSpPr>
          <p:cNvPr id="7" name="time axis"/>
          <p:cNvSpPr/>
          <p:nvPr/>
        </p:nvSpPr>
        <p:spPr>
          <a:xfrm>
            <a:off x="731520" y="2953512"/>
            <a:ext cx="6035040" cy="36576"/>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081528"/>
            <a:ext cx="640080" cy="228600"/>
          </a:xfrm>
          <a:prstGeom prst="rect">
            <a:avLst/>
          </a:prstGeom>
          <a:noFill/>
        </p:spPr>
        <p:txBody>
          <a:bodyPr wrap="square" lIns="36576" rIns="36576" tIns="18288" bIns="18288" anchor="t">
            <a:spAutoFit/>
          </a:bodyPr>
          <a:lstStyle/>
          <a:p>
            <a:pPr algn="ctr">
              <a:lnSpc>
                <a:spcPct val="105000"/>
              </a:lnSpc>
              <a:spcAft>
                <a:spcPts val="300"/>
              </a:spcAft>
            </a:pPr>
            <a:r>
              <a:rPr sz="1050" b="0" i="0">
                <a:solidFill>
                  <a:srgbClr val="5B6B7F"/>
                </a:solidFill>
                <a:latin typeface="Calibri"/>
              </a:rPr>
              <a:t>13:00</a:t>
            </a:r>
          </a:p>
        </p:txBody>
      </p:sp>
      <p:sp>
        <p:nvSpPr>
          <p:cNvPr id="9" name="TextBox 8"/>
          <p:cNvSpPr txBox="1"/>
          <p:nvPr/>
        </p:nvSpPr>
        <p:spPr>
          <a:xfrm>
            <a:off x="3428999" y="3081528"/>
            <a:ext cx="640080" cy="228600"/>
          </a:xfrm>
          <a:prstGeom prst="rect">
            <a:avLst/>
          </a:prstGeom>
          <a:noFill/>
        </p:spPr>
        <p:txBody>
          <a:bodyPr wrap="square" lIns="36576" rIns="36576" tIns="18288" bIns="18288" anchor="t">
            <a:spAutoFit/>
          </a:bodyPr>
          <a:lstStyle/>
          <a:p>
            <a:pPr algn="ctr">
              <a:lnSpc>
                <a:spcPct val="105000"/>
              </a:lnSpc>
              <a:spcAft>
                <a:spcPts val="300"/>
              </a:spcAft>
            </a:pPr>
            <a:r>
              <a:rPr sz="1050" b="0" i="0">
                <a:solidFill>
                  <a:srgbClr val="5B6B7F"/>
                </a:solidFill>
                <a:latin typeface="Calibri"/>
              </a:rPr>
              <a:t>14:00</a:t>
            </a:r>
          </a:p>
        </p:txBody>
      </p:sp>
      <p:sp>
        <p:nvSpPr>
          <p:cNvPr id="10" name="TextBox 9"/>
          <p:cNvSpPr txBox="1"/>
          <p:nvPr/>
        </p:nvSpPr>
        <p:spPr>
          <a:xfrm>
            <a:off x="6446520" y="3081528"/>
            <a:ext cx="640080" cy="228600"/>
          </a:xfrm>
          <a:prstGeom prst="rect">
            <a:avLst/>
          </a:prstGeom>
          <a:noFill/>
        </p:spPr>
        <p:txBody>
          <a:bodyPr wrap="square" lIns="36576" rIns="36576" tIns="18288" bIns="18288" anchor="t">
            <a:spAutoFit/>
          </a:bodyPr>
          <a:lstStyle/>
          <a:p>
            <a:pPr algn="ctr">
              <a:lnSpc>
                <a:spcPct val="105000"/>
              </a:lnSpc>
              <a:spcAft>
                <a:spcPts val="300"/>
              </a:spcAft>
            </a:pPr>
            <a:r>
              <a:rPr sz="1050" b="0" i="0">
                <a:solidFill>
                  <a:srgbClr val="5B6B7F"/>
                </a:solidFill>
                <a:latin typeface="Calibri"/>
              </a:rPr>
              <a:t>15:00</a:t>
            </a:r>
          </a:p>
        </p:txBody>
      </p:sp>
      <p:cxnSp>
        <p:nvCxnSpPr>
          <p:cNvPr id="11" name="Connector 10"/>
          <p:cNvCxnSpPr/>
          <p:nvPr/>
        </p:nvCxnSpPr>
        <p:spPr>
          <a:xfrm>
            <a:off x="4000500" y="2606040"/>
            <a:ext cx="0" cy="347472"/>
          </a:xfrm>
          <a:prstGeom prst="line">
            <a:avLst/>
          </a:prstGeom>
          <a:ln w="15875">
            <a:solidFill>
              <a:srgbClr val="B91C1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497580" y="2331720"/>
            <a:ext cx="1005840" cy="274320"/>
          </a:xfrm>
          <a:prstGeom prst="rect">
            <a:avLst/>
          </a:prstGeom>
          <a:noFill/>
        </p:spPr>
        <p:txBody>
          <a:bodyPr wrap="square" lIns="36576" rIns="36576" tIns="18288" bIns="18288" anchor="t">
            <a:spAutoFit/>
          </a:bodyPr>
          <a:lstStyle/>
          <a:p>
            <a:pPr algn="ctr">
              <a:lnSpc>
                <a:spcPct val="105000"/>
              </a:lnSpc>
              <a:spcAft>
                <a:spcPts val="300"/>
              </a:spcAft>
            </a:pPr>
            <a:r>
              <a:rPr sz="1050" b="1" i="0">
                <a:solidFill>
                  <a:srgbClr val="B91C1C"/>
                </a:solidFill>
                <a:latin typeface="Calibri"/>
              </a:rPr>
              <a:t>14:05 </a:t>
            </a:r>
            <a:r>
              <a:rPr sz="1050" b="0" i="0">
                <a:solidFill>
                  <a:srgbClr val="1B2A41"/>
                </a:solidFill>
                <a:latin typeface="Calibri"/>
              </a:rPr>
              <a:t>deploy</a:t>
            </a:r>
          </a:p>
        </p:txBody>
      </p:sp>
      <p:cxnSp>
        <p:nvCxnSpPr>
          <p:cNvPr id="13" name="Connector 12"/>
          <p:cNvCxnSpPr/>
          <p:nvPr/>
        </p:nvCxnSpPr>
        <p:spPr>
          <a:xfrm>
            <a:off x="4402836" y="2240280"/>
            <a:ext cx="0" cy="713232"/>
          </a:xfrm>
          <a:prstGeom prst="line">
            <a:avLst/>
          </a:prstGeom>
          <a:ln w="15875">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899915" y="1965960"/>
            <a:ext cx="1005840" cy="274320"/>
          </a:xfrm>
          <a:prstGeom prst="rect">
            <a:avLst/>
          </a:prstGeom>
          <a:noFill/>
        </p:spPr>
        <p:txBody>
          <a:bodyPr wrap="square" lIns="36576" rIns="36576" tIns="18288" bIns="18288" anchor="t">
            <a:spAutoFit/>
          </a:bodyPr>
          <a:lstStyle/>
          <a:p>
            <a:pPr algn="ctr">
              <a:lnSpc>
                <a:spcPct val="105000"/>
              </a:lnSpc>
              <a:spcAft>
                <a:spcPts val="300"/>
              </a:spcAft>
            </a:pPr>
            <a:r>
              <a:rPr sz="1050" b="1" i="0">
                <a:solidFill>
                  <a:srgbClr val="1D4ED8"/>
                </a:solidFill>
                <a:latin typeface="Calibri"/>
              </a:rPr>
              <a:t>14:13 </a:t>
            </a:r>
            <a:r>
              <a:rPr sz="1050" b="0" i="0">
                <a:solidFill>
                  <a:srgbClr val="1B2A41"/>
                </a:solidFill>
                <a:latin typeface="Calibri"/>
              </a:rPr>
              <a:t>memory</a:t>
            </a:r>
          </a:p>
        </p:txBody>
      </p:sp>
      <p:cxnSp>
        <p:nvCxnSpPr>
          <p:cNvPr id="15" name="Connector 14"/>
          <p:cNvCxnSpPr/>
          <p:nvPr/>
        </p:nvCxnSpPr>
        <p:spPr>
          <a:xfrm>
            <a:off x="5308092" y="2606040"/>
            <a:ext cx="0" cy="347472"/>
          </a:xfrm>
          <a:prstGeom prst="line">
            <a:avLst/>
          </a:prstGeom>
          <a:ln w="15875">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805172" y="2331720"/>
            <a:ext cx="1005840" cy="274320"/>
          </a:xfrm>
          <a:prstGeom prst="rect">
            <a:avLst/>
          </a:prstGeom>
          <a:noFill/>
        </p:spPr>
        <p:txBody>
          <a:bodyPr wrap="square" lIns="36576" rIns="36576" tIns="18288" bIns="18288" anchor="t">
            <a:spAutoFit/>
          </a:bodyPr>
          <a:lstStyle/>
          <a:p>
            <a:pPr algn="ctr">
              <a:lnSpc>
                <a:spcPct val="105000"/>
              </a:lnSpc>
              <a:spcAft>
                <a:spcPts val="300"/>
              </a:spcAft>
            </a:pPr>
            <a:r>
              <a:rPr sz="1050" b="1" i="0">
                <a:solidFill>
                  <a:srgbClr val="1D4ED8"/>
                </a:solidFill>
                <a:latin typeface="Calibri"/>
              </a:rPr>
              <a:t>14:31 </a:t>
            </a:r>
            <a:r>
              <a:rPr sz="1050" b="0" i="0">
                <a:solidFill>
                  <a:srgbClr val="1B2A41"/>
                </a:solidFill>
                <a:latin typeface="Calibri"/>
              </a:rPr>
              <a:t>CPU</a:t>
            </a:r>
          </a:p>
        </p:txBody>
      </p:sp>
      <p:cxnSp>
        <p:nvCxnSpPr>
          <p:cNvPr id="17" name="Connector 16"/>
          <p:cNvCxnSpPr/>
          <p:nvPr/>
        </p:nvCxnSpPr>
        <p:spPr>
          <a:xfrm>
            <a:off x="5760720" y="2240280"/>
            <a:ext cx="0" cy="713232"/>
          </a:xfrm>
          <a:prstGeom prst="line">
            <a:avLst/>
          </a:prstGeom>
          <a:ln w="15875">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257800" y="1965960"/>
            <a:ext cx="1005840" cy="274320"/>
          </a:xfrm>
          <a:prstGeom prst="rect">
            <a:avLst/>
          </a:prstGeom>
          <a:noFill/>
        </p:spPr>
        <p:txBody>
          <a:bodyPr wrap="square" lIns="36576" rIns="36576" tIns="18288" bIns="18288" anchor="t">
            <a:spAutoFit/>
          </a:bodyPr>
          <a:lstStyle/>
          <a:p>
            <a:pPr algn="ctr">
              <a:lnSpc>
                <a:spcPct val="105000"/>
              </a:lnSpc>
              <a:spcAft>
                <a:spcPts val="300"/>
              </a:spcAft>
            </a:pPr>
            <a:r>
              <a:rPr sz="1050" b="1" i="0">
                <a:solidFill>
                  <a:srgbClr val="1D4ED8"/>
                </a:solidFill>
                <a:latin typeface="Calibri"/>
              </a:rPr>
              <a:t>14:40 </a:t>
            </a:r>
            <a:r>
              <a:rPr sz="1050" b="0" i="0">
                <a:solidFill>
                  <a:srgbClr val="1B2A41"/>
                </a:solidFill>
                <a:latin typeface="Calibri"/>
              </a:rPr>
              <a:t>latency</a:t>
            </a:r>
          </a:p>
        </p:txBody>
      </p:sp>
      <p:cxnSp>
        <p:nvCxnSpPr>
          <p:cNvPr id="19" name="Connector 18"/>
          <p:cNvCxnSpPr/>
          <p:nvPr/>
        </p:nvCxnSpPr>
        <p:spPr>
          <a:xfrm>
            <a:off x="6263640" y="1874519"/>
            <a:ext cx="0" cy="1078993"/>
          </a:xfrm>
          <a:prstGeom prst="line">
            <a:avLst/>
          </a:prstGeom>
          <a:ln w="15875">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760720" y="1600200"/>
            <a:ext cx="1005840" cy="274320"/>
          </a:xfrm>
          <a:prstGeom prst="rect">
            <a:avLst/>
          </a:prstGeom>
          <a:noFill/>
        </p:spPr>
        <p:txBody>
          <a:bodyPr wrap="square" lIns="36576" rIns="36576" tIns="18288" bIns="18288" anchor="t">
            <a:spAutoFit/>
          </a:bodyPr>
          <a:lstStyle/>
          <a:p>
            <a:pPr algn="ctr">
              <a:lnSpc>
                <a:spcPct val="105000"/>
              </a:lnSpc>
              <a:spcAft>
                <a:spcPts val="300"/>
              </a:spcAft>
            </a:pPr>
            <a:r>
              <a:rPr sz="1050" b="1" i="0">
                <a:solidFill>
                  <a:srgbClr val="1D4ED8"/>
                </a:solidFill>
                <a:latin typeface="Calibri"/>
              </a:rPr>
              <a:t>14:50 </a:t>
            </a:r>
            <a:r>
              <a:rPr sz="1050" b="0" i="0">
                <a:solidFill>
                  <a:srgbClr val="1B2A41"/>
                </a:solidFill>
                <a:latin typeface="Calibri"/>
              </a:rPr>
              <a:t>loss</a:t>
            </a:r>
          </a:p>
        </p:txBody>
      </p:sp>
      <p:cxnSp>
        <p:nvCxnSpPr>
          <p:cNvPr id="21" name="Connector 20"/>
          <p:cNvCxnSpPr/>
          <p:nvPr/>
        </p:nvCxnSpPr>
        <p:spPr>
          <a:xfrm>
            <a:off x="6414516" y="2606040"/>
            <a:ext cx="0" cy="347472"/>
          </a:xfrm>
          <a:prstGeom prst="line">
            <a:avLst/>
          </a:prstGeom>
          <a:ln w="15875">
            <a:solidFill>
              <a:srgbClr val="B91C1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11596" y="2331720"/>
            <a:ext cx="1005840" cy="274320"/>
          </a:xfrm>
          <a:prstGeom prst="rect">
            <a:avLst/>
          </a:prstGeom>
          <a:noFill/>
        </p:spPr>
        <p:txBody>
          <a:bodyPr wrap="square" lIns="36576" rIns="36576" tIns="18288" bIns="18288" anchor="t">
            <a:spAutoFit/>
          </a:bodyPr>
          <a:lstStyle/>
          <a:p>
            <a:pPr algn="ctr">
              <a:lnSpc>
                <a:spcPct val="105000"/>
              </a:lnSpc>
              <a:spcAft>
                <a:spcPts val="300"/>
              </a:spcAft>
            </a:pPr>
            <a:r>
              <a:rPr sz="1050" b="1" i="0">
                <a:solidFill>
                  <a:srgbClr val="B91C1C"/>
                </a:solidFill>
                <a:latin typeface="Calibri"/>
              </a:rPr>
              <a:t>14:53 </a:t>
            </a:r>
            <a:r>
              <a:rPr sz="1050" b="0" i="0">
                <a:solidFill>
                  <a:srgbClr val="1B2A41"/>
                </a:solidFill>
                <a:latin typeface="Calibri"/>
              </a:rPr>
              <a:t>drops</a:t>
            </a:r>
          </a:p>
        </p:txBody>
      </p:sp>
      <p:cxnSp>
        <p:nvCxnSpPr>
          <p:cNvPr id="23" name="Connector 22"/>
          <p:cNvCxnSpPr/>
          <p:nvPr/>
        </p:nvCxnSpPr>
        <p:spPr>
          <a:xfrm flipV="1">
            <a:off x="1234440" y="2990088"/>
            <a:ext cx="0" cy="484632"/>
          </a:xfrm>
          <a:prstGeom prst="line">
            <a:avLst/>
          </a:prstGeom>
          <a:ln w="15875">
            <a:solidFill>
              <a:srgbClr val="64748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3502152"/>
            <a:ext cx="3108960" cy="457200"/>
          </a:xfrm>
          <a:prstGeom prst="rect">
            <a:avLst/>
          </a:prstGeom>
          <a:noFill/>
        </p:spPr>
        <p:txBody>
          <a:bodyPr wrap="square" lIns="36576" rIns="36576" tIns="18288" bIns="18288" anchor="t">
            <a:spAutoFit/>
          </a:bodyPr>
          <a:lstStyle/>
          <a:p>
            <a:pPr algn="l">
              <a:lnSpc>
                <a:spcPct val="105000"/>
              </a:lnSpc>
              <a:spcAft>
                <a:spcPts val="300"/>
              </a:spcAft>
            </a:pPr>
            <a:r>
              <a:rPr sz="1050" b="0" i="0">
                <a:solidFill>
                  <a:srgbClr val="5B6B7F"/>
                </a:solidFill>
                <a:latin typeface="Calibri"/>
              </a:rPr>
              <a:t>13:10 hotfix to pgw-3: excluded (other node)</a:t>
            </a:r>
          </a:p>
        </p:txBody>
      </p:sp>
      <p:sp>
        <p:nvSpPr>
          <p:cNvPr id="25" name="TextBox 24"/>
          <p:cNvSpPr txBox="1"/>
          <p:nvPr/>
        </p:nvSpPr>
        <p:spPr>
          <a:xfrm>
            <a:off x="502920" y="1298448"/>
            <a:ext cx="6400800" cy="274320"/>
          </a:xfrm>
          <a:prstGeom prst="rect">
            <a:avLst/>
          </a:prstGeom>
          <a:noFill/>
        </p:spPr>
        <p:txBody>
          <a:bodyPr wrap="square" lIns="36576" rIns="36576" tIns="18288" bIns="18288" anchor="t">
            <a:spAutoFit/>
          </a:bodyPr>
          <a:lstStyle/>
          <a:p>
            <a:pPr algn="l">
              <a:lnSpc>
                <a:spcPct val="105000"/>
              </a:lnSpc>
              <a:spcAft>
                <a:spcPts val="300"/>
              </a:spcAft>
            </a:pPr>
            <a:r>
              <a:rPr sz="1300" b="1" i="0">
                <a:solidFill>
                  <a:srgbClr val="0B2545"/>
                </a:solidFill>
                <a:latin typeface="Calibri"/>
              </a:rPr>
              <a:t>INC-2026-001 timeline (UTC, recomputed from seed 7)</a:t>
            </a:r>
          </a:p>
        </p:txBody>
      </p:sp>
      <p:graphicFrame>
        <p:nvGraphicFramePr>
          <p:cNvPr id="26" name="chart: Cause score = sum of weighted terms"/>
          <p:cNvGraphicFramePr>
            <a:graphicFrameLocks noGrp="1"/>
          </p:cNvGraphicFramePr>
          <p:nvPr/>
        </p:nvGraphicFramePr>
        <p:xfrm>
          <a:off x="6949440" y="1325880"/>
          <a:ext cx="4754880" cy="2651760"/>
        </p:xfrm>
        <a:graphic>
          <a:graphicData uri="http://schemas.openxmlformats.org/drawingml/2006/chart">
            <c:chart xmlns:c="http://schemas.openxmlformats.org/drawingml/2006/chart" r:id="rId2"/>
          </a:graphicData>
        </a:graphic>
      </p:graphicFrame>
      <p:pic>
        <p:nvPicPr>
          <p:cNvPr id="27" name="picture: shot_05_src-image12" descr="Incidents page: INC-2026-001, critical, leading hypothesis deployment_regression 89%"/>
          <p:cNvPicPr>
            <a:picLocks noChangeAspect="1"/>
          </p:cNvPicPr>
          <p:nvPr/>
        </p:nvPicPr>
        <p:blipFill>
          <a:blip r:embed="rId3"/>
          <a:srcRect/>
          <a:stretch>
            <a:fillRect/>
          </a:stretch>
        </p:blipFill>
        <p:spPr>
          <a:xfrm>
            <a:off x="502960" y="4069080"/>
            <a:ext cx="6400718" cy="1874519"/>
          </a:xfrm>
          <a:prstGeom prst="rect">
            <a:avLst/>
          </a:prstGeom>
          <a:ln w="9525">
            <a:solidFill>
              <a:srgbClr val="CBD5E1"/>
            </a:solidFill>
          </a:ln>
        </p:spPr>
      </p:pic>
      <p:sp>
        <p:nvSpPr>
          <p:cNvPr id="28" name="TextBox 27"/>
          <p:cNvSpPr txBox="1"/>
          <p:nvPr/>
        </p:nvSpPr>
        <p:spPr>
          <a:xfrm>
            <a:off x="7132320" y="4114800"/>
            <a:ext cx="4572000" cy="1828800"/>
          </a:xfrm>
          <a:prstGeom prst="rect">
            <a:avLst/>
          </a:prstGeom>
          <a:noFill/>
        </p:spPr>
        <p:txBody>
          <a:bodyPr wrap="square" lIns="36576" rIns="36576" tIns="18288" bIns="18288" anchor="t">
            <a:spAutoFit/>
          </a:bodyPr>
          <a:lstStyle/>
          <a:p>
            <a:pPr algn="l">
              <a:lnSpc>
                <a:spcPct val="105000"/>
              </a:lnSpc>
              <a:spcAft>
                <a:spcPts val="300"/>
              </a:spcAft>
            </a:pPr>
            <a:r>
              <a:rPr sz="1800" b="1" i="0">
                <a:solidFill>
                  <a:srgbClr val="0B2545"/>
                </a:solidFill>
                <a:latin typeface="Calibri"/>
              </a:rPr>
              <a:t>0.8947 </a:t>
            </a:r>
            <a:r>
              <a:rPr sz="1300" b="0" i="0">
                <a:solidFill>
                  <a:srgbClr val="1B2A41"/>
                </a:solidFill>
                <a:latin typeface="Calibri"/>
              </a:rPr>
              <a:t>deployment_regression</a:t>
            </a:r>
          </a:p>
          <a:p>
            <a:pPr algn="l">
              <a:lnSpc>
                <a:spcPct val="105000"/>
              </a:lnSpc>
              <a:spcAft>
                <a:spcPts val="300"/>
              </a:spcAft>
            </a:pPr>
            <a:r>
              <a:rPr sz="1800" b="1" i="0">
                <a:solidFill>
                  <a:srgbClr val="0B2545"/>
                </a:solidFill>
                <a:latin typeface="Calibri"/>
              </a:rPr>
              <a:t>0.675 </a:t>
            </a:r>
            <a:r>
              <a:rPr sz="1300" b="0" i="0">
                <a:solidFill>
                  <a:srgbClr val="1B2A41"/>
                </a:solidFill>
                <a:latin typeface="Calibri"/>
              </a:rPr>
              <a:t>memory_exhaustion</a:t>
            </a:r>
          </a:p>
          <a:p>
            <a:pPr algn="l" marL="182880" indent="-182880">
              <a:lnSpc>
                <a:spcPct val="105000"/>
              </a:lnSpc>
              <a:spcAft>
                <a:spcPts val="400"/>
              </a:spcAft>
              <a:buChar char="•"/>
            </a:pPr>
            <a:r>
              <a:rPr sz="1300" b="0" i="0">
                <a:solidFill>
                  <a:srgbClr val="1B2A41"/>
                </a:solidFill>
                <a:latin typeface="Calibri"/>
              </a:rPr>
              <a:t>deployment was 8 min before onset: temporal exp(-8/30) = 0.766</a:t>
            </a:r>
          </a:p>
          <a:p>
            <a:pPr algn="l" marL="182880" indent="-182880">
              <a:lnSpc>
                <a:spcPct val="105000"/>
              </a:lnSpc>
              <a:spcAft>
                <a:spcPts val="400"/>
              </a:spcAft>
              <a:buChar char="•"/>
            </a:pPr>
            <a:r>
              <a:rPr sz="1300" b="0" i="0">
                <a:solidFill>
                  <a:srgbClr val="1B2A41"/>
                </a:solidFill>
                <a:latin typeface="Calibri"/>
              </a:rPr>
              <a:t>chain consistency 1.0, margin 0.22: confidence 0.8947</a:t>
            </a:r>
          </a:p>
        </p:txBody>
      </p:sp>
      <p:sp>
        <p:nvSpPr>
          <p:cNvPr id="29" name="source note"/>
          <p:cNvSpPr txBox="1"/>
          <p:nvPr/>
        </p:nvSpPr>
        <p:spPr>
          <a:xfrm>
            <a:off x="502920" y="6035040"/>
            <a:ext cx="11155680" cy="256032"/>
          </a:xfrm>
          <a:prstGeom prst="rect">
            <a:avLst/>
          </a:prstGeom>
          <a:noFill/>
        </p:spPr>
        <p:txBody>
          <a:bodyPr wrap="square" lIns="36576" rIns="36576" tIns="18288" bIns="18288" anchor="t">
            <a:spAutoFit/>
          </a:bodyPr>
          <a:lstStyle/>
          <a:p>
            <a:pPr algn="l">
              <a:lnSpc>
                <a:spcPct val="105000"/>
              </a:lnSpc>
              <a:spcAft>
                <a:spcPts val="300"/>
              </a:spcAft>
            </a:pPr>
            <a:r>
              <a:rPr sz="950" b="0" i="1">
                <a:solidFill>
                  <a:srgbClr val="5B6B7F"/>
                </a:solidFill>
                <a:latin typeface="Calibri"/>
              </a:rPr>
              <a:t>Screenshot: Incidents page (supplied document). 89% is the correlation confidence; the RCA states 85% separately.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AI ROOT-CAUSE ANALYSIS</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The model can only ask read-only tools; the engine validates every answer</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11 / 22</a:t>
            </a:r>
          </a:p>
        </p:txBody>
      </p:sp>
      <p:pic>
        <p:nvPicPr>
          <p:cNvPr id="7" name="picture: shot_06_src-image9" descr="RCA page: observed evidence with tool-call ids, hypotheses and recommended remediation"/>
          <p:cNvPicPr>
            <a:picLocks noChangeAspect="1"/>
          </p:cNvPicPr>
          <p:nvPr/>
        </p:nvPicPr>
        <p:blipFill>
          <a:blip r:embed="rId2"/>
          <a:srcRect/>
          <a:stretch>
            <a:fillRect/>
          </a:stretch>
        </p:blipFill>
        <p:spPr>
          <a:xfrm>
            <a:off x="502920" y="1436408"/>
            <a:ext cx="6949440" cy="3619423"/>
          </a:xfrm>
          <a:prstGeom prst="rect">
            <a:avLst/>
          </a:prstGeom>
          <a:ln w="9525">
            <a:solidFill>
              <a:srgbClr val="CBD5E1"/>
            </a:solidFill>
          </a:ln>
        </p:spPr>
      </p:pic>
      <p:sp>
        <p:nvSpPr>
          <p:cNvPr id="8" name="TextBox 7"/>
          <p:cNvSpPr txBox="1"/>
          <p:nvPr/>
        </p:nvSpPr>
        <p:spPr>
          <a:xfrm>
            <a:off x="502920" y="5166360"/>
            <a:ext cx="6949440" cy="274320"/>
          </a:xfrm>
          <a:prstGeom prst="rect">
            <a:avLst/>
          </a:prstGeom>
          <a:noFill/>
        </p:spPr>
        <p:txBody>
          <a:bodyPr wrap="square" lIns="36576" rIns="36576" tIns="18288" bIns="18288" anchor="t">
            <a:spAutoFit/>
          </a:bodyPr>
          <a:lstStyle/>
          <a:p>
            <a:pPr algn="l">
              <a:lnSpc>
                <a:spcPct val="105000"/>
              </a:lnSpc>
              <a:spcAft>
                <a:spcPts val="300"/>
              </a:spcAft>
            </a:pPr>
            <a:r>
              <a:rPr sz="1050" b="0" i="1">
                <a:solidFill>
                  <a:srgbClr val="5B6B7F"/>
                </a:solidFill>
                <a:latin typeface="Calibri"/>
              </a:rPr>
              <a:t>Screenshot: Root Cause Analysis page, provider mock (supplied document, synthetic data)</a:t>
            </a:r>
          </a:p>
        </p:txBody>
      </p:sp>
      <p:sp>
        <p:nvSpPr>
          <p:cNvPr id="9" name="TextBox 8"/>
          <p:cNvSpPr txBox="1"/>
          <p:nvPr/>
        </p:nvSpPr>
        <p:spPr>
          <a:xfrm>
            <a:off x="7726679" y="1371600"/>
            <a:ext cx="3931920" cy="3108960"/>
          </a:xfrm>
          <a:prstGeom prst="rect">
            <a:avLst/>
          </a:prstGeom>
          <a:noFill/>
        </p:spPr>
        <p:txBody>
          <a:bodyPr wrap="square" lIns="36576" rIns="36576" tIns="18288" bIns="18288" anchor="t">
            <a:spAutoFit/>
          </a:bodyPr>
          <a:lstStyle/>
          <a:p>
            <a:pPr algn="l">
              <a:lnSpc>
                <a:spcPct val="105000"/>
              </a:lnSpc>
              <a:spcAft>
                <a:spcPts val="300"/>
              </a:spcAft>
            </a:pPr>
            <a:r>
              <a:rPr sz="1500" b="1" i="0">
                <a:solidFill>
                  <a:srgbClr val="0B2545"/>
                </a:solidFill>
                <a:latin typeface="Calibri"/>
              </a:rPr>
              <a:t>Model asks, engine decides</a:t>
            </a:r>
          </a:p>
          <a:p>
            <a:pPr algn="l" marL="182880" indent="-182880">
              <a:lnSpc>
                <a:spcPct val="105000"/>
              </a:lnSpc>
              <a:spcAft>
                <a:spcPts val="400"/>
              </a:spcAft>
              <a:buChar char="•"/>
            </a:pPr>
            <a:r>
              <a:rPr sz="1250" b="0" i="0">
                <a:solidFill>
                  <a:srgbClr val="1B2A41"/>
                </a:solidFill>
                <a:latin typeface="Calibri"/>
              </a:rPr>
              <a:t>9 read-only, incident-scoped tools</a:t>
            </a:r>
          </a:p>
          <a:p>
            <a:pPr algn="l" marL="182880" indent="-182880">
              <a:lnSpc>
                <a:spcPct val="105000"/>
              </a:lnSpc>
              <a:spcAft>
                <a:spcPts val="400"/>
              </a:spcAft>
              <a:buChar char="•"/>
            </a:pPr>
            <a:r>
              <a:rPr sz="1250" b="0" i="0">
                <a:solidFill>
                  <a:srgbClr val="1B2A41"/>
                </a:solidFill>
                <a:latin typeface="Calibri"/>
              </a:rPr>
              <a:t>arguments validated twice (JSON schema, Pydantic)</a:t>
            </a:r>
          </a:p>
          <a:p>
            <a:pPr algn="l" marL="182880" indent="-182880">
              <a:lnSpc>
                <a:spcPct val="105000"/>
              </a:lnSpc>
              <a:spcAft>
                <a:spcPts val="400"/>
              </a:spcAft>
              <a:buChar char="•"/>
            </a:pPr>
            <a:r>
              <a:rPr sz="1250" b="0" i="0">
                <a:solidFill>
                  <a:srgbClr val="1B2A41"/>
                </a:solidFill>
                <a:latin typeface="Calibri"/>
              </a:rPr>
              <a:t>results capped at 16 KB; at most 10 steps, 8 calls per step</a:t>
            </a:r>
          </a:p>
          <a:p>
            <a:pPr algn="l" marL="182880" indent="-182880">
              <a:lnSpc>
                <a:spcPct val="105000"/>
              </a:lnSpc>
              <a:spcAft>
                <a:spcPts val="400"/>
              </a:spcAft>
              <a:buChar char="•"/>
            </a:pPr>
            <a:r>
              <a:rPr sz="1250" b="0" i="0">
                <a:solidFill>
                  <a:srgbClr val="1B2A41"/>
                </a:solidFill>
                <a:latin typeface="Calibri"/>
              </a:rPr>
              <a:t>answer: one JSON object (RCAAnswer)</a:t>
            </a:r>
          </a:p>
          <a:p>
            <a:pPr algn="l" marL="182880" indent="-182880">
              <a:lnSpc>
                <a:spcPct val="105000"/>
              </a:lnSpc>
              <a:spcAft>
                <a:spcPts val="400"/>
              </a:spcAft>
              <a:buChar char="•"/>
            </a:pPr>
            <a:r>
              <a:rPr sz="1250" b="0" i="0">
                <a:solidFill>
                  <a:srgbClr val="1B2A41"/>
                </a:solidFill>
                <a:latin typeface="Calibri"/>
              </a:rPr>
              <a:t>facts must cite successful tool calls</a:t>
            </a:r>
          </a:p>
          <a:p>
            <a:pPr algn="l" marL="182880" indent="-182880">
              <a:lnSpc>
                <a:spcPct val="105000"/>
              </a:lnSpc>
              <a:spcAft>
                <a:spcPts val="400"/>
              </a:spcAft>
              <a:buChar char="•"/>
            </a:pPr>
            <a:r>
              <a:rPr sz="1250" b="0" i="0">
                <a:solidFill>
                  <a:srgbClr val="1B2A41"/>
                </a:solidFill>
                <a:latin typeface="Calibri"/>
              </a:rPr>
              <a:t>leading hypothesis = root cause; confidence &lt;= 0.95</a:t>
            </a:r>
          </a:p>
          <a:p>
            <a:pPr algn="l" marL="182880" indent="-182880">
              <a:lnSpc>
                <a:spcPct val="105000"/>
              </a:lnSpc>
              <a:spcAft>
                <a:spcPts val="400"/>
              </a:spcAft>
              <a:buChar char="•"/>
            </a:pPr>
            <a:r>
              <a:rPr sz="1250" b="0" i="0">
                <a:solidFill>
                  <a:srgbClr val="1B2A41"/>
                </a:solidFill>
                <a:latin typeface="Calibri"/>
              </a:rPr>
              <a:t>3 attempts, then status failed; nothing invented</a:t>
            </a:r>
          </a:p>
        </p:txBody>
      </p:sp>
      <p:sp>
        <p:nvSpPr>
          <p:cNvPr id="10" name="mock warning"/>
          <p:cNvSpPr/>
          <p:nvPr/>
        </p:nvSpPr>
        <p:spPr>
          <a:xfrm>
            <a:off x="7726679" y="4572000"/>
            <a:ext cx="3931920" cy="1417320"/>
          </a:xfrm>
          <a:prstGeom prst="roundRect">
            <a:avLst>
              <a:gd name="adj" fmla="val 6451"/>
            </a:avLst>
          </a:prstGeom>
          <a:solidFill>
            <a:srgbClr val="FEF2F2"/>
          </a:solidFill>
          <a:ln w="12700">
            <a:solidFill>
              <a:srgbClr val="FC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4617720"/>
            <a:ext cx="3657600" cy="1325880"/>
          </a:xfrm>
          <a:prstGeom prst="rect">
            <a:avLst/>
          </a:prstGeom>
          <a:noFill/>
        </p:spPr>
        <p:txBody>
          <a:bodyPr wrap="square" lIns="36576" rIns="36576" tIns="18288" bIns="18288" anchor="ctr">
            <a:spAutoFit/>
          </a:bodyPr>
          <a:lstStyle/>
          <a:p>
            <a:pPr algn="l">
              <a:lnSpc>
                <a:spcPct val="105000"/>
              </a:lnSpc>
              <a:spcAft>
                <a:spcPts val="300"/>
              </a:spcAft>
            </a:pPr>
            <a:r>
              <a:rPr sz="1250" b="1" i="0">
                <a:solidFill>
                  <a:srgbClr val="7F1D1D"/>
                </a:solidFill>
                <a:latin typeface="Calibri"/>
              </a:rPr>
              <a:t>The mock is not an LLM. </a:t>
            </a:r>
            <a:r>
              <a:rPr sz="1250" b="0" i="0">
                <a:solidFill>
                  <a:srgbClr val="1B2A41"/>
                </a:solidFill>
                <a:latin typeface="Calibri"/>
              </a:rPr>
              <a:t>It is a rule-based investigator using the same tools and validation. Live providers were never called.</a:t>
            </a:r>
          </a:p>
        </p:txBody>
      </p:sp>
      <p:sp>
        <p:nvSpPr>
          <p:cNvPr id="12" name="Rounded Rectangle 11"/>
          <p:cNvSpPr/>
          <p:nvPr/>
        </p:nvSpPr>
        <p:spPr>
          <a:xfrm>
            <a:off x="502920" y="5577840"/>
            <a:ext cx="137160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MOCK VERIFIED</a:t>
            </a:r>
          </a:p>
        </p:txBody>
      </p:sp>
      <p:sp>
        <p:nvSpPr>
          <p:cNvPr id="13" name="Rounded Rectangle 12"/>
          <p:cNvSpPr/>
          <p:nvPr/>
        </p:nvSpPr>
        <p:spPr>
          <a:xfrm>
            <a:off x="1965960" y="5577840"/>
            <a:ext cx="1828800" cy="274320"/>
          </a:xfrm>
          <a:prstGeom prst="roundRect">
            <a:avLst>
              <a:gd name="adj" fmla="val 50000"/>
            </a:avLst>
          </a:prstGeom>
          <a:solidFill>
            <a:srgbClr val="FFEDD5"/>
          </a:solidFill>
          <a:ln w="12700">
            <a:solidFill>
              <a:srgbClr val="7C2D1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7C2D12"/>
                </a:solidFill>
                <a:latin typeface="Calibri"/>
              </a:rPr>
              <a:t>LIVE LLM UNVERIFIED</a:t>
            </a:r>
          </a:p>
        </p:txBody>
      </p:sp>
      <p:sp>
        <p:nvSpPr>
          <p:cNvPr id="14" name="TextBox 13"/>
          <p:cNvSpPr txBox="1"/>
          <p:nvPr/>
        </p:nvSpPr>
        <p:spPr>
          <a:xfrm>
            <a:off x="502920" y="5943600"/>
            <a:ext cx="6949440" cy="274320"/>
          </a:xfrm>
          <a:prstGeom prst="rect">
            <a:avLst/>
          </a:prstGeom>
          <a:noFill/>
        </p:spPr>
        <p:txBody>
          <a:bodyPr wrap="square" lIns="36576" rIns="36576" tIns="18288" bIns="18288" anchor="t">
            <a:spAutoFit/>
          </a:bodyPr>
          <a:lstStyle/>
          <a:p>
            <a:pPr algn="l">
              <a:lnSpc>
                <a:spcPct val="105000"/>
              </a:lnSpc>
              <a:spcAft>
                <a:spcPts val="300"/>
              </a:spcAft>
            </a:pPr>
            <a:r>
              <a:rPr sz="1150" b="0" i="0">
                <a:solidFill>
                  <a:srgbClr val="5B6B7F"/>
                </a:solidFill>
                <a:latin typeface="Calibri"/>
              </a:rPr>
              <a:t>12 tool calls in the seeded run; RCA confidence 85%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REPORTING</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Reports compute every figure from stored data; only the summary is prose</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12 / 22</a:t>
            </a:r>
          </a:p>
        </p:txBody>
      </p:sp>
      <p:pic>
        <p:nvPicPr>
          <p:cNvPr id="7" name="picture: shot_07_src-image13" descr="AI Reports page: executive summary and KPI table for INC-2026-001"/>
          <p:cNvPicPr>
            <a:picLocks noChangeAspect="1"/>
          </p:cNvPicPr>
          <p:nvPr/>
        </p:nvPicPr>
        <p:blipFill>
          <a:blip r:embed="rId2"/>
          <a:srcRect/>
          <a:stretch>
            <a:fillRect/>
          </a:stretch>
        </p:blipFill>
        <p:spPr>
          <a:xfrm>
            <a:off x="502920" y="1701365"/>
            <a:ext cx="7223759" cy="3318108"/>
          </a:xfrm>
          <a:prstGeom prst="rect">
            <a:avLst/>
          </a:prstGeom>
          <a:ln w="9525">
            <a:solidFill>
              <a:srgbClr val="CBD5E1"/>
            </a:solidFill>
          </a:ln>
        </p:spPr>
      </p:pic>
      <p:sp>
        <p:nvSpPr>
          <p:cNvPr id="8" name="TextBox 7"/>
          <p:cNvSpPr txBox="1"/>
          <p:nvPr/>
        </p:nvSpPr>
        <p:spPr>
          <a:xfrm>
            <a:off x="502920" y="5394960"/>
            <a:ext cx="7223760" cy="274320"/>
          </a:xfrm>
          <a:prstGeom prst="rect">
            <a:avLst/>
          </a:prstGeom>
          <a:noFill/>
        </p:spPr>
        <p:txBody>
          <a:bodyPr wrap="square" lIns="36576" rIns="36576" tIns="18288" bIns="18288" anchor="t">
            <a:spAutoFit/>
          </a:bodyPr>
          <a:lstStyle/>
          <a:p>
            <a:pPr algn="l">
              <a:lnSpc>
                <a:spcPct val="105000"/>
              </a:lnSpc>
              <a:spcAft>
                <a:spcPts val="300"/>
              </a:spcAft>
            </a:pPr>
            <a:r>
              <a:rPr sz="1050" b="0" i="1">
                <a:solidFill>
                  <a:srgbClr val="5B6B7F"/>
                </a:solidFill>
                <a:latin typeface="Calibri"/>
              </a:rPr>
              <a:t>Screenshot: AI Reports page (supplied document, synthetic data)</a:t>
            </a:r>
          </a:p>
        </p:txBody>
      </p:sp>
      <p:sp>
        <p:nvSpPr>
          <p:cNvPr id="9" name="TextBox 8"/>
          <p:cNvSpPr txBox="1"/>
          <p:nvPr/>
        </p:nvSpPr>
        <p:spPr>
          <a:xfrm>
            <a:off x="8001000" y="1371600"/>
            <a:ext cx="3657600" cy="3931920"/>
          </a:xfrm>
          <a:prstGeom prst="rect">
            <a:avLst/>
          </a:prstGeom>
          <a:noFill/>
        </p:spPr>
        <p:txBody>
          <a:bodyPr wrap="square" lIns="36576" rIns="36576" tIns="18288" bIns="18288" anchor="t">
            <a:spAutoFit/>
          </a:bodyPr>
          <a:lstStyle/>
          <a:p>
            <a:pPr algn="l">
              <a:lnSpc>
                <a:spcPct val="105000"/>
              </a:lnSpc>
              <a:spcAft>
                <a:spcPts val="300"/>
              </a:spcAft>
            </a:pPr>
            <a:r>
              <a:rPr sz="1500" b="1" i="0">
                <a:solidFill>
                  <a:srgbClr val="0B2545"/>
                </a:solidFill>
                <a:latin typeface="Calibri"/>
              </a:rPr>
              <a:t>Grounded by construction</a:t>
            </a:r>
          </a:p>
          <a:p>
            <a:pPr algn="l" marL="182880" indent="-182880">
              <a:lnSpc>
                <a:spcPct val="105000"/>
              </a:lnSpc>
              <a:spcAft>
                <a:spcPts val="400"/>
              </a:spcAft>
              <a:buChar char="•"/>
            </a:pPr>
            <a:r>
              <a:rPr sz="1250" b="0" i="0">
                <a:solidFill>
                  <a:srgbClr val="1B2A41"/>
                </a:solidFill>
                <a:latin typeface="Calibri"/>
              </a:rPr>
              <a:t>every figure computed from the database</a:t>
            </a:r>
          </a:p>
          <a:p>
            <a:pPr algn="l" marL="182880" indent="-182880">
              <a:lnSpc>
                <a:spcPct val="105000"/>
              </a:lnSpc>
              <a:spcAft>
                <a:spcPts val="400"/>
              </a:spcAft>
              <a:buChar char="•"/>
            </a:pPr>
            <a:r>
              <a:rPr sz="1250" b="0" i="0">
                <a:solidFill>
                  <a:srgbClr val="1B2A41"/>
                </a:solidFill>
                <a:latin typeface="Calibri"/>
              </a:rPr>
              <a:t>baseline = mean of the hour before onset</a:t>
            </a:r>
          </a:p>
          <a:p>
            <a:pPr algn="l" marL="182880" indent="-182880">
              <a:lnSpc>
                <a:spcPct val="105000"/>
              </a:lnSpc>
              <a:spcAft>
                <a:spcPts val="400"/>
              </a:spcAft>
              <a:buChar char="•"/>
            </a:pPr>
            <a:r>
              <a:rPr sz="1250" b="0" i="0">
                <a:solidFill>
                  <a:srgbClr val="1B2A41"/>
                </a:solidFill>
                <a:latin typeface="Calibri"/>
              </a:rPr>
              <a:t>summary prose accepted only if all its numbers appear in the context; else template</a:t>
            </a:r>
          </a:p>
          <a:p>
            <a:pPr algn="l" marL="182880" indent="-182880">
              <a:lnSpc>
                <a:spcPct val="105000"/>
              </a:lnSpc>
              <a:spcAft>
                <a:spcPts val="400"/>
              </a:spcAft>
              <a:buChar char="•"/>
            </a:pPr>
            <a:r>
              <a:rPr sz="1250" b="0" i="0">
                <a:solidFill>
                  <a:srgbClr val="1B2A41"/>
                </a:solidFill>
                <a:latin typeface="Calibri"/>
              </a:rPr>
              <a:t>JSON, Markdown, HTML from one document model</a:t>
            </a:r>
          </a:p>
          <a:p>
            <a:pPr algn="l" marL="182880" indent="-182880">
              <a:lnSpc>
                <a:spcPct val="105000"/>
              </a:lnSpc>
              <a:spcAft>
                <a:spcPts val="400"/>
              </a:spcAft>
              <a:buChar char="•"/>
            </a:pPr>
            <a:r>
              <a:rPr sz="1250" b="0" i="0">
                <a:solidFill>
                  <a:srgbClr val="1B2A41"/>
                </a:solidFill>
                <a:latin typeface="Calibri"/>
              </a:rPr>
              <a:t>HTML autoescaped; CSP default-src 'none'; sandboxed iframe in the UI</a:t>
            </a:r>
          </a:p>
          <a:p>
            <a:pPr algn="l" marL="182880" indent="-182880">
              <a:lnSpc>
                <a:spcPct val="105000"/>
              </a:lnSpc>
              <a:spcAft>
                <a:spcPts val="400"/>
              </a:spcAft>
              <a:buChar char="•"/>
            </a:pPr>
            <a:r>
              <a:rPr sz="1250" b="0" i="0">
                <a:solidFill>
                  <a:srgbClr val="1B2A41"/>
                </a:solidFill>
                <a:latin typeface="Calibri"/>
              </a:rPr>
              <a:t>root cause always labelled a hypothesis</a:t>
            </a:r>
          </a:p>
        </p:txBody>
      </p:sp>
      <p:sp>
        <p:nvSpPr>
          <p:cNvPr id="10" name="Rounded Rectangle 9"/>
          <p:cNvSpPr/>
          <p:nvPr/>
        </p:nvSpPr>
        <p:spPr>
          <a:xfrm>
            <a:off x="8001000" y="5440680"/>
            <a:ext cx="109728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VERIFIED</a:t>
            </a:r>
          </a:p>
        </p:txBody>
      </p:sp>
      <p:sp>
        <p:nvSpPr>
          <p:cNvPr id="11" name="Rounded Rectangle 10"/>
          <p:cNvSpPr/>
          <p:nvPr/>
        </p:nvSpPr>
        <p:spPr>
          <a:xfrm>
            <a:off x="9189720" y="5440680"/>
            <a:ext cx="1463040" cy="274320"/>
          </a:xfrm>
          <a:prstGeom prst="roundRect">
            <a:avLst>
              <a:gd name="adj" fmla="val 50000"/>
            </a:avLst>
          </a:prstGeom>
          <a:solidFill>
            <a:srgbClr val="FEE2E2"/>
          </a:solidFill>
          <a:ln w="12700">
            <a:solidFill>
              <a:srgbClr val="7F1D1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7F1D1D"/>
                </a:solidFill>
                <a:latin typeface="Calibri"/>
              </a:rPr>
              <a:t>PDF NOT BUILT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DEVSECOPS AGENT</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The agent is a deterministic, policy-controlled playbook, not an LLM planner</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13 / 22</a:t>
            </a:r>
          </a:p>
        </p:txBody>
      </p:sp>
      <p:sp>
        <p:nvSpPr>
          <p:cNvPr id="7" name="node: OBSERVE"/>
          <p:cNvSpPr/>
          <p:nvPr/>
        </p:nvSpPr>
        <p:spPr>
          <a:xfrm>
            <a:off x="502920" y="1371600"/>
            <a:ext cx="1600200" cy="502920"/>
          </a:xfrm>
          <a:prstGeom prst="roundRect">
            <a:avLst>
              <a:gd name="adj" fmla="val 18181"/>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OBSERVE</a:t>
            </a:r>
          </a:p>
        </p:txBody>
      </p:sp>
      <p:cxnSp>
        <p:nvCxnSpPr>
          <p:cNvPr id="8" name="Connector 7"/>
          <p:cNvCxnSpPr/>
          <p:nvPr/>
        </p:nvCxnSpPr>
        <p:spPr>
          <a:xfrm>
            <a:off x="2103120" y="1623060"/>
            <a:ext cx="274319" cy="0"/>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node: ANALYZE"/>
          <p:cNvSpPr/>
          <p:nvPr/>
        </p:nvSpPr>
        <p:spPr>
          <a:xfrm>
            <a:off x="2377439" y="1371600"/>
            <a:ext cx="1600200" cy="502920"/>
          </a:xfrm>
          <a:prstGeom prst="roundRect">
            <a:avLst>
              <a:gd name="adj" fmla="val 18181"/>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ANALYZE</a:t>
            </a:r>
          </a:p>
        </p:txBody>
      </p:sp>
      <p:cxnSp>
        <p:nvCxnSpPr>
          <p:cNvPr id="10" name="Connector 9"/>
          <p:cNvCxnSpPr/>
          <p:nvPr/>
        </p:nvCxnSpPr>
        <p:spPr>
          <a:xfrm>
            <a:off x="3977639" y="1623060"/>
            <a:ext cx="274320" cy="0"/>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node: PLAN"/>
          <p:cNvSpPr/>
          <p:nvPr/>
        </p:nvSpPr>
        <p:spPr>
          <a:xfrm>
            <a:off x="4251959" y="1371600"/>
            <a:ext cx="1600200" cy="502920"/>
          </a:xfrm>
          <a:prstGeom prst="roundRect">
            <a:avLst>
              <a:gd name="adj" fmla="val 18181"/>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PLAN</a:t>
            </a:r>
          </a:p>
        </p:txBody>
      </p:sp>
      <p:cxnSp>
        <p:nvCxnSpPr>
          <p:cNvPr id="12" name="Connector 11"/>
          <p:cNvCxnSpPr/>
          <p:nvPr/>
        </p:nvCxnSpPr>
        <p:spPr>
          <a:xfrm>
            <a:off x="5852159" y="1623060"/>
            <a:ext cx="274320" cy="0"/>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node: ACT"/>
          <p:cNvSpPr/>
          <p:nvPr/>
        </p:nvSpPr>
        <p:spPr>
          <a:xfrm>
            <a:off x="6126479" y="1371600"/>
            <a:ext cx="1600200" cy="502920"/>
          </a:xfrm>
          <a:prstGeom prst="roundRect">
            <a:avLst>
              <a:gd name="adj" fmla="val 18181"/>
            </a:avLst>
          </a:prstGeom>
          <a:solidFill>
            <a:srgbClr val="FEE2E2"/>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ACT</a:t>
            </a:r>
          </a:p>
        </p:txBody>
      </p:sp>
      <p:cxnSp>
        <p:nvCxnSpPr>
          <p:cNvPr id="14" name="Connector 13"/>
          <p:cNvCxnSpPr/>
          <p:nvPr/>
        </p:nvCxnSpPr>
        <p:spPr>
          <a:xfrm>
            <a:off x="7726679" y="1623060"/>
            <a:ext cx="274321" cy="0"/>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node: VERIFY"/>
          <p:cNvSpPr/>
          <p:nvPr/>
        </p:nvSpPr>
        <p:spPr>
          <a:xfrm>
            <a:off x="8001000" y="1371600"/>
            <a:ext cx="1600200" cy="502920"/>
          </a:xfrm>
          <a:prstGeom prst="roundRect">
            <a:avLst>
              <a:gd name="adj" fmla="val 18181"/>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VERIFY</a:t>
            </a:r>
          </a:p>
        </p:txBody>
      </p:sp>
      <p:cxnSp>
        <p:nvCxnSpPr>
          <p:cNvPr id="16" name="Connector 15"/>
          <p:cNvCxnSpPr/>
          <p:nvPr/>
        </p:nvCxnSpPr>
        <p:spPr>
          <a:xfrm>
            <a:off x="9601200" y="1623060"/>
            <a:ext cx="274320" cy="0"/>
          </a:xfrm>
          <a:prstGeom prst="line">
            <a:avLst/>
          </a:prstGeom>
          <a:ln w="19050">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node: CLOSE"/>
          <p:cNvSpPr/>
          <p:nvPr/>
        </p:nvSpPr>
        <p:spPr>
          <a:xfrm>
            <a:off x="9875520" y="1371600"/>
            <a:ext cx="1600200" cy="502920"/>
          </a:xfrm>
          <a:prstGeom prst="roundRect">
            <a:avLst>
              <a:gd name="adj" fmla="val 18181"/>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CLOSE</a:t>
            </a:r>
          </a:p>
        </p:txBody>
      </p:sp>
      <p:pic>
        <p:nvPicPr>
          <p:cNvPr id="18" name="picture: shot_08_src-image7" descr="DevSecOps Agent page: a closed production-anomaly run and runs awaiting approval"/>
          <p:cNvPicPr>
            <a:picLocks noChangeAspect="1"/>
          </p:cNvPicPr>
          <p:nvPr/>
        </p:nvPicPr>
        <p:blipFill>
          <a:blip r:embed="rId2"/>
          <a:srcRect/>
          <a:stretch>
            <a:fillRect/>
          </a:stretch>
        </p:blipFill>
        <p:spPr>
          <a:xfrm>
            <a:off x="502920" y="2115181"/>
            <a:ext cx="7040880" cy="3359156"/>
          </a:xfrm>
          <a:prstGeom prst="rect">
            <a:avLst/>
          </a:prstGeom>
          <a:ln w="9525">
            <a:solidFill>
              <a:srgbClr val="CBD5E1"/>
            </a:solidFill>
          </a:ln>
        </p:spPr>
      </p:pic>
      <p:sp>
        <p:nvSpPr>
          <p:cNvPr id="19" name="TextBox 18"/>
          <p:cNvSpPr txBox="1"/>
          <p:nvPr/>
        </p:nvSpPr>
        <p:spPr>
          <a:xfrm>
            <a:off x="502920" y="5532120"/>
            <a:ext cx="7040880" cy="274320"/>
          </a:xfrm>
          <a:prstGeom prst="rect">
            <a:avLst/>
          </a:prstGeom>
          <a:noFill/>
        </p:spPr>
        <p:txBody>
          <a:bodyPr wrap="square" lIns="36576" rIns="36576" tIns="18288" bIns="18288" anchor="t">
            <a:spAutoFit/>
          </a:bodyPr>
          <a:lstStyle/>
          <a:p>
            <a:pPr algn="l">
              <a:lnSpc>
                <a:spcPct val="105000"/>
              </a:lnSpc>
              <a:spcAft>
                <a:spcPts val="300"/>
              </a:spcAft>
            </a:pPr>
            <a:r>
              <a:rPr sz="1050" b="0" i="1">
                <a:solidFill>
                  <a:srgbClr val="5B6B7F"/>
                </a:solidFill>
                <a:latin typeface="Calibri"/>
              </a:rPr>
              <a:t>Screenshot: DevSecOps Agent page (supplied document, synthetic data; bottom edge cropped in the source)</a:t>
            </a:r>
          </a:p>
        </p:txBody>
      </p:sp>
      <p:sp>
        <p:nvSpPr>
          <p:cNvPr id="20" name="TextBox 19"/>
          <p:cNvSpPr txBox="1"/>
          <p:nvPr/>
        </p:nvSpPr>
        <p:spPr>
          <a:xfrm>
            <a:off x="7818120" y="2103120"/>
            <a:ext cx="3840480" cy="3383280"/>
          </a:xfrm>
          <a:prstGeom prst="rect">
            <a:avLst/>
          </a:prstGeom>
          <a:noFill/>
        </p:spPr>
        <p:txBody>
          <a:bodyPr wrap="square" lIns="36576" rIns="36576" tIns="18288" bIns="18288" anchor="t">
            <a:spAutoFit/>
          </a:bodyPr>
          <a:lstStyle/>
          <a:p>
            <a:pPr algn="l">
              <a:lnSpc>
                <a:spcPct val="105000"/>
              </a:lnSpc>
              <a:spcAft>
                <a:spcPts val="300"/>
              </a:spcAft>
            </a:pPr>
            <a:r>
              <a:rPr sz="1500" b="1" i="0">
                <a:solidFill>
                  <a:srgbClr val="0B2545"/>
                </a:solidFill>
                <a:latin typeface="Calibri"/>
              </a:rPr>
              <a:t>Three scenarios</a:t>
            </a:r>
          </a:p>
          <a:p>
            <a:pPr algn="l" marL="182880" indent="-182880">
              <a:lnSpc>
                <a:spcPct val="105000"/>
              </a:lnSpc>
              <a:spcAft>
                <a:spcPts val="400"/>
              </a:spcAft>
              <a:buChar char="•"/>
            </a:pPr>
            <a:r>
              <a:rPr sz="1250" b="0" i="0">
                <a:solidFill>
                  <a:srgbClr val="1B2A41"/>
                </a:solidFill>
                <a:latin typeface="Calibri"/>
              </a:rPr>
              <a:t>vulnerable dependency: scan, pin bump (approval), tests, re-scan</a:t>
            </a:r>
          </a:p>
          <a:p>
            <a:pPr algn="l" marL="182880" indent="-182880">
              <a:lnSpc>
                <a:spcPct val="105000"/>
              </a:lnSpc>
              <a:spcAft>
                <a:spcPts val="400"/>
              </a:spcAft>
              <a:buChar char="•"/>
            </a:pPr>
            <a:r>
              <a:rPr sz="1250" b="0" i="0">
                <a:solidFill>
                  <a:srgbClr val="1B2A41"/>
                </a:solidFill>
                <a:latin typeface="Calibri"/>
              </a:rPr>
              <a:t>failed CI: reproduce, diff, revert patch (approval), tests + linter</a:t>
            </a:r>
          </a:p>
          <a:p>
            <a:pPr algn="l" marL="182880" indent="-182880">
              <a:lnSpc>
                <a:spcPct val="105000"/>
              </a:lnSpc>
              <a:spcAft>
                <a:spcPts val="400"/>
              </a:spcAft>
              <a:buChar char="•"/>
            </a:pPr>
            <a:r>
              <a:rPr sz="1250" b="0" i="0">
                <a:solidFill>
                  <a:srgbClr val="1B2A41"/>
                </a:solidFill>
                <a:latin typeface="Calibri"/>
              </a:rPr>
              <a:t>production anomaly: RCA, rollback proposal (HIGH_RISK), verify</a:t>
            </a:r>
          </a:p>
          <a:p>
            <a:pPr algn="l">
              <a:lnSpc>
                <a:spcPct val="105000"/>
              </a:lnSpc>
              <a:spcAft>
                <a:spcPts val="300"/>
              </a:spcAft>
            </a:pPr>
            <a:r>
              <a:rPr sz="1250" b="1" i="0">
                <a:solidFill>
                  <a:srgbClr val="7F1D1D"/>
                </a:solidFill>
                <a:latin typeface="Calibri"/>
              </a:rPr>
              <a:t>Not an LLM planner: </a:t>
            </a:r>
            <a:r>
              <a:rPr sz="1250" b="0" i="0">
                <a:solidFill>
                  <a:srgbClr val="1B2A41"/>
                </a:solidFill>
                <a:latin typeface="Calibri"/>
              </a:rPr>
              <a:t>playbooks are pure functions of earlier results; rationale stored before execution.</a:t>
            </a:r>
          </a:p>
        </p:txBody>
      </p:sp>
      <p:sp>
        <p:nvSpPr>
          <p:cNvPr id="21" name="Rounded Rectangle 20"/>
          <p:cNvSpPr/>
          <p:nvPr/>
        </p:nvSpPr>
        <p:spPr>
          <a:xfrm>
            <a:off x="7818120" y="5669280"/>
            <a:ext cx="109728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VERIFIED</a:t>
            </a:r>
          </a:p>
        </p:txBody>
      </p:sp>
      <p:sp>
        <p:nvSpPr>
          <p:cNvPr id="22" name="Rounded Rectangle 21"/>
          <p:cNvSpPr/>
          <p:nvPr/>
        </p:nvSpPr>
        <p:spPr>
          <a:xfrm>
            <a:off x="9006840" y="5669280"/>
            <a:ext cx="1920240" cy="274320"/>
          </a:xfrm>
          <a:prstGeom prst="roundRect">
            <a:avLst>
              <a:gd name="adj" fmla="val 50000"/>
            </a:avLst>
          </a:prstGeom>
          <a:solidFill>
            <a:srgbClr val="EDE9FE"/>
          </a:solidFill>
          <a:ln w="12700">
            <a:solidFill>
              <a:srgbClr val="4C1D9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4C1D95"/>
                </a:solidFill>
                <a:latin typeface="Calibri"/>
              </a:rPr>
              <a:t>ROLLBACK SIMULATED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RISK POLICY AND AUDIT</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Policy is enforced in code at execution time, and every action leaves a hash-chained record</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14 / 22</a:t>
            </a:r>
          </a:p>
        </p:txBody>
      </p:sp>
      <p:graphicFrame>
        <p:nvGraphicFramePr>
          <p:cNvPr id="7" name="risk table"/>
          <p:cNvGraphicFramePr>
            <a:graphicFrameLocks noGrp="1"/>
          </p:cNvGraphicFramePr>
          <p:nvPr/>
        </p:nvGraphicFramePr>
        <p:xfrm>
          <a:off x="502920" y="1371600"/>
          <a:ext cx="6675120" cy="2304288"/>
        </p:xfrm>
        <a:graphic>
          <a:graphicData uri="http://schemas.openxmlformats.org/drawingml/2006/table">
            <a:tbl>
              <a:tblPr firstRow="1" bandRow="1">
                <a:tableStyleId>{5940675A-B579-460E-94D1-54222C63F5DA}</a:tableStyleId>
              </a:tblPr>
              <a:tblGrid>
                <a:gridCol w="1828800"/>
                <a:gridCol w="1325880"/>
                <a:gridCol w="2011680"/>
                <a:gridCol w="1508760"/>
              </a:tblGrid>
              <a:tr h="384048">
                <a:tc>
                  <a:txBody>
                    <a:bodyPr wrap="square"/>
                    <a:lstStyle/>
                    <a:p>
                      <a:r>
                        <a:rPr sz="1150" b="1">
                          <a:solidFill>
                            <a:srgbClr val="FFFFFF"/>
                          </a:solidFill>
                          <a:latin typeface="Calibri"/>
                        </a:rPr>
                        <a:t>Risk class</a:t>
                      </a:r>
                    </a:p>
                  </a:txBody>
                  <a:tcPr marL="64008" marR="64008" marT="27432" marB="27432" anchor="ctr">
                    <a:solidFill>
                      <a:srgbClr val="0B2545"/>
                    </a:solidFill>
                  </a:tcPr>
                </a:tc>
                <a:tc>
                  <a:txBody>
                    <a:bodyPr wrap="square"/>
                    <a:lstStyle/>
                    <a:p>
                      <a:r>
                        <a:rPr sz="1150" b="1">
                          <a:solidFill>
                            <a:srgbClr val="FFFFFF"/>
                          </a:solidFill>
                          <a:latin typeface="Calibri"/>
                        </a:rPr>
                        <a:t>Policy</a:t>
                      </a:r>
                    </a:p>
                  </a:txBody>
                  <a:tcPr marL="64008" marR="64008" marT="27432" marB="27432" anchor="ctr">
                    <a:solidFill>
                      <a:srgbClr val="0B2545"/>
                    </a:solidFill>
                  </a:tcPr>
                </a:tc>
                <a:tc>
                  <a:txBody>
                    <a:bodyPr wrap="square"/>
                    <a:lstStyle/>
                    <a:p>
                      <a:r>
                        <a:rPr sz="1150" b="1">
                          <a:solidFill>
                            <a:srgbClr val="FFFFFF"/>
                          </a:solidFill>
                          <a:latin typeface="Calibri"/>
                        </a:rPr>
                        <a:t>Approval</a:t>
                      </a:r>
                    </a:p>
                  </a:txBody>
                  <a:tcPr marL="64008" marR="64008" marT="27432" marB="27432" anchor="ctr">
                    <a:solidFill>
                      <a:srgbClr val="0B2545"/>
                    </a:solidFill>
                  </a:tcPr>
                </a:tc>
                <a:tc>
                  <a:txBody>
                    <a:bodyPr wrap="square"/>
                    <a:lstStyle/>
                    <a:p>
                      <a:r>
                        <a:rPr sz="1150" b="1">
                          <a:solidFill>
                            <a:srgbClr val="FFFFFF"/>
                          </a:solidFill>
                          <a:latin typeface="Calibri"/>
                        </a:rPr>
                        <a:t>Executed by</a:t>
                      </a:r>
                    </a:p>
                  </a:txBody>
                  <a:tcPr marL="64008" marR="64008" marT="27432" marB="27432" anchor="ctr">
                    <a:solidFill>
                      <a:srgbClr val="0B2545"/>
                    </a:solidFill>
                  </a:tcPr>
                </a:tc>
              </a:tr>
              <a:tr h="384048">
                <a:tc>
                  <a:txBody>
                    <a:bodyPr wrap="square"/>
                    <a:lstStyle/>
                    <a:p>
                      <a:r>
                        <a:rPr sz="1150">
                          <a:solidFill>
                            <a:srgbClr val="1B2A41"/>
                          </a:solidFill>
                          <a:latin typeface="Calibri"/>
                        </a:rPr>
                        <a:t>READ_ONLY / LOW_RISK</a:t>
                      </a:r>
                    </a:p>
                  </a:txBody>
                  <a:tcPr marL="64008" marR="64008" marT="27432" marB="27432" anchor="ctr">
                    <a:solidFill>
                      <a:srgbClr val="FFFFFF"/>
                    </a:solidFill>
                  </a:tcPr>
                </a:tc>
                <a:tc>
                  <a:txBody>
                    <a:bodyPr wrap="square"/>
                    <a:lstStyle/>
                    <a:p>
                      <a:r>
                        <a:rPr sz="1150">
                          <a:solidFill>
                            <a:srgbClr val="1B2A41"/>
                          </a:solidFill>
                          <a:latin typeface="Calibri"/>
                        </a:rPr>
                        <a:t>allow</a:t>
                      </a:r>
                    </a:p>
                  </a:txBody>
                  <a:tcPr marL="64008" marR="64008" marT="27432" marB="27432" anchor="ctr">
                    <a:solidFill>
                      <a:srgbClr val="FFFFFF"/>
                    </a:solidFill>
                  </a:tcPr>
                </a:tc>
                <a:tc>
                  <a:txBody>
                    <a:bodyPr wrap="square"/>
                    <a:lstStyle/>
                    <a:p>
                      <a:r>
                        <a:rPr sz="1150">
                          <a:solidFill>
                            <a:srgbClr val="1B2A41"/>
                          </a:solidFill>
                          <a:latin typeface="Calibri"/>
                        </a:rPr>
                        <a:t>none</a:t>
                      </a:r>
                    </a:p>
                  </a:txBody>
                  <a:tcPr marL="64008" marR="64008" marT="27432" marB="27432" anchor="ctr">
                    <a:solidFill>
                      <a:srgbClr val="FFFFFF"/>
                    </a:solidFill>
                  </a:tcPr>
                </a:tc>
                <a:tc>
                  <a:txBody>
                    <a:bodyPr wrap="square"/>
                    <a:lstStyle/>
                    <a:p>
                      <a:r>
                        <a:rPr sz="1150">
                          <a:solidFill>
                            <a:srgbClr val="1B2A41"/>
                          </a:solidFill>
                          <a:latin typeface="Calibri"/>
                        </a:rPr>
                        <a:t>agent, automatically</a:t>
                      </a:r>
                    </a:p>
                  </a:txBody>
                  <a:tcPr marL="64008" marR="64008" marT="27432" marB="27432" anchor="ctr">
                    <a:solidFill>
                      <a:srgbClr val="FFFFFF"/>
                    </a:solidFill>
                  </a:tcPr>
                </a:tc>
              </a:tr>
              <a:tr h="384048">
                <a:tc>
                  <a:txBody>
                    <a:bodyPr wrap="square"/>
                    <a:lstStyle/>
                    <a:p>
                      <a:r>
                        <a:rPr sz="1150">
                          <a:solidFill>
                            <a:srgbClr val="1B2A41"/>
                          </a:solidFill>
                          <a:latin typeface="Calibri"/>
                        </a:rPr>
                        <a:t>REQUIRES_APPROVAL</a:t>
                      </a:r>
                    </a:p>
                  </a:txBody>
                  <a:tcPr marL="64008" marR="64008" marT="27432" marB="27432" anchor="ctr">
                    <a:solidFill>
                      <a:srgbClr val="F5F8FC"/>
                    </a:solidFill>
                  </a:tcPr>
                </a:tc>
                <a:tc>
                  <a:txBody>
                    <a:bodyPr wrap="square"/>
                    <a:lstStyle/>
                    <a:p>
                      <a:r>
                        <a:rPr sz="1150">
                          <a:solidFill>
                            <a:srgbClr val="1B2A41"/>
                          </a:solidFill>
                          <a:latin typeface="Calibri"/>
                        </a:rPr>
                        <a:t>needs approval</a:t>
                      </a:r>
                    </a:p>
                  </a:txBody>
                  <a:tcPr marL="64008" marR="64008" marT="27432" marB="27432" anchor="ctr">
                    <a:solidFill>
                      <a:srgbClr val="F5F8FC"/>
                    </a:solidFill>
                  </a:tcPr>
                </a:tc>
                <a:tc>
                  <a:txBody>
                    <a:bodyPr wrap="square"/>
                    <a:lstStyle/>
                    <a:p>
                      <a:r>
                        <a:rPr sz="1150">
                          <a:solidFill>
                            <a:srgbClr val="1B2A41"/>
                          </a:solidFill>
                          <a:latin typeface="Calibri"/>
                        </a:rPr>
                        <a:t>approver, not the initiator</a:t>
                      </a:r>
                    </a:p>
                  </a:txBody>
                  <a:tcPr marL="64008" marR="64008" marT="27432" marB="27432" anchor="ctr">
                    <a:solidFill>
                      <a:srgbClr val="F5F8FC"/>
                    </a:solidFill>
                  </a:tcPr>
                </a:tc>
                <a:tc>
                  <a:txBody>
                    <a:bodyPr wrap="square"/>
                    <a:lstStyle/>
                    <a:p>
                      <a:r>
                        <a:rPr sz="1150">
                          <a:solidFill>
                            <a:srgbClr val="1B2A41"/>
                          </a:solidFill>
                          <a:latin typeface="Calibri"/>
                        </a:rPr>
                        <a:t>operator or higher</a:t>
                      </a:r>
                    </a:p>
                  </a:txBody>
                  <a:tcPr marL="64008" marR="64008" marT="27432" marB="27432" anchor="ctr">
                    <a:solidFill>
                      <a:srgbClr val="F5F8FC"/>
                    </a:solidFill>
                  </a:tcPr>
                </a:tc>
              </a:tr>
              <a:tr h="384048">
                <a:tc>
                  <a:txBody>
                    <a:bodyPr wrap="square"/>
                    <a:lstStyle/>
                    <a:p>
                      <a:r>
                        <a:rPr sz="1150">
                          <a:solidFill>
                            <a:srgbClr val="1B2A41"/>
                          </a:solidFill>
                          <a:latin typeface="Calibri"/>
                        </a:rPr>
                        <a:t>HIGH_RISK (flag off)</a:t>
                      </a:r>
                    </a:p>
                  </a:txBody>
                  <a:tcPr marL="64008" marR="64008" marT="27432" marB="27432" anchor="ctr">
                    <a:solidFill>
                      <a:srgbClr val="FFFFFF"/>
                    </a:solidFill>
                  </a:tcPr>
                </a:tc>
                <a:tc>
                  <a:txBody>
                    <a:bodyPr wrap="square"/>
                    <a:lstStyle/>
                    <a:p>
                      <a:r>
                        <a:rPr sz="1150">
                          <a:solidFill>
                            <a:srgbClr val="1B2A41"/>
                          </a:solidFill>
                          <a:latin typeface="Calibri"/>
                        </a:rPr>
                        <a:t>deny: blocked</a:t>
                      </a:r>
                    </a:p>
                  </a:txBody>
                  <a:tcPr marL="64008" marR="64008" marT="27432" marB="27432" anchor="ctr">
                    <a:solidFill>
                      <a:srgbClr val="FFFFFF"/>
                    </a:solidFill>
                  </a:tcPr>
                </a:tc>
                <a:tc>
                  <a:txBody>
                    <a:bodyPr wrap="square"/>
                    <a:lstStyle/>
                    <a:p>
                      <a:r>
                        <a:rPr sz="1150">
                          <a:solidFill>
                            <a:srgbClr val="1B2A41"/>
                          </a:solidFill>
                          <a:latin typeface="Calibri"/>
                        </a:rPr>
                        <a:t>-</a:t>
                      </a:r>
                    </a:p>
                  </a:txBody>
                  <a:tcPr marL="64008" marR="64008" marT="27432" marB="27432" anchor="ctr">
                    <a:solidFill>
                      <a:srgbClr val="FFFFFF"/>
                    </a:solidFill>
                  </a:tcPr>
                </a:tc>
                <a:tc>
                  <a:txBody>
                    <a:bodyPr wrap="square"/>
                    <a:lstStyle/>
                    <a:p>
                      <a:r>
                        <a:rPr sz="1150">
                          <a:solidFill>
                            <a:srgbClr val="1B2A41"/>
                          </a:solidFill>
                          <a:latin typeface="Calibri"/>
                        </a:rPr>
                        <a:t>nobody (human acts)</a:t>
                      </a:r>
                    </a:p>
                  </a:txBody>
                  <a:tcPr marL="64008" marR="64008" marT="27432" marB="27432" anchor="ctr">
                    <a:solidFill>
                      <a:srgbClr val="FFFFFF"/>
                    </a:solidFill>
                  </a:tcPr>
                </a:tc>
              </a:tr>
              <a:tr h="384048">
                <a:tc>
                  <a:txBody>
                    <a:bodyPr wrap="square"/>
                    <a:lstStyle/>
                    <a:p>
                      <a:r>
                        <a:rPr sz="1150">
                          <a:solidFill>
                            <a:srgbClr val="1B2A41"/>
                          </a:solidFill>
                          <a:latin typeface="Calibri"/>
                        </a:rPr>
                        <a:t>HIGH_RISK (flag on)</a:t>
                      </a:r>
                    </a:p>
                  </a:txBody>
                  <a:tcPr marL="64008" marR="64008" marT="27432" marB="27432" anchor="ctr">
                    <a:solidFill>
                      <a:srgbClr val="F5F8FC"/>
                    </a:solidFill>
                  </a:tcPr>
                </a:tc>
                <a:tc>
                  <a:txBody>
                    <a:bodyPr wrap="square"/>
                    <a:lstStyle/>
                    <a:p>
                      <a:r>
                        <a:rPr sz="1150">
                          <a:solidFill>
                            <a:srgbClr val="1B2A41"/>
                          </a:solidFill>
                          <a:latin typeface="Calibri"/>
                        </a:rPr>
                        <a:t>needs approval</a:t>
                      </a:r>
                    </a:p>
                  </a:txBody>
                  <a:tcPr marL="64008" marR="64008" marT="27432" marB="27432" anchor="ctr">
                    <a:solidFill>
                      <a:srgbClr val="F5F8FC"/>
                    </a:solidFill>
                  </a:tcPr>
                </a:tc>
                <a:tc>
                  <a:txBody>
                    <a:bodyPr wrap="square"/>
                    <a:lstStyle/>
                    <a:p>
                      <a:r>
                        <a:rPr sz="1150">
                          <a:solidFill>
                            <a:srgbClr val="1B2A41"/>
                          </a:solidFill>
                          <a:latin typeface="Calibri"/>
                        </a:rPr>
                        <a:t>approver, not the initiator</a:t>
                      </a:r>
                    </a:p>
                  </a:txBody>
                  <a:tcPr marL="64008" marR="64008" marT="27432" marB="27432" anchor="ctr">
                    <a:solidFill>
                      <a:srgbClr val="F5F8FC"/>
                    </a:solidFill>
                  </a:tcPr>
                </a:tc>
                <a:tc>
                  <a:txBody>
                    <a:bodyPr wrap="square"/>
                    <a:lstStyle/>
                    <a:p>
                      <a:r>
                        <a:rPr sz="1150">
                          <a:solidFill>
                            <a:srgbClr val="1B2A41"/>
                          </a:solidFill>
                          <a:latin typeface="Calibri"/>
                        </a:rPr>
                        <a:t>admin only</a:t>
                      </a:r>
                    </a:p>
                  </a:txBody>
                  <a:tcPr marL="64008" marR="64008" marT="27432" marB="27432" anchor="ctr">
                    <a:solidFill>
                      <a:srgbClr val="F5F8FC"/>
                    </a:solidFill>
                  </a:tcPr>
                </a:tc>
              </a:tr>
              <a:tr h="384048">
                <a:tc>
                  <a:txBody>
                    <a:bodyPr wrap="square"/>
                    <a:lstStyle/>
                    <a:p>
                      <a:r>
                        <a:rPr sz="1150">
                          <a:solidFill>
                            <a:srgbClr val="1B2A41"/>
                          </a:solidFill>
                          <a:latin typeface="Calibri"/>
                        </a:rPr>
                        <a:t>BLOCKED</a:t>
                      </a:r>
                    </a:p>
                  </a:txBody>
                  <a:tcPr marL="64008" marR="64008" marT="27432" marB="27432" anchor="ctr">
                    <a:solidFill>
                      <a:srgbClr val="FFFFFF"/>
                    </a:solidFill>
                  </a:tcPr>
                </a:tc>
                <a:tc>
                  <a:txBody>
                    <a:bodyPr wrap="square"/>
                    <a:lstStyle/>
                    <a:p>
                      <a:r>
                        <a:rPr sz="1150">
                          <a:solidFill>
                            <a:srgbClr val="1B2A41"/>
                          </a:solidFill>
                          <a:latin typeface="Calibri"/>
                        </a:rPr>
                        <a:t>deny</a:t>
                      </a:r>
                    </a:p>
                  </a:txBody>
                  <a:tcPr marL="64008" marR="64008" marT="27432" marB="27432" anchor="ctr">
                    <a:solidFill>
                      <a:srgbClr val="FFFFFF"/>
                    </a:solidFill>
                  </a:tcPr>
                </a:tc>
                <a:tc>
                  <a:txBody>
                    <a:bodyPr wrap="square"/>
                    <a:lstStyle/>
                    <a:p>
                      <a:r>
                        <a:rPr sz="1150">
                          <a:solidFill>
                            <a:srgbClr val="1B2A41"/>
                          </a:solidFill>
                          <a:latin typeface="Calibri"/>
                        </a:rPr>
                        <a:t>-</a:t>
                      </a:r>
                    </a:p>
                  </a:txBody>
                  <a:tcPr marL="64008" marR="64008" marT="27432" marB="27432" anchor="ctr">
                    <a:solidFill>
                      <a:srgbClr val="FFFFFF"/>
                    </a:solidFill>
                  </a:tcPr>
                </a:tc>
                <a:tc>
                  <a:txBody>
                    <a:bodyPr wrap="square"/>
                    <a:lstStyle/>
                    <a:p>
                      <a:r>
                        <a:rPr sz="1150">
                          <a:solidFill>
                            <a:srgbClr val="1B2A41"/>
                          </a:solidFill>
                          <a:latin typeface="Calibri"/>
                        </a:rPr>
                        <a:t>never</a:t>
                      </a:r>
                    </a:p>
                  </a:txBody>
                  <a:tcPr marL="64008" marR="64008" marT="27432" marB="27432" anchor="ctr">
                    <a:solidFill>
                      <a:srgbClr val="FFFFFF"/>
                    </a:solidFill>
                  </a:tcPr>
                </a:tc>
              </a:tr>
            </a:tbl>
          </a:graphicData>
        </a:graphic>
      </p:graphicFrame>
      <p:sp>
        <p:nvSpPr>
          <p:cNvPr id="8" name="TextBox 7"/>
          <p:cNvSpPr txBox="1"/>
          <p:nvPr/>
        </p:nvSpPr>
        <p:spPr>
          <a:xfrm>
            <a:off x="502920" y="3840480"/>
            <a:ext cx="6675120" cy="2194560"/>
          </a:xfrm>
          <a:prstGeom prst="rect">
            <a:avLst/>
          </a:prstGeom>
          <a:noFill/>
        </p:spPr>
        <p:txBody>
          <a:bodyPr wrap="square" lIns="36576" rIns="36576" tIns="18288" bIns="18288" anchor="t">
            <a:spAutoFit/>
          </a:bodyPr>
          <a:lstStyle/>
          <a:p>
            <a:pPr algn="l" marL="182880" indent="-182880">
              <a:lnSpc>
                <a:spcPct val="105000"/>
              </a:lnSpc>
              <a:spcAft>
                <a:spcPts val="400"/>
              </a:spcAft>
              <a:buChar char="•"/>
            </a:pPr>
            <a:r>
              <a:rPr sz="1250" b="0" i="0">
                <a:solidFill>
                  <a:srgbClr val="1B2A41"/>
                </a:solidFill>
                <a:latin typeface="Calibri"/>
              </a:rPr>
              <a:t>policy re-checked inside execute_action, immediately before running</a:t>
            </a:r>
          </a:p>
          <a:p>
            <a:pPr algn="l" marL="182880" indent="-182880">
              <a:lnSpc>
                <a:spcPct val="105000"/>
              </a:lnSpc>
              <a:spcAft>
                <a:spcPts val="400"/>
              </a:spcAft>
              <a:buChar char="•"/>
            </a:pPr>
            <a:r>
              <a:rPr sz="1250" b="0" i="0">
                <a:solidFill>
                  <a:srgbClr val="1B2A41"/>
                </a:solidFill>
                <a:latin typeface="Calibri"/>
              </a:rPr>
              <a:t>separation of duties: the run's initiator cannot approve</a:t>
            </a:r>
          </a:p>
          <a:p>
            <a:pPr algn="l" marL="182880" indent="-182880">
              <a:lnSpc>
                <a:spcPct val="105000"/>
              </a:lnSpc>
              <a:spcAft>
                <a:spcPts val="400"/>
              </a:spcAft>
              <a:buChar char="•"/>
            </a:pPr>
            <a:r>
              <a:rPr sz="1250" b="0" i="0">
                <a:solidFill>
                  <a:srgbClr val="1B2A41"/>
                </a:solidFill>
                <a:latin typeface="Calibri"/>
              </a:rPr>
              <a:t>20 allowlisted tools; commands: python -m pytest|pyflakes and 9 git subcommands, no shell</a:t>
            </a:r>
          </a:p>
          <a:p>
            <a:pPr algn="l" marL="182880" indent="-182880">
              <a:lnSpc>
                <a:spcPct val="105000"/>
              </a:lnSpc>
              <a:spcAft>
                <a:spcPts val="400"/>
              </a:spcAft>
              <a:buChar char="•"/>
            </a:pPr>
            <a:r>
              <a:rPr sz="1250" b="0" i="0">
                <a:solidFill>
                  <a:srgbClr val="1B2A41"/>
                </a:solidFill>
                <a:latin typeface="Calibri"/>
              </a:rPr>
              <a:t>audit row hash = SHA-256(content + previous hash); verify needs admin</a:t>
            </a:r>
          </a:p>
          <a:p>
            <a:pPr algn="l" marL="182880" indent="-182880">
              <a:lnSpc>
                <a:spcPct val="105000"/>
              </a:lnSpc>
              <a:spcAft>
                <a:spcPts val="400"/>
              </a:spcAft>
              <a:buChar char="•"/>
            </a:pPr>
            <a:r>
              <a:rPr sz="1250" b="0" i="0">
                <a:solidFill>
                  <a:srgbClr val="1B2A41"/>
                </a:solidFill>
                <a:latin typeface="Calibri"/>
              </a:rPr>
              <a:t>rewriting a whole suffix could forge the chain: external anchoring not implemented</a:t>
            </a:r>
          </a:p>
        </p:txBody>
      </p:sp>
      <p:pic>
        <p:nvPicPr>
          <p:cNvPr id="9" name="picture: shot_11_src-image10" descr="Audit Log page: hash chain valid, 38 rows"/>
          <p:cNvPicPr>
            <a:picLocks noChangeAspect="1"/>
          </p:cNvPicPr>
          <p:nvPr/>
        </p:nvPicPr>
        <p:blipFill>
          <a:blip r:embed="rId2"/>
          <a:srcRect/>
          <a:stretch>
            <a:fillRect/>
          </a:stretch>
        </p:blipFill>
        <p:spPr>
          <a:xfrm>
            <a:off x="7452360" y="1731130"/>
            <a:ext cx="4206240" cy="2115579"/>
          </a:xfrm>
          <a:prstGeom prst="rect">
            <a:avLst/>
          </a:prstGeom>
          <a:ln w="9525">
            <a:solidFill>
              <a:srgbClr val="CBD5E1"/>
            </a:solidFill>
          </a:ln>
        </p:spPr>
      </p:pic>
      <p:sp>
        <p:nvSpPr>
          <p:cNvPr id="10" name="TextBox 9"/>
          <p:cNvSpPr txBox="1"/>
          <p:nvPr/>
        </p:nvSpPr>
        <p:spPr>
          <a:xfrm>
            <a:off x="7452360" y="4224528"/>
            <a:ext cx="4206240" cy="457200"/>
          </a:xfrm>
          <a:prstGeom prst="rect">
            <a:avLst/>
          </a:prstGeom>
          <a:noFill/>
        </p:spPr>
        <p:txBody>
          <a:bodyPr wrap="square" lIns="36576" rIns="36576" tIns="18288" bIns="18288" anchor="t">
            <a:spAutoFit/>
          </a:bodyPr>
          <a:lstStyle/>
          <a:p>
            <a:pPr algn="l">
              <a:lnSpc>
                <a:spcPct val="105000"/>
              </a:lnSpc>
              <a:spcAft>
                <a:spcPts val="300"/>
              </a:spcAft>
            </a:pPr>
            <a:r>
              <a:rPr sz="1050" b="0" i="1">
                <a:solidFill>
                  <a:srgbClr val="5B6B7F"/>
                </a:solidFill>
                <a:latin typeface="Calibri"/>
              </a:rPr>
              <a:t>Audit log: chain valid (38 rows); policy block and denied self-approval visible</a:t>
            </a:r>
          </a:p>
        </p:txBody>
      </p:sp>
      <p:pic>
        <p:nvPicPr>
          <p:cNvPr id="11" name="picture: shot_09_src-image3" descr="Separation-of-duties message"/>
          <p:cNvPicPr>
            <a:picLocks noChangeAspect="1"/>
          </p:cNvPicPr>
          <p:nvPr/>
        </p:nvPicPr>
        <p:blipFill>
          <a:blip r:embed="rId3"/>
          <a:srcRect/>
          <a:stretch>
            <a:fillRect/>
          </a:stretch>
        </p:blipFill>
        <p:spPr>
          <a:xfrm>
            <a:off x="7452360" y="4777785"/>
            <a:ext cx="4206240" cy="822869"/>
          </a:xfrm>
          <a:prstGeom prst="rect">
            <a:avLst/>
          </a:prstGeom>
          <a:ln w="9525">
            <a:solidFill>
              <a:srgbClr val="CBD5E1"/>
            </a:solidFill>
          </a:ln>
        </p:spPr>
      </p:pic>
      <p:sp>
        <p:nvSpPr>
          <p:cNvPr id="12" name="Rounded Rectangle 11"/>
          <p:cNvSpPr/>
          <p:nvPr/>
        </p:nvSpPr>
        <p:spPr>
          <a:xfrm>
            <a:off x="7452360" y="5760720"/>
            <a:ext cx="109728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VERIFIED</a:t>
            </a:r>
          </a:p>
        </p:txBody>
      </p:sp>
      <p:sp>
        <p:nvSpPr>
          <p:cNvPr id="13" name="TextBox 12"/>
          <p:cNvSpPr txBox="1"/>
          <p:nvPr/>
        </p:nvSpPr>
        <p:spPr>
          <a:xfrm>
            <a:off x="8641080" y="5733288"/>
            <a:ext cx="3108960" cy="274320"/>
          </a:xfrm>
          <a:prstGeom prst="rect">
            <a:avLst/>
          </a:prstGeom>
          <a:noFill/>
        </p:spPr>
        <p:txBody>
          <a:bodyPr wrap="square" lIns="36576" rIns="36576" tIns="18288" bIns="18288" anchor="t">
            <a:spAutoFit/>
          </a:bodyPr>
          <a:lstStyle/>
          <a:p>
            <a:pPr algn="l">
              <a:lnSpc>
                <a:spcPct val="105000"/>
              </a:lnSpc>
              <a:spcAft>
                <a:spcPts val="300"/>
              </a:spcAft>
            </a:pPr>
            <a:r>
              <a:rPr sz="1050" b="0" i="0">
                <a:solidFill>
                  <a:srgbClr val="5B6B7F"/>
                </a:solidFill>
                <a:latin typeface="Calibri"/>
              </a:rPr>
              <a:t>36 agent tests, 22 security tests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DASHBOARD</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One screen answers the six operator questions</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15 / 22</a:t>
            </a:r>
          </a:p>
        </p:txBody>
      </p:sp>
      <p:pic>
        <p:nvPicPr>
          <p:cNvPr id="7" name="picture: shot_01_src-image11" descr="Dashboard: health score, incident, RCA headline, KPI cards, latency chart, agent run"/>
          <p:cNvPicPr>
            <a:picLocks noChangeAspect="1"/>
          </p:cNvPicPr>
          <p:nvPr/>
        </p:nvPicPr>
        <p:blipFill>
          <a:blip r:embed="rId2"/>
          <a:srcRect/>
          <a:stretch>
            <a:fillRect/>
          </a:stretch>
        </p:blipFill>
        <p:spPr>
          <a:xfrm>
            <a:off x="502920" y="1503036"/>
            <a:ext cx="7863840" cy="3851927"/>
          </a:xfrm>
          <a:prstGeom prst="rect">
            <a:avLst/>
          </a:prstGeom>
          <a:ln w="9525">
            <a:solidFill>
              <a:srgbClr val="CBD5E1"/>
            </a:solidFill>
          </a:ln>
        </p:spPr>
      </p:pic>
      <p:sp>
        <p:nvSpPr>
          <p:cNvPr id="8" name="TextBox 7"/>
          <p:cNvSpPr txBox="1"/>
          <p:nvPr/>
        </p:nvSpPr>
        <p:spPr>
          <a:xfrm>
            <a:off x="502920" y="5532120"/>
            <a:ext cx="7863840" cy="274320"/>
          </a:xfrm>
          <a:prstGeom prst="rect">
            <a:avLst/>
          </a:prstGeom>
          <a:noFill/>
        </p:spPr>
        <p:txBody>
          <a:bodyPr wrap="square" lIns="36576" rIns="36576" tIns="18288" bIns="18288" anchor="t">
            <a:spAutoFit/>
          </a:bodyPr>
          <a:lstStyle/>
          <a:p>
            <a:pPr algn="l">
              <a:lnSpc>
                <a:spcPct val="105000"/>
              </a:lnSpc>
              <a:spcAft>
                <a:spcPts val="300"/>
              </a:spcAft>
            </a:pPr>
            <a:r>
              <a:rPr sz="1050" b="0" i="1">
                <a:solidFill>
                  <a:srgbClr val="5B6B7F"/>
                </a:solidFill>
                <a:latin typeface="Calibri"/>
              </a:rPr>
              <a:t>Screenshot: Dashboard (supplied document, synthetic data)</a:t>
            </a:r>
          </a:p>
        </p:txBody>
      </p:sp>
      <p:sp>
        <p:nvSpPr>
          <p:cNvPr id="9" name="node: 1"/>
          <p:cNvSpPr/>
          <p:nvPr/>
        </p:nvSpPr>
        <p:spPr>
          <a:xfrm>
            <a:off x="8595360" y="1371600"/>
            <a:ext cx="457200" cy="548640"/>
          </a:xfrm>
          <a:prstGeom prst="roundRect">
            <a:avLst>
              <a:gd name="adj" fmla="val 20000"/>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1</a:t>
            </a:r>
          </a:p>
        </p:txBody>
      </p:sp>
      <p:sp>
        <p:nvSpPr>
          <p:cNvPr id="10" name="TextBox 9"/>
          <p:cNvSpPr txBox="1"/>
          <p:nvPr/>
        </p:nvSpPr>
        <p:spPr>
          <a:xfrm>
            <a:off x="9144000" y="1353312"/>
            <a:ext cx="2560320" cy="640080"/>
          </a:xfrm>
          <a:prstGeom prst="rect">
            <a:avLst/>
          </a:prstGeom>
          <a:noFill/>
        </p:spPr>
        <p:txBody>
          <a:bodyPr wrap="square" lIns="36576" rIns="36576" tIns="18288" bIns="18288" anchor="t">
            <a:spAutoFit/>
          </a:bodyPr>
          <a:lstStyle/>
          <a:p>
            <a:pPr algn="l">
              <a:lnSpc>
                <a:spcPct val="105000"/>
              </a:lnSpc>
              <a:spcAft>
                <a:spcPts val="300"/>
              </a:spcAft>
            </a:pPr>
            <a:r>
              <a:rPr sz="1150" b="1" i="0">
                <a:solidFill>
                  <a:srgbClr val="0B2545"/>
                </a:solidFill>
                <a:latin typeface="Calibri"/>
              </a:rPr>
              <a:t>Healthy?</a:t>
            </a:r>
          </a:p>
          <a:p>
            <a:pPr algn="l">
              <a:lnSpc>
                <a:spcPct val="105000"/>
              </a:lnSpc>
              <a:spcAft>
                <a:spcPts val="300"/>
              </a:spcAft>
            </a:pPr>
            <a:r>
              <a:rPr sz="1150" b="0" i="0">
                <a:solidFill>
                  <a:srgbClr val="1B2A41"/>
                </a:solidFill>
                <a:latin typeface="Calibri"/>
              </a:rPr>
              <a:t>score 62 = 100 - 30 (critical) - 8 (4 cells)</a:t>
            </a:r>
          </a:p>
        </p:txBody>
      </p:sp>
      <p:sp>
        <p:nvSpPr>
          <p:cNvPr id="11" name="node: 2"/>
          <p:cNvSpPr/>
          <p:nvPr/>
        </p:nvSpPr>
        <p:spPr>
          <a:xfrm>
            <a:off x="8595360" y="2057400"/>
            <a:ext cx="457200" cy="548640"/>
          </a:xfrm>
          <a:prstGeom prst="roundRect">
            <a:avLst>
              <a:gd name="adj" fmla="val 20000"/>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2</a:t>
            </a:r>
          </a:p>
        </p:txBody>
      </p:sp>
      <p:sp>
        <p:nvSpPr>
          <p:cNvPr id="12" name="TextBox 11"/>
          <p:cNvSpPr txBox="1"/>
          <p:nvPr/>
        </p:nvSpPr>
        <p:spPr>
          <a:xfrm>
            <a:off x="9144000" y="2039112"/>
            <a:ext cx="2560320" cy="640080"/>
          </a:xfrm>
          <a:prstGeom prst="rect">
            <a:avLst/>
          </a:prstGeom>
          <a:noFill/>
        </p:spPr>
        <p:txBody>
          <a:bodyPr wrap="square" lIns="36576" rIns="36576" tIns="18288" bIns="18288" anchor="t">
            <a:spAutoFit/>
          </a:bodyPr>
          <a:lstStyle/>
          <a:p>
            <a:pPr algn="l">
              <a:lnSpc>
                <a:spcPct val="105000"/>
              </a:lnSpc>
              <a:spcAft>
                <a:spcPts val="300"/>
              </a:spcAft>
            </a:pPr>
            <a:r>
              <a:rPr sz="1150" b="1" i="0">
                <a:solidFill>
                  <a:srgbClr val="0B2545"/>
                </a:solidFill>
                <a:latin typeface="Calibri"/>
              </a:rPr>
              <a:t>What, how severe?</a:t>
            </a:r>
          </a:p>
          <a:p>
            <a:pPr algn="l">
              <a:lnSpc>
                <a:spcPct val="105000"/>
              </a:lnSpc>
              <a:spcAft>
                <a:spcPts val="300"/>
              </a:spcAft>
            </a:pPr>
            <a:r>
              <a:rPr sz="1150" b="0" i="0">
                <a:solidFill>
                  <a:srgbClr val="1B2A41"/>
                </a:solidFill>
                <a:latin typeface="Calibri"/>
              </a:rPr>
              <a:t>INC-2026-001, CRITICAL, CELL-101..104</a:t>
            </a:r>
          </a:p>
        </p:txBody>
      </p:sp>
      <p:sp>
        <p:nvSpPr>
          <p:cNvPr id="13" name="node: 3"/>
          <p:cNvSpPr/>
          <p:nvPr/>
        </p:nvSpPr>
        <p:spPr>
          <a:xfrm>
            <a:off x="8595360" y="2743200"/>
            <a:ext cx="457200" cy="548640"/>
          </a:xfrm>
          <a:prstGeom prst="roundRect">
            <a:avLst>
              <a:gd name="adj" fmla="val 20000"/>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3</a:t>
            </a:r>
          </a:p>
        </p:txBody>
      </p:sp>
      <p:sp>
        <p:nvSpPr>
          <p:cNvPr id="14" name="TextBox 13"/>
          <p:cNvSpPr txBox="1"/>
          <p:nvPr/>
        </p:nvSpPr>
        <p:spPr>
          <a:xfrm>
            <a:off x="9144000" y="2724912"/>
            <a:ext cx="2560320" cy="640080"/>
          </a:xfrm>
          <a:prstGeom prst="rect">
            <a:avLst/>
          </a:prstGeom>
          <a:noFill/>
        </p:spPr>
        <p:txBody>
          <a:bodyPr wrap="square" lIns="36576" rIns="36576" tIns="18288" bIns="18288" anchor="t">
            <a:spAutoFit/>
          </a:bodyPr>
          <a:lstStyle/>
          <a:p>
            <a:pPr algn="l">
              <a:lnSpc>
                <a:spcPct val="105000"/>
              </a:lnSpc>
              <a:spcAft>
                <a:spcPts val="300"/>
              </a:spcAft>
            </a:pPr>
            <a:r>
              <a:rPr sz="1150" b="1" i="0">
                <a:solidFill>
                  <a:srgbClr val="0B2545"/>
                </a:solidFill>
                <a:latin typeface="Calibri"/>
              </a:rPr>
              <a:t>Why?</a:t>
            </a:r>
          </a:p>
          <a:p>
            <a:pPr algn="l">
              <a:lnSpc>
                <a:spcPct val="105000"/>
              </a:lnSpc>
              <a:spcAft>
                <a:spcPts val="300"/>
              </a:spcAft>
            </a:pPr>
            <a:r>
              <a:rPr sz="1150" b="0" i="0">
                <a:solidFill>
                  <a:srgbClr val="1B2A41"/>
                </a:solidFill>
                <a:latin typeface="Calibri"/>
              </a:rPr>
              <a:t>RCA headline, 85%, a hypothesis</a:t>
            </a:r>
          </a:p>
        </p:txBody>
      </p:sp>
      <p:sp>
        <p:nvSpPr>
          <p:cNvPr id="15" name="node: 4"/>
          <p:cNvSpPr/>
          <p:nvPr/>
        </p:nvSpPr>
        <p:spPr>
          <a:xfrm>
            <a:off x="8595360" y="3429000"/>
            <a:ext cx="457200" cy="548640"/>
          </a:xfrm>
          <a:prstGeom prst="roundRect">
            <a:avLst>
              <a:gd name="adj" fmla="val 20000"/>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4</a:t>
            </a:r>
          </a:p>
        </p:txBody>
      </p:sp>
      <p:sp>
        <p:nvSpPr>
          <p:cNvPr id="16" name="TextBox 15"/>
          <p:cNvSpPr txBox="1"/>
          <p:nvPr/>
        </p:nvSpPr>
        <p:spPr>
          <a:xfrm>
            <a:off x="9144000" y="3410712"/>
            <a:ext cx="2560320" cy="640080"/>
          </a:xfrm>
          <a:prstGeom prst="rect">
            <a:avLst/>
          </a:prstGeom>
          <a:noFill/>
        </p:spPr>
        <p:txBody>
          <a:bodyPr wrap="square" lIns="36576" rIns="36576" tIns="18288" bIns="18288" anchor="t">
            <a:spAutoFit/>
          </a:bodyPr>
          <a:lstStyle/>
          <a:p>
            <a:pPr algn="l">
              <a:lnSpc>
                <a:spcPct val="105000"/>
              </a:lnSpc>
              <a:spcAft>
                <a:spcPts val="300"/>
              </a:spcAft>
            </a:pPr>
            <a:r>
              <a:rPr sz="1150" b="1" i="0">
                <a:solidFill>
                  <a:srgbClr val="0B2545"/>
                </a:solidFill>
                <a:latin typeface="Calibri"/>
              </a:rPr>
              <a:t>KPIs and chart</a:t>
            </a:r>
          </a:p>
          <a:p>
            <a:pPr algn="l">
              <a:lnSpc>
                <a:spcPct val="105000"/>
              </a:lnSpc>
              <a:spcAft>
                <a:spcPts val="300"/>
              </a:spcAft>
            </a:pPr>
            <a:r>
              <a:rPr sz="1150" b="0" i="0">
                <a:solidFill>
                  <a:srgbClr val="1B2A41"/>
                </a:solidFill>
                <a:latin typeface="Calibri"/>
              </a:rPr>
              <a:t>latency on affected cells, anomaly window shaded</a:t>
            </a:r>
          </a:p>
        </p:txBody>
      </p:sp>
      <p:sp>
        <p:nvSpPr>
          <p:cNvPr id="17" name="node: 5"/>
          <p:cNvSpPr/>
          <p:nvPr/>
        </p:nvSpPr>
        <p:spPr>
          <a:xfrm>
            <a:off x="8595360" y="4114800"/>
            <a:ext cx="457200" cy="548640"/>
          </a:xfrm>
          <a:prstGeom prst="roundRect">
            <a:avLst>
              <a:gd name="adj" fmla="val 20000"/>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5</a:t>
            </a:r>
          </a:p>
        </p:txBody>
      </p:sp>
      <p:sp>
        <p:nvSpPr>
          <p:cNvPr id="18" name="TextBox 17"/>
          <p:cNvSpPr txBox="1"/>
          <p:nvPr/>
        </p:nvSpPr>
        <p:spPr>
          <a:xfrm>
            <a:off x="9144000" y="4096512"/>
            <a:ext cx="2560320" cy="640080"/>
          </a:xfrm>
          <a:prstGeom prst="rect">
            <a:avLst/>
          </a:prstGeom>
          <a:noFill/>
        </p:spPr>
        <p:txBody>
          <a:bodyPr wrap="square" lIns="36576" rIns="36576" tIns="18288" bIns="18288" anchor="t">
            <a:spAutoFit/>
          </a:bodyPr>
          <a:lstStyle/>
          <a:p>
            <a:pPr algn="l">
              <a:lnSpc>
                <a:spcPct val="105000"/>
              </a:lnSpc>
              <a:spcAft>
                <a:spcPts val="300"/>
              </a:spcAft>
            </a:pPr>
            <a:r>
              <a:rPr sz="1150" b="1" i="0">
                <a:solidFill>
                  <a:srgbClr val="0B2545"/>
                </a:solidFill>
                <a:latin typeface="Calibri"/>
              </a:rPr>
              <a:t>What is the AI doing?</a:t>
            </a:r>
          </a:p>
          <a:p>
            <a:pPr algn="l">
              <a:lnSpc>
                <a:spcPct val="105000"/>
              </a:lnSpc>
              <a:spcAft>
                <a:spcPts val="300"/>
              </a:spcAft>
            </a:pPr>
            <a:r>
              <a:rPr sz="1150" b="0" i="0">
                <a:solidFill>
                  <a:srgbClr val="1B2A41"/>
                </a:solidFill>
                <a:latin typeface="Calibri"/>
              </a:rPr>
              <a:t>agent run and its actions</a:t>
            </a:r>
          </a:p>
        </p:txBody>
      </p:sp>
      <p:sp>
        <p:nvSpPr>
          <p:cNvPr id="19" name="node: 6"/>
          <p:cNvSpPr/>
          <p:nvPr/>
        </p:nvSpPr>
        <p:spPr>
          <a:xfrm>
            <a:off x="8595360" y="4800600"/>
            <a:ext cx="457200" cy="548640"/>
          </a:xfrm>
          <a:prstGeom prst="roundRect">
            <a:avLst>
              <a:gd name="adj" fmla="val 20000"/>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6</a:t>
            </a:r>
          </a:p>
        </p:txBody>
      </p:sp>
      <p:sp>
        <p:nvSpPr>
          <p:cNvPr id="20" name="TextBox 19"/>
          <p:cNvSpPr txBox="1"/>
          <p:nvPr/>
        </p:nvSpPr>
        <p:spPr>
          <a:xfrm>
            <a:off x="9144000" y="4782312"/>
            <a:ext cx="2560320" cy="640080"/>
          </a:xfrm>
          <a:prstGeom prst="rect">
            <a:avLst/>
          </a:prstGeom>
          <a:noFill/>
        </p:spPr>
        <p:txBody>
          <a:bodyPr wrap="square" lIns="36576" rIns="36576" tIns="18288" bIns="18288" anchor="t">
            <a:spAutoFit/>
          </a:bodyPr>
          <a:lstStyle/>
          <a:p>
            <a:pPr algn="l">
              <a:lnSpc>
                <a:spcPct val="105000"/>
              </a:lnSpc>
              <a:spcAft>
                <a:spcPts val="300"/>
              </a:spcAft>
            </a:pPr>
            <a:r>
              <a:rPr sz="1150" b="1" i="0">
                <a:solidFill>
                  <a:srgbClr val="0B2545"/>
                </a:solidFill>
                <a:latin typeface="Calibri"/>
              </a:rPr>
              <a:t>Did it work?</a:t>
            </a:r>
          </a:p>
          <a:p>
            <a:pPr algn="l">
              <a:lnSpc>
                <a:spcPct val="105000"/>
              </a:lnSpc>
              <a:spcAft>
                <a:spcPts val="300"/>
              </a:spcAft>
            </a:pPr>
            <a:r>
              <a:rPr sz="1150" b="0" i="0">
                <a:solidFill>
                  <a:srgbClr val="1B2A41"/>
                </a:solidFill>
                <a:latin typeface="Calibri"/>
              </a:rPr>
              <a:t>not yet: incident investigating</a:t>
            </a:r>
          </a:p>
        </p:txBody>
      </p:sp>
      <p:sp>
        <p:nvSpPr>
          <p:cNvPr id="21" name="TextBox 20"/>
          <p:cNvSpPr txBox="1"/>
          <p:nvPr/>
        </p:nvSpPr>
        <p:spPr>
          <a:xfrm>
            <a:off x="8595360" y="5532120"/>
            <a:ext cx="3108960" cy="548640"/>
          </a:xfrm>
          <a:prstGeom prst="rect">
            <a:avLst/>
          </a:prstGeom>
          <a:noFill/>
        </p:spPr>
        <p:txBody>
          <a:bodyPr wrap="square" lIns="36576" rIns="36576" tIns="18288" bIns="18288" anchor="t">
            <a:spAutoFit/>
          </a:bodyPr>
          <a:lstStyle/>
          <a:p>
            <a:pPr algn="l">
              <a:lnSpc>
                <a:spcPct val="105000"/>
              </a:lnSpc>
              <a:spcAft>
                <a:spcPts val="300"/>
              </a:spcAft>
            </a:pPr>
            <a:r>
              <a:rPr sz="1100" b="0" i="1">
                <a:solidFill>
                  <a:srgbClr val="5B6B7F"/>
                </a:solidFill>
                <a:latin typeface="Calibri"/>
              </a:rPr>
              <a:t>Token in sessionStorage; roles enforced by the server.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API, DATABASE, SERVICES</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Twenty-six routes and nineteen tables, with roles enforced per endpoint</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16 / 22</a:t>
            </a:r>
          </a:p>
        </p:txBody>
      </p:sp>
      <p:graphicFrame>
        <p:nvGraphicFramePr>
          <p:cNvPr id="7" name="endpoint table"/>
          <p:cNvGraphicFramePr>
            <a:graphicFrameLocks noGrp="1"/>
          </p:cNvGraphicFramePr>
          <p:nvPr/>
        </p:nvGraphicFramePr>
        <p:xfrm>
          <a:off x="502920" y="1371600"/>
          <a:ext cx="6583680" cy="3291840"/>
        </p:xfrm>
        <a:graphic>
          <a:graphicData uri="http://schemas.openxmlformats.org/drawingml/2006/table">
            <a:tbl>
              <a:tblPr firstRow="1" bandRow="1">
                <a:tableStyleId>{5940675A-B579-460E-94D1-54222C63F5DA}</a:tableStyleId>
              </a:tblPr>
              <a:tblGrid>
                <a:gridCol w="3383280"/>
                <a:gridCol w="2194560"/>
                <a:gridCol w="1005840"/>
              </a:tblGrid>
              <a:tr h="365760">
                <a:tc>
                  <a:txBody>
                    <a:bodyPr wrap="square"/>
                    <a:lstStyle/>
                    <a:p>
                      <a:r>
                        <a:rPr sz="1150" b="1">
                          <a:solidFill>
                            <a:srgbClr val="FFFFFF"/>
                          </a:solidFill>
                          <a:latin typeface="Calibri"/>
                        </a:rPr>
                        <a:t>Endpoint group</a:t>
                      </a:r>
                    </a:p>
                  </a:txBody>
                  <a:tcPr marL="64008" marR="64008" marT="27432" marB="27432" anchor="ctr">
                    <a:solidFill>
                      <a:srgbClr val="0B2545"/>
                    </a:solidFill>
                  </a:tcPr>
                </a:tc>
                <a:tc>
                  <a:txBody>
                    <a:bodyPr wrap="square"/>
                    <a:lstStyle/>
                    <a:p>
                      <a:r>
                        <a:rPr sz="1150" b="1">
                          <a:solidFill>
                            <a:srgbClr val="FFFFFF"/>
                          </a:solidFill>
                          <a:latin typeface="Calibri"/>
                        </a:rPr>
                        <a:t>Minimum role</a:t>
                      </a:r>
                    </a:p>
                  </a:txBody>
                  <a:tcPr marL="64008" marR="64008" marT="27432" marB="27432" anchor="ctr">
                    <a:solidFill>
                      <a:srgbClr val="0B2545"/>
                    </a:solidFill>
                  </a:tcPr>
                </a:tc>
                <a:tc>
                  <a:txBody>
                    <a:bodyPr wrap="square"/>
                    <a:lstStyle/>
                    <a:p>
                      <a:r>
                        <a:rPr sz="1150" b="1">
                          <a:solidFill>
                            <a:srgbClr val="FFFFFF"/>
                          </a:solidFill>
                          <a:latin typeface="Calibri"/>
                        </a:rPr>
                        <a:t>Routes</a:t>
                      </a:r>
                    </a:p>
                  </a:txBody>
                  <a:tcPr marL="64008" marR="64008" marT="27432" marB="27432" anchor="ctr">
                    <a:solidFill>
                      <a:srgbClr val="0B2545"/>
                    </a:solidFill>
                  </a:tcPr>
                </a:tc>
              </a:tr>
              <a:tr h="365760">
                <a:tc>
                  <a:txBody>
                    <a:bodyPr wrap="square"/>
                    <a:lstStyle/>
                    <a:p>
                      <a:r>
                        <a:rPr sz="1150">
                          <a:solidFill>
                            <a:srgbClr val="1B2A41"/>
                          </a:solidFill>
                          <a:latin typeface="Calibri"/>
                        </a:rPr>
                        <a:t>health</a:t>
                      </a:r>
                    </a:p>
                  </a:txBody>
                  <a:tcPr marL="64008" marR="64008" marT="27432" marB="27432" anchor="ctr">
                    <a:solidFill>
                      <a:srgbClr val="FFFFFF"/>
                    </a:solidFill>
                  </a:tcPr>
                </a:tc>
                <a:tc>
                  <a:txBody>
                    <a:bodyPr wrap="square"/>
                    <a:lstStyle/>
                    <a:p>
                      <a:r>
                        <a:rPr sz="1150">
                          <a:solidFill>
                            <a:srgbClr val="1B2A41"/>
                          </a:solidFill>
                          <a:latin typeface="Calibri"/>
                        </a:rPr>
                        <a:t>public</a:t>
                      </a:r>
                    </a:p>
                  </a:txBody>
                  <a:tcPr marL="64008" marR="64008" marT="27432" marB="27432" anchor="ctr">
                    <a:solidFill>
                      <a:srgbClr val="FFFFFF"/>
                    </a:solidFill>
                  </a:tcPr>
                </a:tc>
                <a:tc>
                  <a:txBody>
                    <a:bodyPr wrap="square"/>
                    <a:lstStyle/>
                    <a:p>
                      <a:r>
                        <a:rPr sz="1150">
                          <a:solidFill>
                            <a:srgbClr val="1B2A41"/>
                          </a:solidFill>
                          <a:latin typeface="Calibri"/>
                        </a:rPr>
                        <a:t>1</a:t>
                      </a:r>
                    </a:p>
                  </a:txBody>
                  <a:tcPr marL="64008" marR="64008" marT="27432" marB="27432" anchor="ctr">
                    <a:solidFill>
                      <a:srgbClr val="FFFFFF"/>
                    </a:solidFill>
                  </a:tcPr>
                </a:tc>
              </a:tr>
              <a:tr h="365760">
                <a:tc>
                  <a:txBody>
                    <a:bodyPr wrap="square"/>
                    <a:lstStyle/>
                    <a:p>
                      <a:r>
                        <a:rPr sz="1150">
                          <a:solidFill>
                            <a:srgbClr val="1B2A41"/>
                          </a:solidFill>
                          <a:latin typeface="Calibri"/>
                        </a:rPr>
                        <a:t>pipeline run / list</a:t>
                      </a:r>
                    </a:p>
                  </a:txBody>
                  <a:tcPr marL="64008" marR="64008" marT="27432" marB="27432" anchor="ctr">
                    <a:solidFill>
                      <a:srgbClr val="F5F8FC"/>
                    </a:solidFill>
                  </a:tcPr>
                </a:tc>
                <a:tc>
                  <a:txBody>
                    <a:bodyPr wrap="square"/>
                    <a:lstStyle/>
                    <a:p>
                      <a:r>
                        <a:rPr sz="1150">
                          <a:solidFill>
                            <a:srgbClr val="1B2A41"/>
                          </a:solidFill>
                          <a:latin typeface="Calibri"/>
                        </a:rPr>
                        <a:t>operator / viewer</a:t>
                      </a:r>
                    </a:p>
                  </a:txBody>
                  <a:tcPr marL="64008" marR="64008" marT="27432" marB="27432" anchor="ctr">
                    <a:solidFill>
                      <a:srgbClr val="F5F8FC"/>
                    </a:solidFill>
                  </a:tcPr>
                </a:tc>
                <a:tc>
                  <a:txBody>
                    <a:bodyPr wrap="square"/>
                    <a:lstStyle/>
                    <a:p>
                      <a:r>
                        <a:rPr sz="1150">
                          <a:solidFill>
                            <a:srgbClr val="1B2A41"/>
                          </a:solidFill>
                          <a:latin typeface="Calibri"/>
                        </a:rPr>
                        <a:t>2</a:t>
                      </a:r>
                    </a:p>
                  </a:txBody>
                  <a:tcPr marL="64008" marR="64008" marT="27432" marB="27432" anchor="ctr">
                    <a:solidFill>
                      <a:srgbClr val="F5F8FC"/>
                    </a:solidFill>
                  </a:tcPr>
                </a:tc>
              </a:tr>
              <a:tr h="365760">
                <a:tc>
                  <a:txBody>
                    <a:bodyPr wrap="square"/>
                    <a:lstStyle/>
                    <a:p>
                      <a:r>
                        <a:rPr sz="1150">
                          <a:solidFill>
                            <a:srgbClr val="1B2A41"/>
                          </a:solidFill>
                          <a:latin typeface="Calibri"/>
                        </a:rPr>
                        <a:t>calls, network, incidents (reads)</a:t>
                      </a:r>
                    </a:p>
                  </a:txBody>
                  <a:tcPr marL="64008" marR="64008" marT="27432" marB="27432" anchor="ctr">
                    <a:solidFill>
                      <a:srgbClr val="FFFFFF"/>
                    </a:solidFill>
                  </a:tcPr>
                </a:tc>
                <a:tc>
                  <a:txBody>
                    <a:bodyPr wrap="square"/>
                    <a:lstStyle/>
                    <a:p>
                      <a:r>
                        <a:rPr sz="1150">
                          <a:solidFill>
                            <a:srgbClr val="1B2A41"/>
                          </a:solidFill>
                          <a:latin typeface="Calibri"/>
                        </a:rPr>
                        <a:t>viewer</a:t>
                      </a:r>
                    </a:p>
                  </a:txBody>
                  <a:tcPr marL="64008" marR="64008" marT="27432" marB="27432" anchor="ctr">
                    <a:solidFill>
                      <a:srgbClr val="FFFFFF"/>
                    </a:solidFill>
                  </a:tcPr>
                </a:tc>
                <a:tc>
                  <a:txBody>
                    <a:bodyPr wrap="square"/>
                    <a:lstStyle/>
                    <a:p>
                      <a:r>
                        <a:rPr sz="1150">
                          <a:solidFill>
                            <a:srgbClr val="1B2A41"/>
                          </a:solidFill>
                          <a:latin typeface="Calibri"/>
                        </a:rPr>
                        <a:t>7</a:t>
                      </a:r>
                    </a:p>
                  </a:txBody>
                  <a:tcPr marL="64008" marR="64008" marT="27432" marB="27432" anchor="ctr">
                    <a:solidFill>
                      <a:srgbClr val="FFFFFF"/>
                    </a:solidFill>
                  </a:tcPr>
                </a:tc>
              </a:tr>
              <a:tr h="365760">
                <a:tc>
                  <a:txBody>
                    <a:bodyPr wrap="square"/>
                    <a:lstStyle/>
                    <a:p>
                      <a:r>
                        <a:rPr sz="1150">
                          <a:solidFill>
                            <a:srgbClr val="1B2A41"/>
                          </a:solidFill>
                          <a:latin typeface="Calibri"/>
                        </a:rPr>
                        <a:t>investigate (RCA), report generate, agent start</a:t>
                      </a:r>
                    </a:p>
                  </a:txBody>
                  <a:tcPr marL="64008" marR="64008" marT="27432" marB="27432" anchor="ctr">
                    <a:solidFill>
                      <a:srgbClr val="F5F8FC"/>
                    </a:solidFill>
                  </a:tcPr>
                </a:tc>
                <a:tc>
                  <a:txBody>
                    <a:bodyPr wrap="square"/>
                    <a:lstStyle/>
                    <a:p>
                      <a:r>
                        <a:rPr sz="1150">
                          <a:solidFill>
                            <a:srgbClr val="1B2A41"/>
                          </a:solidFill>
                          <a:latin typeface="Calibri"/>
                        </a:rPr>
                        <a:t>operator</a:t>
                      </a:r>
                    </a:p>
                  </a:txBody>
                  <a:tcPr marL="64008" marR="64008" marT="27432" marB="27432" anchor="ctr">
                    <a:solidFill>
                      <a:srgbClr val="F5F8FC"/>
                    </a:solidFill>
                  </a:tcPr>
                </a:tc>
                <a:tc>
                  <a:txBody>
                    <a:bodyPr wrap="square"/>
                    <a:lstStyle/>
                    <a:p>
                      <a:r>
                        <a:rPr sz="1150">
                          <a:solidFill>
                            <a:srgbClr val="1B2A41"/>
                          </a:solidFill>
                          <a:latin typeface="Calibri"/>
                        </a:rPr>
                        <a:t>3</a:t>
                      </a:r>
                    </a:p>
                  </a:txBody>
                  <a:tcPr marL="64008" marR="64008" marT="27432" marB="27432" anchor="ctr">
                    <a:solidFill>
                      <a:srgbClr val="F5F8FC"/>
                    </a:solidFill>
                  </a:tcPr>
                </a:tc>
              </a:tr>
              <a:tr h="365760">
                <a:tc>
                  <a:txBody>
                    <a:bodyPr wrap="square"/>
                    <a:lstStyle/>
                    <a:p>
                      <a:r>
                        <a:rPr sz="1150">
                          <a:solidFill>
                            <a:srgbClr val="1B2A41"/>
                          </a:solidFill>
                          <a:latin typeface="Calibri"/>
                        </a:rPr>
                        <a:t>reports, RCA, deployments, findings, agent reads</a:t>
                      </a:r>
                    </a:p>
                  </a:txBody>
                  <a:tcPr marL="64008" marR="64008" marT="27432" marB="27432" anchor="ctr">
                    <a:solidFill>
                      <a:srgbClr val="FFFFFF"/>
                    </a:solidFill>
                  </a:tcPr>
                </a:tc>
                <a:tc>
                  <a:txBody>
                    <a:bodyPr wrap="square"/>
                    <a:lstStyle/>
                    <a:p>
                      <a:r>
                        <a:rPr sz="1150">
                          <a:solidFill>
                            <a:srgbClr val="1B2A41"/>
                          </a:solidFill>
                          <a:latin typeface="Calibri"/>
                        </a:rPr>
                        <a:t>viewer</a:t>
                      </a:r>
                    </a:p>
                  </a:txBody>
                  <a:tcPr marL="64008" marR="64008" marT="27432" marB="27432" anchor="ctr">
                    <a:solidFill>
                      <a:srgbClr val="FFFFFF"/>
                    </a:solidFill>
                  </a:tcPr>
                </a:tc>
                <a:tc>
                  <a:txBody>
                    <a:bodyPr wrap="square"/>
                    <a:lstStyle/>
                    <a:p>
                      <a:r>
                        <a:rPr sz="1150">
                          <a:solidFill>
                            <a:srgbClr val="1B2A41"/>
                          </a:solidFill>
                          <a:latin typeface="Calibri"/>
                        </a:rPr>
                        <a:t>9</a:t>
                      </a:r>
                    </a:p>
                  </a:txBody>
                  <a:tcPr marL="64008" marR="64008" marT="27432" marB="27432" anchor="ctr">
                    <a:solidFill>
                      <a:srgbClr val="FFFFFF"/>
                    </a:solidFill>
                  </a:tcPr>
                </a:tc>
              </a:tr>
              <a:tr h="365760">
                <a:tc>
                  <a:txBody>
                    <a:bodyPr wrap="square"/>
                    <a:lstStyle/>
                    <a:p>
                      <a:r>
                        <a:rPr sz="1150">
                          <a:solidFill>
                            <a:srgbClr val="1B2A41"/>
                          </a:solidFill>
                          <a:latin typeface="Calibri"/>
                        </a:rPr>
                        <a:t>agent approve</a:t>
                      </a:r>
                    </a:p>
                  </a:txBody>
                  <a:tcPr marL="64008" marR="64008" marT="27432" marB="27432" anchor="ctr">
                    <a:solidFill>
                      <a:srgbClr val="F5F8FC"/>
                    </a:solidFill>
                  </a:tcPr>
                </a:tc>
                <a:tc>
                  <a:txBody>
                    <a:bodyPr wrap="square"/>
                    <a:lstStyle/>
                    <a:p>
                      <a:r>
                        <a:rPr sz="1150">
                          <a:solidFill>
                            <a:srgbClr val="1B2A41"/>
                          </a:solidFill>
                          <a:latin typeface="Calibri"/>
                        </a:rPr>
                        <a:t>approver</a:t>
                      </a:r>
                    </a:p>
                  </a:txBody>
                  <a:tcPr marL="64008" marR="64008" marT="27432" marB="27432" anchor="ctr">
                    <a:solidFill>
                      <a:srgbClr val="F5F8FC"/>
                    </a:solidFill>
                  </a:tcPr>
                </a:tc>
                <a:tc>
                  <a:txBody>
                    <a:bodyPr wrap="square"/>
                    <a:lstStyle/>
                    <a:p>
                      <a:r>
                        <a:rPr sz="1150">
                          <a:solidFill>
                            <a:srgbClr val="1B2A41"/>
                          </a:solidFill>
                          <a:latin typeface="Calibri"/>
                        </a:rPr>
                        <a:t>1</a:t>
                      </a:r>
                    </a:p>
                  </a:txBody>
                  <a:tcPr marL="64008" marR="64008" marT="27432" marB="27432" anchor="ctr">
                    <a:solidFill>
                      <a:srgbClr val="F5F8FC"/>
                    </a:solidFill>
                  </a:tcPr>
                </a:tc>
              </a:tr>
              <a:tr h="365760">
                <a:tc>
                  <a:txBody>
                    <a:bodyPr wrap="square"/>
                    <a:lstStyle/>
                    <a:p>
                      <a:r>
                        <a:rPr sz="1150">
                          <a:solidFill>
                            <a:srgbClr val="1B2A41"/>
                          </a:solidFill>
                          <a:latin typeface="Calibri"/>
                        </a:rPr>
                        <a:t>agent execute</a:t>
                      </a:r>
                    </a:p>
                  </a:txBody>
                  <a:tcPr marL="64008" marR="64008" marT="27432" marB="27432" anchor="ctr">
                    <a:solidFill>
                      <a:srgbClr val="FFFFFF"/>
                    </a:solidFill>
                  </a:tcPr>
                </a:tc>
                <a:tc>
                  <a:txBody>
                    <a:bodyPr wrap="square"/>
                    <a:lstStyle/>
                    <a:p>
                      <a:r>
                        <a:rPr sz="1150">
                          <a:solidFill>
                            <a:srgbClr val="1B2A41"/>
                          </a:solidFill>
                          <a:latin typeface="Calibri"/>
                        </a:rPr>
                        <a:t>operator (admin if HIGH_RISK)</a:t>
                      </a:r>
                    </a:p>
                  </a:txBody>
                  <a:tcPr marL="64008" marR="64008" marT="27432" marB="27432" anchor="ctr">
                    <a:solidFill>
                      <a:srgbClr val="FFFFFF"/>
                    </a:solidFill>
                  </a:tcPr>
                </a:tc>
                <a:tc>
                  <a:txBody>
                    <a:bodyPr wrap="square"/>
                    <a:lstStyle/>
                    <a:p>
                      <a:r>
                        <a:rPr sz="1150">
                          <a:solidFill>
                            <a:srgbClr val="1B2A41"/>
                          </a:solidFill>
                          <a:latin typeface="Calibri"/>
                        </a:rPr>
                        <a:t>1</a:t>
                      </a:r>
                    </a:p>
                  </a:txBody>
                  <a:tcPr marL="64008" marR="64008" marT="27432" marB="27432" anchor="ctr">
                    <a:solidFill>
                      <a:srgbClr val="FFFFFF"/>
                    </a:solidFill>
                  </a:tcPr>
                </a:tc>
              </a:tr>
              <a:tr h="365760">
                <a:tc>
                  <a:txBody>
                    <a:bodyPr wrap="square"/>
                    <a:lstStyle/>
                    <a:p>
                      <a:r>
                        <a:rPr sz="1150">
                          <a:solidFill>
                            <a:srgbClr val="1B2A41"/>
                          </a:solidFill>
                          <a:latin typeface="Calibri"/>
                        </a:rPr>
                        <a:t>audit list / verify</a:t>
                      </a:r>
                    </a:p>
                  </a:txBody>
                  <a:tcPr marL="64008" marR="64008" marT="27432" marB="27432" anchor="ctr">
                    <a:solidFill>
                      <a:srgbClr val="F5F8FC"/>
                    </a:solidFill>
                  </a:tcPr>
                </a:tc>
                <a:tc>
                  <a:txBody>
                    <a:bodyPr wrap="square"/>
                    <a:lstStyle/>
                    <a:p>
                      <a:r>
                        <a:rPr sz="1150">
                          <a:solidFill>
                            <a:srgbClr val="1B2A41"/>
                          </a:solidFill>
                          <a:latin typeface="Calibri"/>
                        </a:rPr>
                        <a:t>operator / admin</a:t>
                      </a:r>
                    </a:p>
                  </a:txBody>
                  <a:tcPr marL="64008" marR="64008" marT="27432" marB="27432" anchor="ctr">
                    <a:solidFill>
                      <a:srgbClr val="F5F8FC"/>
                    </a:solidFill>
                  </a:tcPr>
                </a:tc>
                <a:tc>
                  <a:txBody>
                    <a:bodyPr wrap="square"/>
                    <a:lstStyle/>
                    <a:p>
                      <a:r>
                        <a:rPr sz="1150">
                          <a:solidFill>
                            <a:srgbClr val="1B2A41"/>
                          </a:solidFill>
                          <a:latin typeface="Calibri"/>
                        </a:rPr>
                        <a:t>2</a:t>
                      </a:r>
                    </a:p>
                  </a:txBody>
                  <a:tcPr marL="64008" marR="64008" marT="27432" marB="27432" anchor="ctr">
                    <a:solidFill>
                      <a:srgbClr val="F5F8FC"/>
                    </a:solidFill>
                  </a:tcPr>
                </a:tc>
              </a:tr>
            </a:tbl>
          </a:graphicData>
        </a:graphic>
      </p:graphicFrame>
      <p:sp>
        <p:nvSpPr>
          <p:cNvPr id="8" name="TextBox 7"/>
          <p:cNvSpPr txBox="1"/>
          <p:nvPr/>
        </p:nvSpPr>
        <p:spPr>
          <a:xfrm>
            <a:off x="502920" y="4800600"/>
            <a:ext cx="6583680" cy="1280160"/>
          </a:xfrm>
          <a:prstGeom prst="rect">
            <a:avLst/>
          </a:prstGeom>
          <a:noFill/>
        </p:spPr>
        <p:txBody>
          <a:bodyPr wrap="square" lIns="36576" rIns="36576" tIns="18288" bIns="18288" anchor="t">
            <a:spAutoFit/>
          </a:bodyPr>
          <a:lstStyle/>
          <a:p>
            <a:pPr algn="l" marL="182880" indent="-182880">
              <a:lnSpc>
                <a:spcPct val="105000"/>
              </a:lnSpc>
              <a:spcAft>
                <a:spcPts val="400"/>
              </a:spcAft>
              <a:buChar char="•"/>
            </a:pPr>
            <a:r>
              <a:rPr sz="1200" b="0" i="0">
                <a:solidFill>
                  <a:srgbClr val="1B2A41"/>
                </a:solidFill>
                <a:latin typeface="Calibri"/>
              </a:rPr>
              <a:t>bodies use extra="forbid"; ids, metrics and cells are pattern-checked</a:t>
            </a:r>
          </a:p>
          <a:p>
            <a:pPr algn="l" marL="182880" indent="-182880">
              <a:lnSpc>
                <a:spcPct val="105000"/>
              </a:lnSpc>
              <a:spcAft>
                <a:spcPts val="400"/>
              </a:spcAft>
              <a:buChar char="•"/>
            </a:pPr>
            <a:r>
              <a:rPr sz="1200" b="0" i="0">
                <a:solidFill>
                  <a:srgbClr val="1B2A41"/>
                </a:solidFill>
                <a:latin typeface="Calibri"/>
              </a:rPr>
              <a:t>401 / 403 / 404 / 409 / 413 / 422 / 429 mapped; 500 carries only a request id</a:t>
            </a:r>
          </a:p>
          <a:p>
            <a:pPr algn="l" marL="182880" indent="-182880">
              <a:lnSpc>
                <a:spcPct val="105000"/>
              </a:lnSpc>
              <a:spcAft>
                <a:spcPts val="400"/>
              </a:spcAft>
              <a:buChar char="•"/>
            </a:pPr>
            <a:r>
              <a:rPr sz="1200" b="0" i="0">
                <a:solidFill>
                  <a:srgbClr val="1B2A41"/>
                </a:solidFill>
                <a:latin typeface="Calibri"/>
              </a:rPr>
              <a:t>every response has X-Request-ID; /metrics is not proxied</a:t>
            </a:r>
          </a:p>
        </p:txBody>
      </p:sp>
      <p:sp>
        <p:nvSpPr>
          <p:cNvPr id="9" name="TextBox 8"/>
          <p:cNvSpPr txBox="1"/>
          <p:nvPr/>
        </p:nvSpPr>
        <p:spPr>
          <a:xfrm>
            <a:off x="7406640" y="1325880"/>
            <a:ext cx="4206240" cy="274320"/>
          </a:xfrm>
          <a:prstGeom prst="rect">
            <a:avLst/>
          </a:prstGeom>
          <a:noFill/>
        </p:spPr>
        <p:txBody>
          <a:bodyPr wrap="square" lIns="36576" rIns="36576" tIns="18288" bIns="18288" anchor="t">
            <a:spAutoFit/>
          </a:bodyPr>
          <a:lstStyle/>
          <a:p>
            <a:pPr algn="l">
              <a:lnSpc>
                <a:spcPct val="105000"/>
              </a:lnSpc>
              <a:spcAft>
                <a:spcPts val="300"/>
              </a:spcAft>
            </a:pPr>
            <a:r>
              <a:rPr sz="1400" b="1" i="0">
                <a:solidFill>
                  <a:srgbClr val="0B2545"/>
                </a:solidFill>
                <a:latin typeface="Calibri"/>
              </a:rPr>
              <a:t>19 tables (one Alembic migration)</a:t>
            </a:r>
          </a:p>
        </p:txBody>
      </p:sp>
      <p:sp>
        <p:nvSpPr>
          <p:cNvPr id="10" name="node: Run data"/>
          <p:cNvSpPr/>
          <p:nvPr/>
        </p:nvSpPr>
        <p:spPr>
          <a:xfrm>
            <a:off x="7406640" y="1691640"/>
            <a:ext cx="4251960" cy="960120"/>
          </a:xfrm>
          <a:prstGeom prst="roundRect">
            <a:avLst>
              <a:gd name="adj" fmla="val 9523"/>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Run data</a:t>
            </a:r>
          </a:p>
          <a:p>
            <a:pPr algn="ctr"/>
            <a:r>
              <a:rPr sz="1000">
                <a:solidFill>
                  <a:srgbClr val="5B6B7F"/>
                </a:solidFill>
                <a:latin typeface="Calibri"/>
              </a:rPr>
              <a:t>pipeline_runs, network_metrics, anomalies, operational_events, deployments</a:t>
            </a:r>
          </a:p>
        </p:txBody>
      </p:sp>
      <p:sp>
        <p:nvSpPr>
          <p:cNvPr id="11" name="node: Call analysis"/>
          <p:cNvSpPr/>
          <p:nvPr/>
        </p:nvSpPr>
        <p:spPr>
          <a:xfrm>
            <a:off x="7406640" y="2770632"/>
            <a:ext cx="4251960" cy="960120"/>
          </a:xfrm>
          <a:prstGeom prst="roundRect">
            <a:avLst>
              <a:gd name="adj" fmla="val 9523"/>
            </a:avLst>
          </a:prstGeom>
          <a:solidFill>
            <a:srgbClr val="FEF3C7"/>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Call analysis</a:t>
            </a:r>
          </a:p>
          <a:p>
            <a:pPr algn="ctr"/>
            <a:r>
              <a:rPr sz="1000">
                <a:solidFill>
                  <a:srgbClr val="5B6B7F"/>
                </a:solidFill>
                <a:latin typeface="Calibri"/>
              </a:rPr>
              <a:t>call_analysis_runs, call_cell_statistics, call_anomalies</a:t>
            </a:r>
          </a:p>
        </p:txBody>
      </p:sp>
      <p:sp>
        <p:nvSpPr>
          <p:cNvPr id="12" name="node: Incidents and AI"/>
          <p:cNvSpPr/>
          <p:nvPr/>
        </p:nvSpPr>
        <p:spPr>
          <a:xfrm>
            <a:off x="7406640" y="3849624"/>
            <a:ext cx="4251960" cy="960120"/>
          </a:xfrm>
          <a:prstGeom prst="roundRect">
            <a:avLst>
              <a:gd name="adj" fmla="val 9523"/>
            </a:avLst>
          </a:prstGeom>
          <a:solidFill>
            <a:srgbClr val="EDE9FE"/>
          </a:solidFill>
          <a:ln w="15875">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Incidents and AI</a:t>
            </a:r>
          </a:p>
          <a:p>
            <a:pPr algn="ctr"/>
            <a:r>
              <a:rPr sz="1000">
                <a:solidFill>
                  <a:srgbClr val="5B6B7F"/>
                </a:solidFill>
                <a:latin typeface="Calibri"/>
              </a:rPr>
              <a:t>incidents, incident_cells, incident_anomalies, incident_events, root_cause_analyses, recommendations, reports</a:t>
            </a:r>
          </a:p>
        </p:txBody>
      </p:sp>
      <p:sp>
        <p:nvSpPr>
          <p:cNvPr id="13" name="node: Agent and audit"/>
          <p:cNvSpPr/>
          <p:nvPr/>
        </p:nvSpPr>
        <p:spPr>
          <a:xfrm>
            <a:off x="7406640" y="4928616"/>
            <a:ext cx="4251960" cy="960120"/>
          </a:xfrm>
          <a:prstGeom prst="roundRect">
            <a:avLst>
              <a:gd name="adj" fmla="val 9523"/>
            </a:avLst>
          </a:prstGeom>
          <a:solidFill>
            <a:srgbClr val="FEE2E2"/>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2A41"/>
                </a:solidFill>
                <a:latin typeface="Calibri"/>
              </a:rPr>
              <a:t>Agent and audit</a:t>
            </a:r>
          </a:p>
          <a:p>
            <a:pPr algn="ctr"/>
            <a:r>
              <a:rPr sz="1000">
                <a:solidFill>
                  <a:srgbClr val="5B6B7F"/>
                </a:solidFill>
                <a:latin typeface="Calibri"/>
              </a:rPr>
              <a:t>agent_runs, agent_actions, security_findings, audit_logs</a:t>
            </a:r>
          </a:p>
        </p:txBody>
      </p:sp>
      <p:sp>
        <p:nvSpPr>
          <p:cNvPr id="14" name="Rounded Rectangle 13"/>
          <p:cNvSpPr/>
          <p:nvPr/>
        </p:nvSpPr>
        <p:spPr>
          <a:xfrm>
            <a:off x="7406640" y="6053328"/>
            <a:ext cx="1097280" cy="274320"/>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14532D"/>
                </a:solidFill>
                <a:latin typeface="Calibri"/>
              </a:rPr>
              <a:t>VERIFIED</a:t>
            </a:r>
          </a:p>
        </p:txBody>
      </p:sp>
      <p:sp>
        <p:nvSpPr>
          <p:cNvPr id="15" name="Rounded Rectangle 14"/>
          <p:cNvSpPr/>
          <p:nvPr/>
        </p:nvSpPr>
        <p:spPr>
          <a:xfrm>
            <a:off x="8595360" y="6053328"/>
            <a:ext cx="2560320" cy="274320"/>
          </a:xfrm>
          <a:prstGeom prst="roundRect">
            <a:avLst>
              <a:gd name="adj" fmla="val 50000"/>
            </a:avLst>
          </a:prstGeom>
          <a:solidFill>
            <a:srgbClr val="FFEDD5"/>
          </a:solidFill>
          <a:ln w="12700">
            <a:solidFill>
              <a:srgbClr val="7C2D1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950" b="1">
                <a:solidFill>
                  <a:srgbClr val="7C2D12"/>
                </a:solidFill>
                <a:latin typeface="Calibri"/>
              </a:rPr>
              <a:t>POSTGRESQL TEST SKIPPED HERE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DOCKER DEPLOYMENT</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Four containers start with one command; the backend image builds and tests the C library</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17 / 22</a:t>
            </a:r>
          </a:p>
        </p:txBody>
      </p:sp>
      <p:sp>
        <p:nvSpPr>
          <p:cNvPr id="7" name="compose project"/>
          <p:cNvSpPr/>
          <p:nvPr/>
        </p:nvSpPr>
        <p:spPr>
          <a:xfrm>
            <a:off x="502920" y="1371600"/>
            <a:ext cx="7498079" cy="3749039"/>
          </a:xfrm>
          <a:prstGeom prst="roundRect">
            <a:avLst>
              <a:gd name="adj" fmla="val 2439"/>
            </a:avLst>
          </a:prstGeom>
          <a:solidFill>
            <a:srgbClr val="F8FAFC"/>
          </a:solidFill>
          <a:ln w="12700">
            <a:solidFill>
              <a:srgbClr val="CBD5E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17320"/>
            <a:ext cx="5486400" cy="274320"/>
          </a:xfrm>
          <a:prstGeom prst="rect">
            <a:avLst/>
          </a:prstGeom>
          <a:noFill/>
        </p:spPr>
        <p:txBody>
          <a:bodyPr wrap="square" lIns="36576" rIns="36576" tIns="18288" bIns="18288" anchor="t">
            <a:spAutoFit/>
          </a:bodyPr>
          <a:lstStyle/>
          <a:p>
            <a:pPr algn="l">
              <a:lnSpc>
                <a:spcPct val="105000"/>
              </a:lnSpc>
              <a:spcAft>
                <a:spcPts val="300"/>
              </a:spcAft>
            </a:pPr>
            <a:r>
              <a:rPr sz="1000" b="1" i="0">
                <a:solidFill>
                  <a:srgbClr val="5B6B7F"/>
                </a:solidFill>
                <a:latin typeface="Calibri"/>
              </a:rPr>
              <a:t>COMPOSE PROJECT aegis-net  (ports bound to 127.0.0.1)</a:t>
            </a:r>
          </a:p>
        </p:txBody>
      </p:sp>
      <p:sp>
        <p:nvSpPr>
          <p:cNvPr id="9" name="node: frontend"/>
          <p:cNvSpPr/>
          <p:nvPr/>
        </p:nvSpPr>
        <p:spPr>
          <a:xfrm>
            <a:off x="777240" y="1920240"/>
            <a:ext cx="1828800" cy="914400"/>
          </a:xfrm>
          <a:prstGeom prst="roundRect">
            <a:avLst>
              <a:gd name="adj" fmla="val 10000"/>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frontend</a:t>
            </a:r>
          </a:p>
          <a:p>
            <a:pPr algn="ctr"/>
            <a:r>
              <a:rPr sz="1100">
                <a:solidFill>
                  <a:srgbClr val="5B6B7F"/>
                </a:solidFill>
                <a:latin typeface="Calibri"/>
              </a:rPr>
              <a:t>nginx :80 -&gt; :8080</a:t>
            </a:r>
          </a:p>
        </p:txBody>
      </p:sp>
      <p:sp>
        <p:nvSpPr>
          <p:cNvPr id="10" name="node: backend"/>
          <p:cNvSpPr/>
          <p:nvPr/>
        </p:nvSpPr>
        <p:spPr>
          <a:xfrm>
            <a:off x="3154680" y="1920240"/>
            <a:ext cx="2103120" cy="914400"/>
          </a:xfrm>
          <a:prstGeom prst="roundRect">
            <a:avLst>
              <a:gd name="adj" fmla="val 10000"/>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backend</a:t>
            </a:r>
          </a:p>
          <a:p>
            <a:pPr algn="ctr"/>
            <a:r>
              <a:rPr sz="1100">
                <a:solidFill>
                  <a:srgbClr val="5B6B7F"/>
                </a:solidFill>
                <a:latin typeface="Calibri"/>
              </a:rPr>
              <a:t>uvicorn :8000, non-root</a:t>
            </a:r>
          </a:p>
        </p:txBody>
      </p:sp>
      <p:sp>
        <p:nvSpPr>
          <p:cNvPr id="11" name="node: postgres:16"/>
          <p:cNvSpPr/>
          <p:nvPr/>
        </p:nvSpPr>
        <p:spPr>
          <a:xfrm>
            <a:off x="5806440" y="1920240"/>
            <a:ext cx="1920240" cy="914400"/>
          </a:xfrm>
          <a:prstGeom prst="roundRect">
            <a:avLst>
              <a:gd name="adj" fmla="val 10000"/>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postgres:16</a:t>
            </a:r>
          </a:p>
          <a:p>
            <a:pPr algn="ctr"/>
            <a:r>
              <a:rPr sz="1100">
                <a:solidFill>
                  <a:srgbClr val="5B6B7F"/>
                </a:solidFill>
                <a:latin typeface="Calibri"/>
              </a:rPr>
              <a:t>volume pgdata</a:t>
            </a:r>
          </a:p>
        </p:txBody>
      </p:sp>
      <p:sp>
        <p:nvSpPr>
          <p:cNvPr id="12" name="node: redis:7"/>
          <p:cNvSpPr/>
          <p:nvPr/>
        </p:nvSpPr>
        <p:spPr>
          <a:xfrm>
            <a:off x="5806440" y="3474720"/>
            <a:ext cx="1920240" cy="822960"/>
          </a:xfrm>
          <a:prstGeom prst="roundRect">
            <a:avLst>
              <a:gd name="adj" fmla="val 11111"/>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redis:7</a:t>
            </a:r>
          </a:p>
          <a:p>
            <a:pPr algn="ctr"/>
            <a:r>
              <a:rPr sz="1050">
                <a:solidFill>
                  <a:srgbClr val="5B6B7F"/>
                </a:solidFill>
                <a:latin typeface="Calibri"/>
              </a:rPr>
              <a:t>rate limit, no persistence</a:t>
            </a:r>
          </a:p>
        </p:txBody>
      </p:sp>
      <p:sp>
        <p:nvSpPr>
          <p:cNvPr id="13" name="node: aegis-data"/>
          <p:cNvSpPr/>
          <p:nvPr/>
        </p:nvSpPr>
        <p:spPr>
          <a:xfrm>
            <a:off x="3154680" y="3474720"/>
            <a:ext cx="2103120" cy="822960"/>
          </a:xfrm>
          <a:prstGeom prst="roundRect">
            <a:avLst>
              <a:gd name="adj" fmla="val 11111"/>
            </a:avLst>
          </a:prstGeom>
          <a:solidFill>
            <a:srgbClr val="CCFBF1"/>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B2A41"/>
                </a:solidFill>
                <a:latin typeface="Calibri"/>
              </a:rPr>
              <a:t>aegis-data</a:t>
            </a:r>
          </a:p>
          <a:p>
            <a:pPr algn="ctr"/>
            <a:r>
              <a:rPr sz="1100">
                <a:solidFill>
                  <a:srgbClr val="5B6B7F"/>
                </a:solidFill>
                <a:latin typeface="Calibri"/>
              </a:rPr>
              <a:t>agent workspaces</a:t>
            </a:r>
          </a:p>
        </p:txBody>
      </p:sp>
      <p:cxnSp>
        <p:nvCxnSpPr>
          <p:cNvPr id="14" name="Connector 13"/>
          <p:cNvCxnSpPr/>
          <p:nvPr/>
        </p:nvCxnSpPr>
        <p:spPr>
          <a:xfrm>
            <a:off x="2606040" y="2377440"/>
            <a:ext cx="54864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697480" y="2103120"/>
            <a:ext cx="457200" cy="228600"/>
          </a:xfrm>
          <a:prstGeom prst="rect">
            <a:avLst/>
          </a:prstGeom>
          <a:noFill/>
        </p:spPr>
        <p:txBody>
          <a:bodyPr wrap="square" lIns="36576" rIns="36576" tIns="18288" bIns="18288" anchor="t">
            <a:spAutoFit/>
          </a:bodyPr>
          <a:lstStyle/>
          <a:p>
            <a:pPr algn="l">
              <a:lnSpc>
                <a:spcPct val="105000"/>
              </a:lnSpc>
              <a:spcAft>
                <a:spcPts val="300"/>
              </a:spcAft>
            </a:pPr>
            <a:r>
              <a:rPr sz="1000" b="0" i="0">
                <a:solidFill>
                  <a:srgbClr val="5B6B7F"/>
                </a:solidFill>
                <a:latin typeface="Calibri"/>
              </a:rPr>
              <a:t>/api</a:t>
            </a:r>
          </a:p>
        </p:txBody>
      </p:sp>
      <p:cxnSp>
        <p:nvCxnSpPr>
          <p:cNvPr id="16" name="Connector 15"/>
          <p:cNvCxnSpPr/>
          <p:nvPr/>
        </p:nvCxnSpPr>
        <p:spPr>
          <a:xfrm>
            <a:off x="5257800" y="2377440"/>
            <a:ext cx="548640" cy="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206240" y="2834640"/>
            <a:ext cx="0" cy="64008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029200" y="2834640"/>
            <a:ext cx="1097280" cy="640080"/>
          </a:xfrm>
          <a:prstGeom prst="line">
            <a:avLst/>
          </a:prstGeom>
          <a:ln w="22225">
            <a:solidFill>
              <a:srgbClr val="8A99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node: backend image: stage 1 builds + ctests the C library; stage 2 runs migrations, optional demo bootstrap, uvicorn"/>
          <p:cNvSpPr/>
          <p:nvPr/>
        </p:nvSpPr>
        <p:spPr>
          <a:xfrm>
            <a:off x="777240" y="4526280"/>
            <a:ext cx="6949440" cy="457200"/>
          </a:xfrm>
          <a:prstGeom prst="roundRect">
            <a:avLst>
              <a:gd name="adj" fmla="val 20000"/>
            </a:avLst>
          </a:prstGeom>
          <a:solidFill>
            <a:srgbClr val="FEF3C7"/>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a:solidFill>
                  <a:srgbClr val="1B2A41"/>
                </a:solidFill>
                <a:latin typeface="Calibri"/>
              </a:rPr>
              <a:t>backend image: stage 1 builds + ctests the C library; stage 2 runs migrations, optional demo bootstrap, uvicorn</a:t>
            </a:r>
          </a:p>
        </p:txBody>
      </p:sp>
      <p:sp>
        <p:nvSpPr>
          <p:cNvPr id="20" name="command box"/>
          <p:cNvSpPr/>
          <p:nvPr/>
        </p:nvSpPr>
        <p:spPr>
          <a:xfrm>
            <a:off x="8275320" y="1371600"/>
            <a:ext cx="3383280" cy="3749039"/>
          </a:xfrm>
          <a:prstGeom prst="roundRect">
            <a:avLst>
              <a:gd name="adj" fmla="val 2702"/>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1463040"/>
            <a:ext cx="3108960" cy="3566160"/>
          </a:xfrm>
          <a:prstGeom prst="rect">
            <a:avLst/>
          </a:prstGeom>
          <a:noFill/>
        </p:spPr>
        <p:txBody>
          <a:bodyPr wrap="square" lIns="36576" rIns="36576" tIns="18288" bIns="18288" anchor="t">
            <a:spAutoFit/>
          </a:bodyPr>
          <a:lstStyle/>
          <a:p>
            <a:pPr algn="l">
              <a:lnSpc>
                <a:spcPct val="105000"/>
              </a:lnSpc>
              <a:spcAft>
                <a:spcPts val="300"/>
              </a:spcAft>
            </a:pPr>
            <a:r>
              <a:rPr sz="1300" b="0" i="0">
                <a:solidFill>
                  <a:srgbClr val="BFDBFE"/>
                </a:solidFill>
                <a:latin typeface="Consolas"/>
              </a:rPr>
              <a:t>$ make env</a:t>
            </a:r>
          </a:p>
          <a:p>
            <a:pPr algn="l">
              <a:lnSpc>
                <a:spcPct val="105000"/>
              </a:lnSpc>
              <a:spcAft>
                <a:spcPts val="300"/>
              </a:spcAft>
            </a:pPr>
            <a:r>
              <a:rPr sz="1100" b="0" i="0">
                <a:solidFill>
                  <a:srgbClr val="93C5FD"/>
                </a:solidFill>
                <a:latin typeface="Consolas"/>
              </a:rPr>
              <a:t>  hashed tokens -&gt; .env</a:t>
            </a:r>
          </a:p>
          <a:p>
            <a:pPr algn="l">
              <a:lnSpc>
                <a:spcPct val="105000"/>
              </a:lnSpc>
              <a:spcAft>
                <a:spcPts val="300"/>
              </a:spcAft>
            </a:pPr>
            <a:r>
              <a:rPr sz="1300" b="0" i="0">
                <a:solidFill>
                  <a:srgbClr val="BFDBFE"/>
                </a:solidFill>
                <a:latin typeface="Consolas"/>
              </a:rPr>
              <a:t>$ docker compose up --build</a:t>
            </a:r>
          </a:p>
          <a:p>
            <a:pPr algn="l">
              <a:lnSpc>
                <a:spcPct val="105000"/>
              </a:lnSpc>
              <a:spcAft>
                <a:spcPts val="300"/>
              </a:spcAft>
            </a:pPr>
            <a:r>
              <a:rPr sz="1100" b="0" i="0">
                <a:solidFill>
                  <a:srgbClr val="93C5FD"/>
                </a:solidFill>
                <a:latin typeface="Consolas"/>
              </a:rPr>
              <a:t>  dashboard :8080, API docs :8000/docs</a:t>
            </a:r>
          </a:p>
          <a:p>
            <a:pPr algn="l">
              <a:lnSpc>
                <a:spcPct val="105000"/>
              </a:lnSpc>
              <a:spcAft>
                <a:spcPts val="300"/>
              </a:spcAft>
            </a:pPr>
            <a:r>
              <a:rPr sz="1300" b="0" i="0">
                <a:solidFill>
                  <a:srgbClr val="BFDBFE"/>
                </a:solidFill>
                <a:latin typeface="Consolas"/>
              </a:rPr>
              <a:t>$ make docker-smoke</a:t>
            </a:r>
          </a:p>
          <a:p>
            <a:pPr algn="l">
              <a:lnSpc>
                <a:spcPct val="105000"/>
              </a:lnSpc>
              <a:spcAft>
                <a:spcPts val="300"/>
              </a:spcAft>
            </a:pPr>
            <a:r>
              <a:rPr sz="1100" b="0" i="0">
                <a:solidFill>
                  <a:srgbClr val="93C5FD"/>
                </a:solidFill>
                <a:latin typeface="Consolas"/>
              </a:rPr>
              <a:t>  isolated build + API checks, then clean-up</a:t>
            </a:r>
          </a:p>
          <a:p>
            <a:pPr algn="l">
              <a:lnSpc>
                <a:spcPct val="105000"/>
              </a:lnSpc>
              <a:spcAft>
                <a:spcPts val="300"/>
              </a:spcAft>
            </a:pPr>
            <a:r>
              <a:rPr sz="1300" b="0" i="0">
                <a:solidFill>
                  <a:srgbClr val="BFDBFE"/>
                </a:solidFill>
                <a:latin typeface="Consolas"/>
              </a:rPr>
              <a:t>$ docker compose down</a:t>
            </a:r>
          </a:p>
          <a:p>
            <a:pPr algn="l">
              <a:lnSpc>
                <a:spcPct val="105000"/>
              </a:lnSpc>
              <a:spcAft>
                <a:spcPts val="300"/>
              </a:spcAft>
            </a:pPr>
            <a:r>
              <a:rPr sz="1100" b="0" i="0">
                <a:solidFill>
                  <a:srgbClr val="93C5FD"/>
                </a:solidFill>
                <a:latin typeface="Consolas"/>
              </a:rPr>
              <a:t>  keeps volumes</a:t>
            </a:r>
          </a:p>
        </p:txBody>
      </p:sp>
      <p:sp>
        <p:nvSpPr>
          <p:cNvPr id="22" name="Rounded Rectangle 21"/>
          <p:cNvSpPr/>
          <p:nvPr/>
        </p:nvSpPr>
        <p:spPr>
          <a:xfrm>
            <a:off x="502920" y="5349240"/>
            <a:ext cx="2651760" cy="274320"/>
          </a:xfrm>
          <a:prstGeom prst="roundRect">
            <a:avLst>
              <a:gd name="adj" fmla="val 50000"/>
            </a:avLst>
          </a:prstGeom>
          <a:solidFill>
            <a:srgbClr val="FFEDD5"/>
          </a:solidFill>
          <a:ln w="12700">
            <a:solidFill>
              <a:srgbClr val="7C2D1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00" b="1">
                <a:solidFill>
                  <a:srgbClr val="7C2D12"/>
                </a:solidFill>
                <a:latin typeface="Calibri"/>
              </a:rPr>
              <a:t>STACK NOT RE-RUN IN THIS SESSION</a:t>
            </a:r>
          </a:p>
        </p:txBody>
      </p:sp>
      <p:sp>
        <p:nvSpPr>
          <p:cNvPr id="23" name="TextBox 22"/>
          <p:cNvSpPr txBox="1"/>
          <p:nvPr/>
        </p:nvSpPr>
        <p:spPr>
          <a:xfrm>
            <a:off x="3291840" y="5321808"/>
            <a:ext cx="8321040" cy="731520"/>
          </a:xfrm>
          <a:prstGeom prst="rect">
            <a:avLst/>
          </a:prstGeom>
          <a:noFill/>
        </p:spPr>
        <p:txBody>
          <a:bodyPr wrap="square" lIns="36576" rIns="36576" tIns="18288" bIns="18288" anchor="t">
            <a:spAutoFit/>
          </a:bodyPr>
          <a:lstStyle/>
          <a:p>
            <a:pPr algn="l">
              <a:lnSpc>
                <a:spcPct val="105000"/>
              </a:lnSpc>
              <a:spcAft>
                <a:spcPts val="300"/>
              </a:spcAft>
            </a:pPr>
            <a:r>
              <a:rPr sz="1200" b="0" i="0">
                <a:solidFill>
                  <a:srgbClr val="5B6B7F"/>
                </a:solidFill>
                <a:latin typeface="Calibri"/>
              </a:rPr>
              <a:t>A clean --no-cache smoke build and four-service start are recorded in the implementation plan. Required secrets fail fast with a hint to run make env; no credentials appear in the deliverables.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TESTING</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Layered tests give evidence, and the gaps are stated</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18 / 22</a:t>
            </a:r>
          </a:p>
        </p:txBody>
      </p:sp>
      <p:graphicFrame>
        <p:nvGraphicFramePr>
          <p:cNvPr id="7" name="test results"/>
          <p:cNvGraphicFramePr>
            <a:graphicFrameLocks noGrp="1"/>
          </p:cNvGraphicFramePr>
          <p:nvPr/>
        </p:nvGraphicFramePr>
        <p:xfrm>
          <a:off x="502920" y="1371600"/>
          <a:ext cx="6035040" cy="3364992"/>
        </p:xfrm>
        <a:graphic>
          <a:graphicData uri="http://schemas.openxmlformats.org/drawingml/2006/table">
            <a:tbl>
              <a:tblPr firstRow="1" bandRow="1">
                <a:tableStyleId>{5940675A-B579-460E-94D1-54222C63F5DA}</a:tableStyleId>
              </a:tblPr>
              <a:tblGrid>
                <a:gridCol w="3291840"/>
                <a:gridCol w="2743200"/>
              </a:tblGrid>
              <a:tr h="420624">
                <a:tc>
                  <a:txBody>
                    <a:bodyPr wrap="square"/>
                    <a:lstStyle/>
                    <a:p>
                      <a:r>
                        <a:rPr sz="1150" b="1">
                          <a:solidFill>
                            <a:srgbClr val="FFFFFF"/>
                          </a:solidFill>
                          <a:latin typeface="Calibri"/>
                        </a:rPr>
                        <a:t>Layer (command)</a:t>
                      </a:r>
                    </a:p>
                  </a:txBody>
                  <a:tcPr marL="64008" marR="64008" marT="27432" marB="27432" anchor="ctr">
                    <a:solidFill>
                      <a:srgbClr val="0B2545"/>
                    </a:solidFill>
                  </a:tcPr>
                </a:tc>
                <a:tc>
                  <a:txBody>
                    <a:bodyPr wrap="square"/>
                    <a:lstStyle/>
                    <a:p>
                      <a:r>
                        <a:rPr sz="1150" b="1">
                          <a:solidFill>
                            <a:srgbClr val="FFFFFF"/>
                          </a:solidFill>
                          <a:latin typeface="Calibri"/>
                        </a:rPr>
                        <a:t>Result run for this handbook</a:t>
                      </a:r>
                    </a:p>
                  </a:txBody>
                  <a:tcPr marL="64008" marR="64008" marT="27432" marB="27432" anchor="ctr">
                    <a:solidFill>
                      <a:srgbClr val="0B2545"/>
                    </a:solidFill>
                  </a:tcPr>
                </a:tc>
              </a:tr>
              <a:tr h="420624">
                <a:tc>
                  <a:txBody>
                    <a:bodyPr wrap="square"/>
                    <a:lstStyle/>
                    <a:p>
                      <a:r>
                        <a:rPr sz="1150">
                          <a:solidFill>
                            <a:srgbClr val="1B2A41"/>
                          </a:solidFill>
                          <a:latin typeface="Calibri"/>
                        </a:rPr>
                        <a:t>C tests (make c-test)</a:t>
                      </a:r>
                    </a:p>
                  </a:txBody>
                  <a:tcPr marL="64008" marR="64008" marT="27432" marB="27432" anchor="ctr">
                    <a:solidFill>
                      <a:srgbClr val="FFFFFF"/>
                    </a:solidFill>
                  </a:tcPr>
                </a:tc>
                <a:tc>
                  <a:txBody>
                    <a:bodyPr wrap="square"/>
                    <a:lstStyle/>
                    <a:p>
                      <a:r>
                        <a:rPr sz="1150">
                          <a:solidFill>
                            <a:srgbClr val="1B2A41"/>
                          </a:solidFill>
                          <a:latin typeface="Calibri"/>
                        </a:rPr>
                        <a:t>2 of 2 passed</a:t>
                      </a:r>
                    </a:p>
                  </a:txBody>
                  <a:tcPr marL="64008" marR="64008" marT="27432" marB="27432" anchor="ctr">
                    <a:solidFill>
                      <a:srgbClr val="FFFFFF"/>
                    </a:solidFill>
                  </a:tcPr>
                </a:tc>
              </a:tr>
              <a:tr h="420624">
                <a:tc>
                  <a:txBody>
                    <a:bodyPr wrap="square"/>
                    <a:lstStyle/>
                    <a:p>
                      <a:r>
                        <a:rPr sz="1150">
                          <a:solidFill>
                            <a:srgbClr val="1B2A41"/>
                          </a:solidFill>
                          <a:latin typeface="Calibri"/>
                        </a:rPr>
                        <a:t>C + ASan/UBSan/LSan + fault injection</a:t>
                      </a:r>
                    </a:p>
                  </a:txBody>
                  <a:tcPr marL="64008" marR="64008" marT="27432" marB="27432" anchor="ctr">
                    <a:solidFill>
                      <a:srgbClr val="F5F8FC"/>
                    </a:solidFill>
                  </a:tcPr>
                </a:tc>
                <a:tc>
                  <a:txBody>
                    <a:bodyPr wrap="square"/>
                    <a:lstStyle/>
                    <a:p>
                      <a:r>
                        <a:rPr sz="1150">
                          <a:solidFill>
                            <a:srgbClr val="1B2A41"/>
                          </a:solidFill>
                          <a:latin typeface="Calibri"/>
                        </a:rPr>
                        <a:t>2 of 2 passed</a:t>
                      </a:r>
                    </a:p>
                  </a:txBody>
                  <a:tcPr marL="64008" marR="64008" marT="27432" marB="27432" anchor="ctr">
                    <a:solidFill>
                      <a:srgbClr val="F5F8FC"/>
                    </a:solidFill>
                  </a:tcPr>
                </a:tc>
              </a:tr>
              <a:tr h="420624">
                <a:tc>
                  <a:txBody>
                    <a:bodyPr wrap="square"/>
                    <a:lstStyle/>
                    <a:p>
                      <a:r>
                        <a:rPr sz="1150">
                          <a:solidFill>
                            <a:srgbClr val="1B2A41"/>
                          </a:solidFill>
                          <a:latin typeface="Calibri"/>
                        </a:rPr>
                        <a:t>Python (make py-test)</a:t>
                      </a:r>
                    </a:p>
                  </a:txBody>
                  <a:tcPr marL="64008" marR="64008" marT="27432" marB="27432" anchor="ctr">
                    <a:solidFill>
                      <a:srgbClr val="FFFFFF"/>
                    </a:solidFill>
                  </a:tcPr>
                </a:tc>
                <a:tc>
                  <a:txBody>
                    <a:bodyPr wrap="square"/>
                    <a:lstStyle/>
                    <a:p>
                      <a:r>
                        <a:rPr sz="1150">
                          <a:solidFill>
                            <a:srgbClr val="1B2A41"/>
                          </a:solidFill>
                          <a:latin typeface="Calibri"/>
                        </a:rPr>
                        <a:t>352 passed, 3 skipped (207.7 s)</a:t>
                      </a:r>
                    </a:p>
                  </a:txBody>
                  <a:tcPr marL="64008" marR="64008" marT="27432" marB="27432" anchor="ctr">
                    <a:solidFill>
                      <a:srgbClr val="FFFFFF"/>
                    </a:solidFill>
                  </a:tcPr>
                </a:tc>
              </a:tr>
              <a:tr h="420624">
                <a:tc>
                  <a:txBody>
                    <a:bodyPr wrap="square"/>
                    <a:lstStyle/>
                    <a:p>
                      <a:r>
                        <a:rPr sz="1150">
                          <a:solidFill>
                            <a:srgbClr val="1B2A41"/>
                          </a:solidFill>
                          <a:latin typeface="Calibri"/>
                        </a:rPr>
                        <a:t>mypy --strict</a:t>
                      </a:r>
                    </a:p>
                  </a:txBody>
                  <a:tcPr marL="64008" marR="64008" marT="27432" marB="27432" anchor="ctr">
                    <a:solidFill>
                      <a:srgbClr val="F5F8FC"/>
                    </a:solidFill>
                  </a:tcPr>
                </a:tc>
                <a:tc>
                  <a:txBody>
                    <a:bodyPr wrap="square"/>
                    <a:lstStyle/>
                    <a:p>
                      <a:r>
                        <a:rPr sz="1150">
                          <a:solidFill>
                            <a:srgbClr val="1B2A41"/>
                          </a:solidFill>
                          <a:latin typeface="Calibri"/>
                        </a:rPr>
                        <a:t>86 files, no issues</a:t>
                      </a:r>
                    </a:p>
                  </a:txBody>
                  <a:tcPr marL="64008" marR="64008" marT="27432" marB="27432" anchor="ctr">
                    <a:solidFill>
                      <a:srgbClr val="F5F8FC"/>
                    </a:solidFill>
                  </a:tcPr>
                </a:tc>
              </a:tr>
              <a:tr h="420624">
                <a:tc>
                  <a:txBody>
                    <a:bodyPr wrap="square"/>
                    <a:lstStyle/>
                    <a:p>
                      <a:r>
                        <a:rPr sz="1150">
                          <a:solidFill>
                            <a:srgbClr val="1B2A41"/>
                          </a:solidFill>
                          <a:latin typeface="Calibri"/>
                        </a:rPr>
                        <a:t>Dashboard (make frontend-test)</a:t>
                      </a:r>
                    </a:p>
                  </a:txBody>
                  <a:tcPr marL="64008" marR="64008" marT="27432" marB="27432" anchor="ctr">
                    <a:solidFill>
                      <a:srgbClr val="FFFFFF"/>
                    </a:solidFill>
                  </a:tcPr>
                </a:tc>
                <a:tc>
                  <a:txBody>
                    <a:bodyPr wrap="square"/>
                    <a:lstStyle/>
                    <a:p>
                      <a:r>
                        <a:rPr sz="1150">
                          <a:solidFill>
                            <a:srgbClr val="1B2A41"/>
                          </a:solidFill>
                          <a:latin typeface="Calibri"/>
                        </a:rPr>
                        <a:t>tsc ok, Vitest 10/10, build ok</a:t>
                      </a:r>
                    </a:p>
                  </a:txBody>
                  <a:tcPr marL="64008" marR="64008" marT="27432" marB="27432" anchor="ctr">
                    <a:solidFill>
                      <a:srgbClr val="FFFFFF"/>
                    </a:solidFill>
                  </a:tcPr>
                </a:tc>
              </a:tr>
              <a:tr h="420624">
                <a:tc>
                  <a:txBody>
                    <a:bodyPr wrap="square"/>
                    <a:lstStyle/>
                    <a:p>
                      <a:r>
                        <a:rPr sz="1150">
                          <a:solidFill>
                            <a:srgbClr val="1B2A41"/>
                          </a:solidFill>
                          <a:latin typeface="Calibri"/>
                        </a:rPr>
                        <a:t>Offline demo (make demo)</a:t>
                      </a:r>
                    </a:p>
                  </a:txBody>
                  <a:tcPr marL="64008" marR="64008" marT="27432" marB="27432" anchor="ctr">
                    <a:solidFill>
                      <a:srgbClr val="F5F8FC"/>
                    </a:solidFill>
                  </a:tcPr>
                </a:tc>
                <a:tc>
                  <a:txBody>
                    <a:bodyPr wrap="square"/>
                    <a:lstStyle/>
                    <a:p>
                      <a:r>
                        <a:rPr sz="1150">
                          <a:solidFill>
                            <a:srgbClr val="1B2A41"/>
                          </a:solidFill>
                          <a:latin typeface="Calibri"/>
                        </a:rPr>
                        <a:t>exit 0; audit chain valid (24)</a:t>
                      </a:r>
                    </a:p>
                  </a:txBody>
                  <a:tcPr marL="64008" marR="64008" marT="27432" marB="27432" anchor="ctr">
                    <a:solidFill>
                      <a:srgbClr val="F5F8FC"/>
                    </a:solidFill>
                  </a:tcPr>
                </a:tc>
              </a:tr>
              <a:tr h="420624">
                <a:tc>
                  <a:txBody>
                    <a:bodyPr wrap="square"/>
                    <a:lstStyle/>
                    <a:p>
                      <a:r>
                        <a:rPr sz="1150">
                          <a:solidFill>
                            <a:srgbClr val="1B2A41"/>
                          </a:solidFill>
                          <a:latin typeface="Calibri"/>
                        </a:rPr>
                        <a:t>Docker smoke, ASan Python, PostgreSQL, Redis, live LLM</a:t>
                      </a:r>
                    </a:p>
                  </a:txBody>
                  <a:tcPr marL="64008" marR="64008" marT="27432" marB="27432" anchor="ctr">
                    <a:solidFill>
                      <a:srgbClr val="FFFFFF"/>
                    </a:solidFill>
                  </a:tcPr>
                </a:tc>
                <a:tc>
                  <a:txBody>
                    <a:bodyPr wrap="square"/>
                    <a:lstStyle/>
                    <a:p>
                      <a:r>
                        <a:rPr sz="1150">
                          <a:solidFill>
                            <a:srgbClr val="1B2A41"/>
                          </a:solidFill>
                          <a:latin typeface="Calibri"/>
                        </a:rPr>
                        <a:t>not run here (recorded or opt-in)</a:t>
                      </a:r>
                    </a:p>
                  </a:txBody>
                  <a:tcPr marL="64008" marR="64008" marT="27432" marB="27432" anchor="ctr">
                    <a:solidFill>
                      <a:srgbClr val="FFFFFF"/>
                    </a:solidFill>
                  </a:tcPr>
                </a:tc>
              </a:tr>
            </a:tbl>
          </a:graphicData>
        </a:graphic>
      </p:graphicFrame>
      <p:graphicFrame>
        <p:nvGraphicFramePr>
          <p:cNvPr id="8" name="chart: pytest tests collected per module (355)"/>
          <p:cNvGraphicFramePr>
            <a:graphicFrameLocks noGrp="1"/>
          </p:cNvGraphicFramePr>
          <p:nvPr/>
        </p:nvGraphicFramePr>
        <p:xfrm>
          <a:off x="6766560" y="1325880"/>
          <a:ext cx="4937760" cy="3566160"/>
        </p:xfrm>
        <a:graphic>
          <a:graphicData uri="http://schemas.openxmlformats.org/drawingml/2006/chart">
            <c:chart xmlns:c="http://schemas.openxmlformats.org/drawingml/2006/chart" r:id="rId2"/>
          </a:graphicData>
        </a:graphic>
      </p:graphicFrame>
      <p:sp>
        <p:nvSpPr>
          <p:cNvPr id="9" name="not proven"/>
          <p:cNvSpPr/>
          <p:nvPr/>
        </p:nvSpPr>
        <p:spPr>
          <a:xfrm>
            <a:off x="502920" y="4937760"/>
            <a:ext cx="11155680" cy="1097280"/>
          </a:xfrm>
          <a:prstGeom prst="roundRect">
            <a:avLst>
              <a:gd name="adj" fmla="val 8333"/>
            </a:avLst>
          </a:prstGeom>
          <a:solidFill>
            <a:srgbClr val="FFFBEB"/>
          </a:solidFill>
          <a:ln w="12700">
            <a:solidFill>
              <a:srgbClr val="FCD3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983480"/>
            <a:ext cx="10789920" cy="1005840"/>
          </a:xfrm>
          <a:prstGeom prst="rect">
            <a:avLst/>
          </a:prstGeom>
          <a:noFill/>
        </p:spPr>
        <p:txBody>
          <a:bodyPr wrap="square" lIns="36576" rIns="36576" tIns="18288" bIns="18288" anchor="ctr">
            <a:spAutoFit/>
          </a:bodyPr>
          <a:lstStyle/>
          <a:p>
            <a:pPr algn="l">
              <a:lnSpc>
                <a:spcPct val="105000"/>
              </a:lnSpc>
              <a:spcAft>
                <a:spcPts val="300"/>
              </a:spcAft>
            </a:pPr>
            <a:r>
              <a:rPr sz="1300" b="1" i="0">
                <a:solidFill>
                  <a:srgbClr val="92400E"/>
                </a:solidFill>
                <a:latin typeface="Calibri"/>
              </a:rPr>
              <a:t>Not proven: </a:t>
            </a:r>
            <a:r>
              <a:rPr sz="1300" b="0" i="0">
                <a:solidFill>
                  <a:srgbClr val="1B2A41"/>
                </a:solidFill>
                <a:latin typeface="Calibri"/>
              </a:rPr>
              <a:t>live LLM behaviour, PostgreSQL and Redis paths (3 opt-in skips), Docker in this session, real telemetry. Simulator, thresholds and tests were written together, so results show internal consistency, not field accuracy.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LIVE DEMO</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The demo runs offline in seconds; the full stack needs Docker</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19 / 22</a:t>
            </a:r>
          </a:p>
        </p:txBody>
      </p:sp>
      <p:sp>
        <p:nvSpPr>
          <p:cNvPr id="7" name="node: 1"/>
          <p:cNvSpPr/>
          <p:nvPr/>
        </p:nvSpPr>
        <p:spPr>
          <a:xfrm>
            <a:off x="502920" y="1417320"/>
            <a:ext cx="502920" cy="502920"/>
          </a:xfrm>
          <a:prstGeom prst="roundRect">
            <a:avLst>
              <a:gd name="adj" fmla="val 18181"/>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1</a:t>
            </a:r>
          </a:p>
        </p:txBody>
      </p:sp>
      <p:sp>
        <p:nvSpPr>
          <p:cNvPr id="8" name="TextBox 7"/>
          <p:cNvSpPr txBox="1"/>
          <p:nvPr/>
        </p:nvSpPr>
        <p:spPr>
          <a:xfrm>
            <a:off x="1188720" y="1399032"/>
            <a:ext cx="5212080" cy="548640"/>
          </a:xfrm>
          <a:prstGeom prst="rect">
            <a:avLst/>
          </a:prstGeom>
          <a:noFill/>
        </p:spPr>
        <p:txBody>
          <a:bodyPr wrap="square" lIns="36576" rIns="36576" tIns="18288" bIns="18288" anchor="ctr">
            <a:spAutoFit/>
          </a:bodyPr>
          <a:lstStyle/>
          <a:p>
            <a:pPr algn="l">
              <a:lnSpc>
                <a:spcPct val="105000"/>
              </a:lnSpc>
              <a:spcAft>
                <a:spcPts val="300"/>
              </a:spcAft>
            </a:pPr>
            <a:r>
              <a:rPr sz="1400" b="1" i="0">
                <a:solidFill>
                  <a:srgbClr val="0B2545"/>
                </a:solidFill>
                <a:latin typeface="Consolas"/>
              </a:rPr>
              <a:t>make demo</a:t>
            </a:r>
          </a:p>
        </p:txBody>
      </p:sp>
      <p:sp>
        <p:nvSpPr>
          <p:cNvPr id="9" name="TextBox 8"/>
          <p:cNvSpPr txBox="1"/>
          <p:nvPr/>
        </p:nvSpPr>
        <p:spPr>
          <a:xfrm>
            <a:off x="6492240" y="1399032"/>
            <a:ext cx="512064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offline: SQLite, mock LLM, 13 steps through the real API</a:t>
            </a:r>
          </a:p>
        </p:txBody>
      </p:sp>
      <p:sp>
        <p:nvSpPr>
          <p:cNvPr id="10" name="node: 2"/>
          <p:cNvSpPr/>
          <p:nvPr/>
        </p:nvSpPr>
        <p:spPr>
          <a:xfrm>
            <a:off x="502920" y="2057400"/>
            <a:ext cx="502920" cy="502920"/>
          </a:xfrm>
          <a:prstGeom prst="roundRect">
            <a:avLst>
              <a:gd name="adj" fmla="val 18181"/>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2</a:t>
            </a:r>
          </a:p>
        </p:txBody>
      </p:sp>
      <p:sp>
        <p:nvSpPr>
          <p:cNvPr id="11" name="TextBox 10"/>
          <p:cNvSpPr txBox="1"/>
          <p:nvPr/>
        </p:nvSpPr>
        <p:spPr>
          <a:xfrm>
            <a:off x="1188720" y="2039112"/>
            <a:ext cx="5212080" cy="548640"/>
          </a:xfrm>
          <a:prstGeom prst="rect">
            <a:avLst/>
          </a:prstGeom>
          <a:noFill/>
        </p:spPr>
        <p:txBody>
          <a:bodyPr wrap="square" lIns="36576" rIns="36576" tIns="18288" bIns="18288" anchor="ctr">
            <a:spAutoFit/>
          </a:bodyPr>
          <a:lstStyle/>
          <a:p>
            <a:pPr algn="l">
              <a:lnSpc>
                <a:spcPct val="105000"/>
              </a:lnSpc>
              <a:spcAft>
                <a:spcPts val="300"/>
              </a:spcAft>
            </a:pPr>
            <a:r>
              <a:rPr sz="1400" b="1" i="0">
                <a:solidFill>
                  <a:srgbClr val="0B2545"/>
                </a:solidFill>
                <a:latin typeface="Consolas"/>
              </a:rPr>
              <a:t>make env  +  docker compose up --build</a:t>
            </a:r>
          </a:p>
        </p:txBody>
      </p:sp>
      <p:sp>
        <p:nvSpPr>
          <p:cNvPr id="12" name="TextBox 11"/>
          <p:cNvSpPr txBox="1"/>
          <p:nvPr/>
        </p:nvSpPr>
        <p:spPr>
          <a:xfrm>
            <a:off x="6492240" y="2039112"/>
            <a:ext cx="512064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dashboard :8080 with the seeded incident</a:t>
            </a:r>
          </a:p>
        </p:txBody>
      </p:sp>
      <p:sp>
        <p:nvSpPr>
          <p:cNvPr id="13" name="node: 3"/>
          <p:cNvSpPr/>
          <p:nvPr/>
        </p:nvSpPr>
        <p:spPr>
          <a:xfrm>
            <a:off x="502920" y="2697480"/>
            <a:ext cx="502920" cy="502920"/>
          </a:xfrm>
          <a:prstGeom prst="roundRect">
            <a:avLst>
              <a:gd name="adj" fmla="val 18181"/>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3</a:t>
            </a:r>
          </a:p>
        </p:txBody>
      </p:sp>
      <p:sp>
        <p:nvSpPr>
          <p:cNvPr id="14" name="TextBox 13"/>
          <p:cNvSpPr txBox="1"/>
          <p:nvPr/>
        </p:nvSpPr>
        <p:spPr>
          <a:xfrm>
            <a:off x="1188720" y="2679192"/>
            <a:ext cx="5212080" cy="548640"/>
          </a:xfrm>
          <a:prstGeom prst="rect">
            <a:avLst/>
          </a:prstGeom>
          <a:noFill/>
        </p:spPr>
        <p:txBody>
          <a:bodyPr wrap="square" lIns="36576" rIns="36576" tIns="18288" bIns="18288" anchor="ctr">
            <a:spAutoFit/>
          </a:bodyPr>
          <a:lstStyle/>
          <a:p>
            <a:pPr algn="l">
              <a:lnSpc>
                <a:spcPct val="105000"/>
              </a:lnSpc>
              <a:spcAft>
                <a:spcPts val="300"/>
              </a:spcAft>
            </a:pPr>
            <a:r>
              <a:rPr sz="1400" b="1" i="0">
                <a:solidFill>
                  <a:srgbClr val="0B2545"/>
                </a:solidFill>
                <a:latin typeface="Calibri"/>
              </a:rPr>
              <a:t>Sign in</a:t>
            </a:r>
          </a:p>
        </p:txBody>
      </p:sp>
      <p:sp>
        <p:nvSpPr>
          <p:cNvPr id="15" name="TextBox 14"/>
          <p:cNvSpPr txBox="1"/>
          <p:nvPr/>
        </p:nvSpPr>
        <p:spPr>
          <a:xfrm>
            <a:off x="6492240" y="2679192"/>
            <a:ext cx="512064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token from .aegis-tokens: viewer, operator, approver, admin</a:t>
            </a:r>
          </a:p>
        </p:txBody>
      </p:sp>
      <p:sp>
        <p:nvSpPr>
          <p:cNvPr id="16" name="node: 4"/>
          <p:cNvSpPr/>
          <p:nvPr/>
        </p:nvSpPr>
        <p:spPr>
          <a:xfrm>
            <a:off x="502920" y="3337559"/>
            <a:ext cx="502920" cy="502920"/>
          </a:xfrm>
          <a:prstGeom prst="roundRect">
            <a:avLst>
              <a:gd name="adj" fmla="val 18181"/>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4</a:t>
            </a:r>
          </a:p>
        </p:txBody>
      </p:sp>
      <p:sp>
        <p:nvSpPr>
          <p:cNvPr id="17" name="TextBox 16"/>
          <p:cNvSpPr txBox="1"/>
          <p:nvPr/>
        </p:nvSpPr>
        <p:spPr>
          <a:xfrm>
            <a:off x="1188720" y="3319271"/>
            <a:ext cx="5212080" cy="548640"/>
          </a:xfrm>
          <a:prstGeom prst="rect">
            <a:avLst/>
          </a:prstGeom>
          <a:noFill/>
        </p:spPr>
        <p:txBody>
          <a:bodyPr wrap="square" lIns="36576" rIns="36576" tIns="18288" bIns="18288" anchor="ctr">
            <a:spAutoFit/>
          </a:bodyPr>
          <a:lstStyle/>
          <a:p>
            <a:pPr algn="l">
              <a:lnSpc>
                <a:spcPct val="105000"/>
              </a:lnSpc>
              <a:spcAft>
                <a:spcPts val="300"/>
              </a:spcAft>
            </a:pPr>
            <a:r>
              <a:rPr sz="1400" b="1" i="0">
                <a:solidFill>
                  <a:srgbClr val="0B2545"/>
                </a:solidFill>
                <a:latin typeface="Calibri"/>
              </a:rPr>
              <a:t>Incidents &gt; INC-2026-001 &gt; Investigate</a:t>
            </a:r>
          </a:p>
        </p:txBody>
      </p:sp>
      <p:sp>
        <p:nvSpPr>
          <p:cNvPr id="18" name="TextBox 17"/>
          <p:cNvSpPr txBox="1"/>
          <p:nvPr/>
        </p:nvSpPr>
        <p:spPr>
          <a:xfrm>
            <a:off x="6492240" y="3319271"/>
            <a:ext cx="512064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RCA with tool-call ids (operator)</a:t>
            </a:r>
          </a:p>
        </p:txBody>
      </p:sp>
      <p:sp>
        <p:nvSpPr>
          <p:cNvPr id="19" name="node: 5"/>
          <p:cNvSpPr/>
          <p:nvPr/>
        </p:nvSpPr>
        <p:spPr>
          <a:xfrm>
            <a:off x="502920" y="3977639"/>
            <a:ext cx="502920" cy="502920"/>
          </a:xfrm>
          <a:prstGeom prst="roundRect">
            <a:avLst>
              <a:gd name="adj" fmla="val 18181"/>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5</a:t>
            </a:r>
          </a:p>
        </p:txBody>
      </p:sp>
      <p:sp>
        <p:nvSpPr>
          <p:cNvPr id="20" name="TextBox 19"/>
          <p:cNvSpPr txBox="1"/>
          <p:nvPr/>
        </p:nvSpPr>
        <p:spPr>
          <a:xfrm>
            <a:off x="1188720" y="3959352"/>
            <a:ext cx="5212080" cy="548640"/>
          </a:xfrm>
          <a:prstGeom prst="rect">
            <a:avLst/>
          </a:prstGeom>
          <a:noFill/>
        </p:spPr>
        <p:txBody>
          <a:bodyPr wrap="square" lIns="36576" rIns="36576" tIns="18288" bIns="18288" anchor="ctr">
            <a:spAutoFit/>
          </a:bodyPr>
          <a:lstStyle/>
          <a:p>
            <a:pPr algn="l">
              <a:lnSpc>
                <a:spcPct val="105000"/>
              </a:lnSpc>
              <a:spcAft>
                <a:spcPts val="300"/>
              </a:spcAft>
            </a:pPr>
            <a:r>
              <a:rPr sz="1400" b="1" i="0">
                <a:solidFill>
                  <a:srgbClr val="0B2545"/>
                </a:solidFill>
                <a:latin typeface="Calibri"/>
              </a:rPr>
              <a:t>AI Reports &gt; Generate</a:t>
            </a:r>
          </a:p>
        </p:txBody>
      </p:sp>
      <p:sp>
        <p:nvSpPr>
          <p:cNvPr id="21" name="TextBox 20"/>
          <p:cNvSpPr txBox="1"/>
          <p:nvPr/>
        </p:nvSpPr>
        <p:spPr>
          <a:xfrm>
            <a:off x="6492240" y="3959352"/>
            <a:ext cx="512064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JSON / Markdown / HTML report (operator)</a:t>
            </a:r>
          </a:p>
        </p:txBody>
      </p:sp>
      <p:sp>
        <p:nvSpPr>
          <p:cNvPr id="22" name="node: 6"/>
          <p:cNvSpPr/>
          <p:nvPr/>
        </p:nvSpPr>
        <p:spPr>
          <a:xfrm>
            <a:off x="502920" y="4617720"/>
            <a:ext cx="502920" cy="502920"/>
          </a:xfrm>
          <a:prstGeom prst="roundRect">
            <a:avLst>
              <a:gd name="adj" fmla="val 18181"/>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6</a:t>
            </a:r>
          </a:p>
        </p:txBody>
      </p:sp>
      <p:sp>
        <p:nvSpPr>
          <p:cNvPr id="23" name="TextBox 22"/>
          <p:cNvSpPr txBox="1"/>
          <p:nvPr/>
        </p:nvSpPr>
        <p:spPr>
          <a:xfrm>
            <a:off x="1188720" y="4599432"/>
            <a:ext cx="5212080" cy="548640"/>
          </a:xfrm>
          <a:prstGeom prst="rect">
            <a:avLst/>
          </a:prstGeom>
          <a:noFill/>
        </p:spPr>
        <p:txBody>
          <a:bodyPr wrap="square" lIns="36576" rIns="36576" tIns="18288" bIns="18288" anchor="ctr">
            <a:spAutoFit/>
          </a:bodyPr>
          <a:lstStyle/>
          <a:p>
            <a:pPr algn="l">
              <a:lnSpc>
                <a:spcPct val="105000"/>
              </a:lnSpc>
              <a:spcAft>
                <a:spcPts val="300"/>
              </a:spcAft>
            </a:pPr>
            <a:r>
              <a:rPr sz="1400" b="1" i="0">
                <a:solidFill>
                  <a:srgbClr val="0B2545"/>
                </a:solidFill>
                <a:latin typeface="Calibri"/>
              </a:rPr>
              <a:t>DevSecOps Agent &gt; run failed_ci</a:t>
            </a:r>
          </a:p>
        </p:txBody>
      </p:sp>
      <p:sp>
        <p:nvSpPr>
          <p:cNvPr id="24" name="TextBox 23"/>
          <p:cNvSpPr txBox="1"/>
          <p:nvPr/>
        </p:nvSpPr>
        <p:spPr>
          <a:xfrm>
            <a:off x="6492240" y="4599432"/>
            <a:ext cx="512064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approve with a different user, then execute</a:t>
            </a:r>
          </a:p>
        </p:txBody>
      </p:sp>
      <p:sp>
        <p:nvSpPr>
          <p:cNvPr id="25" name="node: 7"/>
          <p:cNvSpPr/>
          <p:nvPr/>
        </p:nvSpPr>
        <p:spPr>
          <a:xfrm>
            <a:off x="502920" y="5257799"/>
            <a:ext cx="502920" cy="502920"/>
          </a:xfrm>
          <a:prstGeom prst="roundRect">
            <a:avLst>
              <a:gd name="adj" fmla="val 18181"/>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7</a:t>
            </a:r>
          </a:p>
        </p:txBody>
      </p:sp>
      <p:sp>
        <p:nvSpPr>
          <p:cNvPr id="26" name="TextBox 25"/>
          <p:cNvSpPr txBox="1"/>
          <p:nvPr/>
        </p:nvSpPr>
        <p:spPr>
          <a:xfrm>
            <a:off x="1188720" y="5239512"/>
            <a:ext cx="5212080" cy="548640"/>
          </a:xfrm>
          <a:prstGeom prst="rect">
            <a:avLst/>
          </a:prstGeom>
          <a:noFill/>
        </p:spPr>
        <p:txBody>
          <a:bodyPr wrap="square" lIns="36576" rIns="36576" tIns="18288" bIns="18288" anchor="ctr">
            <a:spAutoFit/>
          </a:bodyPr>
          <a:lstStyle/>
          <a:p>
            <a:pPr algn="l">
              <a:lnSpc>
                <a:spcPct val="105000"/>
              </a:lnSpc>
              <a:spcAft>
                <a:spcPts val="300"/>
              </a:spcAft>
            </a:pPr>
            <a:r>
              <a:rPr sz="1400" b="1" i="0">
                <a:solidFill>
                  <a:srgbClr val="0B2545"/>
                </a:solidFill>
                <a:latin typeface="Calibri"/>
              </a:rPr>
              <a:t>Audit Log &gt; Verify chain</a:t>
            </a:r>
          </a:p>
        </p:txBody>
      </p:sp>
      <p:sp>
        <p:nvSpPr>
          <p:cNvPr id="27" name="TextBox 26"/>
          <p:cNvSpPr txBox="1"/>
          <p:nvPr/>
        </p:nvSpPr>
        <p:spPr>
          <a:xfrm>
            <a:off x="6492240" y="5239512"/>
            <a:ext cx="512064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admin; read proposals, blocks, denials</a:t>
            </a:r>
          </a:p>
        </p:txBody>
      </p:sp>
      <p:sp>
        <p:nvSpPr>
          <p:cNvPr id="28" name="no key"/>
          <p:cNvSpPr/>
          <p:nvPr/>
        </p:nvSpPr>
        <p:spPr>
          <a:xfrm>
            <a:off x="502920" y="5943600"/>
            <a:ext cx="11155680" cy="457200"/>
          </a:xfrm>
          <a:prstGeom prst="roundRect">
            <a:avLst>
              <a:gd name="adj" fmla="val 20000"/>
            </a:avLst>
          </a:prstGeom>
          <a:solidFill>
            <a:srgbClr val="F0FDF4"/>
          </a:solidFill>
          <a:ln w="12700">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961888"/>
            <a:ext cx="10789920" cy="411480"/>
          </a:xfrm>
          <a:prstGeom prst="rect">
            <a:avLst/>
          </a:prstGeom>
          <a:noFill/>
        </p:spPr>
        <p:txBody>
          <a:bodyPr wrap="square" lIns="36576" rIns="36576" tIns="18288" bIns="18288" anchor="ctr">
            <a:spAutoFit/>
          </a:bodyPr>
          <a:lstStyle/>
          <a:p>
            <a:pPr algn="l">
              <a:lnSpc>
                <a:spcPct val="105000"/>
              </a:lnSpc>
              <a:spcAft>
                <a:spcPts val="300"/>
              </a:spcAft>
            </a:pPr>
            <a:r>
              <a:rPr sz="1250" b="1" i="0">
                <a:solidFill>
                  <a:srgbClr val="14532D"/>
                </a:solidFill>
                <a:latin typeface="Calibri"/>
              </a:rPr>
              <a:t>No LLM key needed. </a:t>
            </a:r>
            <a:r>
              <a:rPr sz="1250" b="0" i="0">
                <a:solidFill>
                  <a:srgbClr val="1B2A41"/>
                </a:solidFill>
                <a:latin typeface="Calibri"/>
              </a:rPr>
              <a:t>The mock provider is the default; a missing key or SDK falls back to it and reports why.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STATUS</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What is verified, unverified, simulated or not implemented</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20 / 22</a:t>
            </a:r>
          </a:p>
        </p:txBody>
      </p:sp>
      <p:sp>
        <p:nvSpPr>
          <p:cNvPr id="7" name="Rounded Rectangle 6"/>
          <p:cNvSpPr/>
          <p:nvPr/>
        </p:nvSpPr>
        <p:spPr>
          <a:xfrm>
            <a:off x="502920" y="1417320"/>
            <a:ext cx="2651760" cy="384048"/>
          </a:xfrm>
          <a:prstGeom prst="roundRect">
            <a:avLst>
              <a:gd name="adj" fmla="val 50000"/>
            </a:avLst>
          </a:prstGeom>
          <a:solidFill>
            <a:srgbClr val="DCFCE7"/>
          </a:solidFill>
          <a:ln w="1270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14532D"/>
                </a:solidFill>
                <a:latin typeface="Calibri"/>
              </a:rPr>
              <a:t>VERIFIED</a:t>
            </a:r>
          </a:p>
        </p:txBody>
      </p:sp>
      <p:sp>
        <p:nvSpPr>
          <p:cNvPr id="8" name="column VERIFIED"/>
          <p:cNvSpPr/>
          <p:nvPr/>
        </p:nvSpPr>
        <p:spPr>
          <a:xfrm>
            <a:off x="502920" y="1874519"/>
            <a:ext cx="2651760" cy="3291840"/>
          </a:xfrm>
          <a:prstGeom prst="roundRect">
            <a:avLst>
              <a:gd name="adj" fmla="val 3448"/>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11680"/>
            <a:ext cx="2468880" cy="3108960"/>
          </a:xfrm>
          <a:prstGeom prst="rect">
            <a:avLst/>
          </a:prstGeom>
          <a:noFill/>
        </p:spPr>
        <p:txBody>
          <a:bodyPr wrap="square" lIns="36576" rIns="36576" tIns="18288" bIns="18288" anchor="t">
            <a:spAutoFit/>
          </a:bodyPr>
          <a:lstStyle/>
          <a:p>
            <a:pPr algn="l" marL="182880" indent="-182880">
              <a:lnSpc>
                <a:spcPct val="105000"/>
              </a:lnSpc>
              <a:spcAft>
                <a:spcPts val="400"/>
              </a:spcAft>
              <a:buChar char="•"/>
            </a:pPr>
            <a:r>
              <a:rPr sz="1350" b="0" i="0">
                <a:solidFill>
                  <a:srgbClr val="1B2A41"/>
                </a:solidFill>
                <a:latin typeface="Calibri"/>
              </a:rPr>
              <a:t>C library (tests + sanitizers)</a:t>
            </a:r>
          </a:p>
          <a:p>
            <a:pPr algn="l" marL="182880" indent="-182880">
              <a:lnSpc>
                <a:spcPct val="105000"/>
              </a:lnSpc>
              <a:spcAft>
                <a:spcPts val="400"/>
              </a:spcAft>
              <a:buChar char="•"/>
            </a:pPr>
            <a:r>
              <a:rPr sz="1350" b="0" i="0">
                <a:solidFill>
                  <a:srgbClr val="1B2A41"/>
                </a:solidFill>
                <a:latin typeface="Calibri"/>
              </a:rPr>
              <a:t>ctypes binding and ABI checks</a:t>
            </a:r>
          </a:p>
          <a:p>
            <a:pPr algn="l" marL="182880" indent="-182880">
              <a:lnSpc>
                <a:spcPct val="105000"/>
              </a:lnSpc>
              <a:spcAft>
                <a:spcPts val="400"/>
              </a:spcAft>
              <a:buChar char="•"/>
            </a:pPr>
            <a:r>
              <a:rPr sz="1350" b="0" i="0">
                <a:solidFill>
                  <a:srgbClr val="1B2A41"/>
                </a:solidFill>
                <a:latin typeface="Calibri"/>
              </a:rPr>
              <a:t>detectors, correlation</a:t>
            </a:r>
          </a:p>
          <a:p>
            <a:pPr algn="l" marL="182880" indent="-182880">
              <a:lnSpc>
                <a:spcPct val="105000"/>
              </a:lnSpc>
              <a:spcAft>
                <a:spcPts val="400"/>
              </a:spcAft>
              <a:buChar char="•"/>
            </a:pPr>
            <a:r>
              <a:rPr sz="1350" b="0" i="0">
                <a:solidFill>
                  <a:srgbClr val="1B2A41"/>
                </a:solidFill>
                <a:latin typeface="Calibri"/>
              </a:rPr>
              <a:t>API, RBAC, audit chain</a:t>
            </a:r>
          </a:p>
          <a:p>
            <a:pPr algn="l" marL="182880" indent="-182880">
              <a:lnSpc>
                <a:spcPct val="105000"/>
              </a:lnSpc>
              <a:spcAft>
                <a:spcPts val="400"/>
              </a:spcAft>
              <a:buChar char="•"/>
            </a:pPr>
            <a:r>
              <a:rPr sz="1350" b="0" i="0">
                <a:solidFill>
                  <a:srgbClr val="1B2A41"/>
                </a:solidFill>
                <a:latin typeface="Calibri"/>
              </a:rPr>
              <a:t>agent policy and sandbox</a:t>
            </a:r>
          </a:p>
          <a:p>
            <a:pPr algn="l" marL="182880" indent="-182880">
              <a:lnSpc>
                <a:spcPct val="105000"/>
              </a:lnSpc>
              <a:spcAft>
                <a:spcPts val="400"/>
              </a:spcAft>
              <a:buChar char="•"/>
            </a:pPr>
            <a:r>
              <a:rPr sz="1350" b="0" i="0">
                <a:solidFill>
                  <a:srgbClr val="1B2A41"/>
                </a:solidFill>
                <a:latin typeface="Calibri"/>
              </a:rPr>
              <a:t>offline demo, dashboard tests</a:t>
            </a:r>
          </a:p>
        </p:txBody>
      </p:sp>
      <p:sp>
        <p:nvSpPr>
          <p:cNvPr id="10" name="Rounded Rectangle 9"/>
          <p:cNvSpPr/>
          <p:nvPr/>
        </p:nvSpPr>
        <p:spPr>
          <a:xfrm>
            <a:off x="3337560" y="1417320"/>
            <a:ext cx="2651760" cy="384048"/>
          </a:xfrm>
          <a:prstGeom prst="roundRect">
            <a:avLst>
              <a:gd name="adj" fmla="val 50000"/>
            </a:avLst>
          </a:prstGeom>
          <a:solidFill>
            <a:srgbClr val="FFEDD5"/>
          </a:solidFill>
          <a:ln w="12700">
            <a:solidFill>
              <a:srgbClr val="7C2D1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7C2D12"/>
                </a:solidFill>
                <a:latin typeface="Calibri"/>
              </a:rPr>
              <a:t>UNVERIFIED HERE</a:t>
            </a:r>
          </a:p>
        </p:txBody>
      </p:sp>
      <p:sp>
        <p:nvSpPr>
          <p:cNvPr id="11" name="column UNVERIFIED HERE"/>
          <p:cNvSpPr/>
          <p:nvPr/>
        </p:nvSpPr>
        <p:spPr>
          <a:xfrm>
            <a:off x="3337560" y="1874519"/>
            <a:ext cx="2651760" cy="3291840"/>
          </a:xfrm>
          <a:prstGeom prst="roundRect">
            <a:avLst>
              <a:gd name="adj" fmla="val 3448"/>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8" y="2011680"/>
            <a:ext cx="2468880" cy="3108960"/>
          </a:xfrm>
          <a:prstGeom prst="rect">
            <a:avLst/>
          </a:prstGeom>
          <a:noFill/>
        </p:spPr>
        <p:txBody>
          <a:bodyPr wrap="square" lIns="36576" rIns="36576" tIns="18288" bIns="18288" anchor="t">
            <a:spAutoFit/>
          </a:bodyPr>
          <a:lstStyle/>
          <a:p>
            <a:pPr algn="l" marL="182880" indent="-182880">
              <a:lnSpc>
                <a:spcPct val="105000"/>
              </a:lnSpc>
              <a:spcAft>
                <a:spcPts val="400"/>
              </a:spcAft>
              <a:buChar char="•"/>
            </a:pPr>
            <a:r>
              <a:rPr sz="1350" b="0" i="0">
                <a:solidFill>
                  <a:srgbClr val="1B2A41"/>
                </a:solidFill>
                <a:latin typeface="Calibri"/>
              </a:rPr>
              <a:t>Anthropic, OpenAI, local providers (no key)</a:t>
            </a:r>
          </a:p>
          <a:p>
            <a:pPr algn="l" marL="182880" indent="-182880">
              <a:lnSpc>
                <a:spcPct val="105000"/>
              </a:lnSpc>
              <a:spcAft>
                <a:spcPts val="400"/>
              </a:spcAft>
              <a:buChar char="•"/>
            </a:pPr>
            <a:r>
              <a:rPr sz="1350" b="0" i="0">
                <a:solidFill>
                  <a:srgbClr val="1B2A41"/>
                </a:solidFill>
                <a:latin typeface="Calibri"/>
              </a:rPr>
              <a:t>Docker stack (recorded, not re-run)</a:t>
            </a:r>
          </a:p>
          <a:p>
            <a:pPr algn="l" marL="182880" indent="-182880">
              <a:lnSpc>
                <a:spcPct val="105000"/>
              </a:lnSpc>
              <a:spcAft>
                <a:spcPts val="400"/>
              </a:spcAft>
              <a:buChar char="•"/>
            </a:pPr>
            <a:r>
              <a:rPr sz="1350" b="0" i="0">
                <a:solidFill>
                  <a:srgbClr val="1B2A41"/>
                </a:solidFill>
                <a:latin typeface="Calibri"/>
              </a:rPr>
              <a:t>PostgreSQL migration test (skipped)</a:t>
            </a:r>
          </a:p>
          <a:p>
            <a:pPr algn="l" marL="182880" indent="-182880">
              <a:lnSpc>
                <a:spcPct val="105000"/>
              </a:lnSpc>
              <a:spcAft>
                <a:spcPts val="400"/>
              </a:spcAft>
              <a:buChar char="•"/>
            </a:pPr>
            <a:r>
              <a:rPr sz="1350" b="0" i="0">
                <a:solidFill>
                  <a:srgbClr val="1B2A41"/>
                </a:solidFill>
                <a:latin typeface="Calibri"/>
              </a:rPr>
              <a:t>live Redis test (skipped)</a:t>
            </a:r>
          </a:p>
          <a:p>
            <a:pPr algn="l" marL="182880" indent="-182880">
              <a:lnSpc>
                <a:spcPct val="105000"/>
              </a:lnSpc>
              <a:spcAft>
                <a:spcPts val="400"/>
              </a:spcAft>
              <a:buChar char="•"/>
            </a:pPr>
            <a:r>
              <a:rPr sz="1350" b="0" i="0">
                <a:solidFill>
                  <a:srgbClr val="1B2A41"/>
                </a:solidFill>
                <a:latin typeface="Calibri"/>
              </a:rPr>
              <a:t>py-test-asan (recorded)</a:t>
            </a:r>
          </a:p>
        </p:txBody>
      </p:sp>
      <p:sp>
        <p:nvSpPr>
          <p:cNvPr id="13" name="Rounded Rectangle 12"/>
          <p:cNvSpPr/>
          <p:nvPr/>
        </p:nvSpPr>
        <p:spPr>
          <a:xfrm>
            <a:off x="6172200" y="1417320"/>
            <a:ext cx="2651760" cy="384048"/>
          </a:xfrm>
          <a:prstGeom prst="roundRect">
            <a:avLst>
              <a:gd name="adj" fmla="val 50000"/>
            </a:avLst>
          </a:prstGeom>
          <a:solidFill>
            <a:srgbClr val="EDE9FE"/>
          </a:solidFill>
          <a:ln w="12700">
            <a:solidFill>
              <a:srgbClr val="4C1D9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4C1D95"/>
                </a:solidFill>
                <a:latin typeface="Calibri"/>
              </a:rPr>
              <a:t>SIMULATED</a:t>
            </a:r>
          </a:p>
        </p:txBody>
      </p:sp>
      <p:sp>
        <p:nvSpPr>
          <p:cNvPr id="14" name="column SIMULATED"/>
          <p:cNvSpPr/>
          <p:nvPr/>
        </p:nvSpPr>
        <p:spPr>
          <a:xfrm>
            <a:off x="6172200" y="1874519"/>
            <a:ext cx="2651760" cy="3291840"/>
          </a:xfrm>
          <a:prstGeom prst="roundRect">
            <a:avLst>
              <a:gd name="adj" fmla="val 3448"/>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81928" y="2011680"/>
            <a:ext cx="2468880" cy="3108960"/>
          </a:xfrm>
          <a:prstGeom prst="rect">
            <a:avLst/>
          </a:prstGeom>
          <a:noFill/>
        </p:spPr>
        <p:txBody>
          <a:bodyPr wrap="square" lIns="36576" rIns="36576" tIns="18288" bIns="18288" anchor="t">
            <a:spAutoFit/>
          </a:bodyPr>
          <a:lstStyle/>
          <a:p>
            <a:pPr algn="l" marL="182880" indent="-182880">
              <a:lnSpc>
                <a:spcPct val="105000"/>
              </a:lnSpc>
              <a:spcAft>
                <a:spcPts val="400"/>
              </a:spcAft>
              <a:buChar char="•"/>
            </a:pPr>
            <a:r>
              <a:rPr sz="1350" b="0" i="0">
                <a:solidFill>
                  <a:srgbClr val="1B2A41"/>
                </a:solidFill>
                <a:latin typeface="Calibri"/>
              </a:rPr>
              <a:t>all telemetry, CDRs, events</a:t>
            </a:r>
          </a:p>
          <a:p>
            <a:pPr algn="l" marL="182880" indent="-182880">
              <a:lnSpc>
                <a:spcPct val="105000"/>
              </a:lnSpc>
              <a:spcAft>
                <a:spcPts val="400"/>
              </a:spcAft>
              <a:buChar char="•"/>
            </a:pPr>
            <a:r>
              <a:rPr sz="1350" b="0" i="0">
                <a:solidFill>
                  <a:srgbClr val="1B2A41"/>
                </a:solidFill>
                <a:latin typeface="Calibri"/>
              </a:rPr>
              <a:t>incidents and deployments</a:t>
            </a:r>
          </a:p>
          <a:p>
            <a:pPr algn="l" marL="182880" indent="-182880">
              <a:lnSpc>
                <a:spcPct val="105000"/>
              </a:lnSpc>
              <a:spcAft>
                <a:spcPts val="400"/>
              </a:spcAft>
              <a:buChar char="•"/>
            </a:pPr>
            <a:r>
              <a:rPr sz="1350" b="0" i="0">
                <a:solidFill>
                  <a:srgbClr val="1B2A41"/>
                </a:solidFill>
                <a:latin typeface="Calibri"/>
              </a:rPr>
              <a:t>DEMO-CVE advisories</a:t>
            </a:r>
          </a:p>
          <a:p>
            <a:pPr algn="l" marL="182880" indent="-182880">
              <a:lnSpc>
                <a:spcPct val="105000"/>
              </a:lnSpc>
              <a:spcAft>
                <a:spcPts val="400"/>
              </a:spcAft>
              <a:buChar char="•"/>
            </a:pPr>
            <a:r>
              <a:rPr sz="1350" b="0" i="0">
                <a:solidFill>
                  <a:srgbClr val="1B2A41"/>
                </a:solidFill>
                <a:latin typeface="Calibri"/>
              </a:rPr>
              <a:t>production rollback</a:t>
            </a:r>
          </a:p>
          <a:p>
            <a:pPr algn="l" marL="182880" indent="-182880">
              <a:lnSpc>
                <a:spcPct val="105000"/>
              </a:lnSpc>
              <a:spcAft>
                <a:spcPts val="400"/>
              </a:spcAft>
              <a:buChar char="•"/>
            </a:pPr>
            <a:r>
              <a:rPr sz="1350" b="0" i="0">
                <a:solidFill>
                  <a:srgbClr val="1B2A41"/>
                </a:solidFill>
                <a:latin typeface="Calibri"/>
              </a:rPr>
              <a:t>mock provider as the "LLM"</a:t>
            </a:r>
          </a:p>
        </p:txBody>
      </p:sp>
      <p:sp>
        <p:nvSpPr>
          <p:cNvPr id="16" name="Rounded Rectangle 15"/>
          <p:cNvSpPr/>
          <p:nvPr/>
        </p:nvSpPr>
        <p:spPr>
          <a:xfrm>
            <a:off x="9006840" y="1417320"/>
            <a:ext cx="2651760" cy="384048"/>
          </a:xfrm>
          <a:prstGeom prst="roundRect">
            <a:avLst>
              <a:gd name="adj" fmla="val 50000"/>
            </a:avLst>
          </a:prstGeom>
          <a:solidFill>
            <a:srgbClr val="FEE2E2"/>
          </a:solidFill>
          <a:ln w="12700">
            <a:solidFill>
              <a:srgbClr val="7F1D1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7F1D1D"/>
                </a:solidFill>
                <a:latin typeface="Calibri"/>
              </a:rPr>
              <a:t>NOT IMPLEMENTED</a:t>
            </a:r>
          </a:p>
        </p:txBody>
      </p:sp>
      <p:sp>
        <p:nvSpPr>
          <p:cNvPr id="17" name="column NOT IMPLEMENTED"/>
          <p:cNvSpPr/>
          <p:nvPr/>
        </p:nvSpPr>
        <p:spPr>
          <a:xfrm>
            <a:off x="9006840" y="1874519"/>
            <a:ext cx="2651760" cy="3291840"/>
          </a:xfrm>
          <a:prstGeom prst="roundRect">
            <a:avLst>
              <a:gd name="adj" fmla="val 3448"/>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16568" y="2011680"/>
            <a:ext cx="2468880" cy="3108960"/>
          </a:xfrm>
          <a:prstGeom prst="rect">
            <a:avLst/>
          </a:prstGeom>
          <a:noFill/>
        </p:spPr>
        <p:txBody>
          <a:bodyPr wrap="square" lIns="36576" rIns="36576" tIns="18288" bIns="18288" anchor="t">
            <a:spAutoFit/>
          </a:bodyPr>
          <a:lstStyle/>
          <a:p>
            <a:pPr algn="l" marL="182880" indent="-182880">
              <a:lnSpc>
                <a:spcPct val="105000"/>
              </a:lnSpc>
              <a:spcAft>
                <a:spcPts val="400"/>
              </a:spcAft>
              <a:buChar char="•"/>
            </a:pPr>
            <a:r>
              <a:rPr sz="1350" b="0" i="0">
                <a:solidFill>
                  <a:srgbClr val="1B2A41"/>
                </a:solidFill>
                <a:latin typeface="Calibri"/>
              </a:rPr>
              <a:t>PDF reports</a:t>
            </a:r>
          </a:p>
          <a:p>
            <a:pPr algn="l" marL="182880" indent="-182880">
              <a:lnSpc>
                <a:spcPct val="105000"/>
              </a:lnSpc>
              <a:spcAft>
                <a:spcPts val="400"/>
              </a:spcAft>
              <a:buChar char="•"/>
            </a:pPr>
            <a:r>
              <a:rPr sz="1350" b="0" i="0">
                <a:solidFill>
                  <a:srgbClr val="1B2A41"/>
                </a:solidFill>
                <a:latin typeface="Calibri"/>
              </a:rPr>
              <a:t>Isolation Forest, DBSCAN</a:t>
            </a:r>
          </a:p>
          <a:p>
            <a:pPr algn="l" marL="182880" indent="-182880">
              <a:lnSpc>
                <a:spcPct val="105000"/>
              </a:lnSpc>
              <a:spcAft>
                <a:spcPts val="400"/>
              </a:spcAft>
              <a:buChar char="•"/>
            </a:pPr>
            <a:r>
              <a:rPr sz="1350" b="0" i="0">
                <a:solidFill>
                  <a:srgbClr val="1B2A41"/>
                </a:solidFill>
                <a:latin typeface="Calibri"/>
              </a:rPr>
              <a:t>OpenTelemetry, Grafana</a:t>
            </a:r>
          </a:p>
          <a:p>
            <a:pPr algn="l" marL="182880" indent="-182880">
              <a:lnSpc>
                <a:spcPct val="105000"/>
              </a:lnSpc>
              <a:spcAft>
                <a:spcPts val="400"/>
              </a:spcAft>
              <a:buChar char="•"/>
            </a:pPr>
            <a:r>
              <a:rPr sz="1350" b="0" i="0">
                <a:solidFill>
                  <a:srgbClr val="1B2A41"/>
                </a:solidFill>
                <a:latin typeface="Calibri"/>
              </a:rPr>
              <a:t>restart_service model</a:t>
            </a:r>
          </a:p>
          <a:p>
            <a:pPr algn="l" marL="182880" indent="-182880">
              <a:lnSpc>
                <a:spcPct val="105000"/>
              </a:lnSpc>
              <a:spcAft>
                <a:spcPts val="400"/>
              </a:spcAft>
              <a:buChar char="•"/>
            </a:pPr>
            <a:r>
              <a:rPr sz="1350" b="0" i="0">
                <a:solidFill>
                  <a:srgbClr val="1B2A41"/>
                </a:solidFill>
                <a:latin typeface="Calibri"/>
              </a:rPr>
              <a:t>TLS, external identity, HA</a:t>
            </a:r>
          </a:p>
          <a:p>
            <a:pPr algn="l" marL="182880" indent="-182880">
              <a:lnSpc>
                <a:spcPct val="105000"/>
              </a:lnSpc>
              <a:spcAft>
                <a:spcPts val="400"/>
              </a:spcAft>
              <a:buChar char="•"/>
            </a:pPr>
            <a:r>
              <a:rPr sz="1350" b="0" i="0">
                <a:solidFill>
                  <a:srgbClr val="1B2A41"/>
                </a:solidFill>
                <a:latin typeface="Calibri"/>
              </a:rPr>
              <a:t>anything on real telemetry</a:t>
            </a:r>
          </a:p>
        </p:txBody>
      </p:sp>
      <p:sp>
        <p:nvSpPr>
          <p:cNvPr id="19" name="source note"/>
          <p:cNvSpPr txBox="1"/>
          <p:nvPr/>
        </p:nvSpPr>
        <p:spPr>
          <a:xfrm>
            <a:off x="502920" y="6035040"/>
            <a:ext cx="11155680" cy="256032"/>
          </a:xfrm>
          <a:prstGeom prst="rect">
            <a:avLst/>
          </a:prstGeom>
          <a:noFill/>
        </p:spPr>
        <p:txBody>
          <a:bodyPr wrap="square" lIns="36576" rIns="36576" tIns="18288" bIns="18288" anchor="t">
            <a:spAutoFit/>
          </a:bodyPr>
          <a:lstStyle/>
          <a:p>
            <a:pPr algn="l">
              <a:lnSpc>
                <a:spcPct val="105000"/>
              </a:lnSpc>
              <a:spcAft>
                <a:spcPts val="300"/>
              </a:spcAft>
            </a:pPr>
            <a:r>
              <a:rPr sz="950" b="0" i="1">
                <a:solidFill>
                  <a:srgbClr val="5B6B7F"/>
                </a:solidFill>
                <a:latin typeface="Calibri"/>
              </a:rPr>
              <a:t>Each item traces to a test, a command in Appendix B of the handbook, or a recorded result in IMPLEMENTATION_PLAN.md.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FUTURE WORK</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Priorities for closing the largest gaps</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21 / 22</a:t>
            </a:r>
          </a:p>
        </p:txBody>
      </p:sp>
      <p:sp>
        <p:nvSpPr>
          <p:cNvPr id="7" name="node: 1"/>
          <p:cNvSpPr/>
          <p:nvPr/>
        </p:nvSpPr>
        <p:spPr>
          <a:xfrm>
            <a:off x="502920" y="1417320"/>
            <a:ext cx="502920" cy="502920"/>
          </a:xfrm>
          <a:prstGeom prst="roundRect">
            <a:avLst>
              <a:gd name="adj" fmla="val 18181"/>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1</a:t>
            </a:r>
          </a:p>
        </p:txBody>
      </p:sp>
      <p:sp>
        <p:nvSpPr>
          <p:cNvPr id="8" name="TextBox 7"/>
          <p:cNvSpPr txBox="1"/>
          <p:nvPr/>
        </p:nvSpPr>
        <p:spPr>
          <a:xfrm>
            <a:off x="1188720" y="1399032"/>
            <a:ext cx="5852160" cy="548640"/>
          </a:xfrm>
          <a:prstGeom prst="rect">
            <a:avLst/>
          </a:prstGeom>
          <a:noFill/>
        </p:spPr>
        <p:txBody>
          <a:bodyPr wrap="square" lIns="36576" rIns="36576" tIns="18288" bIns="18288" anchor="ctr">
            <a:spAutoFit/>
          </a:bodyPr>
          <a:lstStyle/>
          <a:p>
            <a:pPr algn="l">
              <a:lnSpc>
                <a:spcPct val="105000"/>
              </a:lnSpc>
              <a:spcAft>
                <a:spcPts val="300"/>
              </a:spcAft>
            </a:pPr>
            <a:r>
              <a:rPr sz="1500" b="1" i="0">
                <a:solidFill>
                  <a:srgbClr val="0B2545"/>
                </a:solidFill>
                <a:latin typeface="Calibri"/>
              </a:rPr>
              <a:t>Scored live-LLM RCA evaluation</a:t>
            </a:r>
          </a:p>
        </p:txBody>
      </p:sp>
      <p:sp>
        <p:nvSpPr>
          <p:cNvPr id="9" name="TextBox 8"/>
          <p:cNvSpPr txBox="1"/>
          <p:nvPr/>
        </p:nvSpPr>
        <p:spPr>
          <a:xfrm>
            <a:off x="7132320" y="1399032"/>
            <a:ext cx="457200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largest unverified claim; include adversarial log lines</a:t>
            </a:r>
          </a:p>
        </p:txBody>
      </p:sp>
      <p:sp>
        <p:nvSpPr>
          <p:cNvPr id="10" name="node: 2"/>
          <p:cNvSpPr/>
          <p:nvPr/>
        </p:nvSpPr>
        <p:spPr>
          <a:xfrm>
            <a:off x="502920" y="2057400"/>
            <a:ext cx="502920" cy="502920"/>
          </a:xfrm>
          <a:prstGeom prst="roundRect">
            <a:avLst>
              <a:gd name="adj" fmla="val 18181"/>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2</a:t>
            </a:r>
          </a:p>
        </p:txBody>
      </p:sp>
      <p:sp>
        <p:nvSpPr>
          <p:cNvPr id="11" name="TextBox 10"/>
          <p:cNvSpPr txBox="1"/>
          <p:nvPr/>
        </p:nvSpPr>
        <p:spPr>
          <a:xfrm>
            <a:off x="1188720" y="2039112"/>
            <a:ext cx="5852160" cy="548640"/>
          </a:xfrm>
          <a:prstGeom prst="rect">
            <a:avLst/>
          </a:prstGeom>
          <a:noFill/>
        </p:spPr>
        <p:txBody>
          <a:bodyPr wrap="square" lIns="36576" rIns="36576" tIns="18288" bIns="18288" anchor="ctr">
            <a:spAutoFit/>
          </a:bodyPr>
          <a:lstStyle/>
          <a:p>
            <a:pPr algn="l">
              <a:lnSpc>
                <a:spcPct val="105000"/>
              </a:lnSpc>
              <a:spcAft>
                <a:spcPts val="300"/>
              </a:spcAft>
            </a:pPr>
            <a:r>
              <a:rPr sz="1500" b="1" i="0">
                <a:solidFill>
                  <a:srgbClr val="0B2545"/>
                </a:solidFill>
                <a:latin typeface="Calibri"/>
              </a:rPr>
              <a:t>Validate on recorded, anonymised telemetry</a:t>
            </a:r>
          </a:p>
        </p:txBody>
      </p:sp>
      <p:sp>
        <p:nvSpPr>
          <p:cNvPr id="12" name="TextBox 11"/>
          <p:cNvSpPr txBox="1"/>
          <p:nvPr/>
        </p:nvSpPr>
        <p:spPr>
          <a:xfrm>
            <a:off x="7132320" y="2039112"/>
            <a:ext cx="457200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measure precision and recall outside the simulator</a:t>
            </a:r>
          </a:p>
        </p:txBody>
      </p:sp>
      <p:sp>
        <p:nvSpPr>
          <p:cNvPr id="13" name="node: 3"/>
          <p:cNvSpPr/>
          <p:nvPr/>
        </p:nvSpPr>
        <p:spPr>
          <a:xfrm>
            <a:off x="502920" y="2697480"/>
            <a:ext cx="502920" cy="502920"/>
          </a:xfrm>
          <a:prstGeom prst="roundRect">
            <a:avLst>
              <a:gd name="adj" fmla="val 18181"/>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3</a:t>
            </a:r>
          </a:p>
        </p:txBody>
      </p:sp>
      <p:sp>
        <p:nvSpPr>
          <p:cNvPr id="14" name="TextBox 13"/>
          <p:cNvSpPr txBox="1"/>
          <p:nvPr/>
        </p:nvSpPr>
        <p:spPr>
          <a:xfrm>
            <a:off x="1188720" y="2679192"/>
            <a:ext cx="5852160" cy="548640"/>
          </a:xfrm>
          <a:prstGeom prst="rect">
            <a:avLst/>
          </a:prstGeom>
          <a:noFill/>
        </p:spPr>
        <p:txBody>
          <a:bodyPr wrap="square" lIns="36576" rIns="36576" tIns="18288" bIns="18288" anchor="ctr">
            <a:spAutoFit/>
          </a:bodyPr>
          <a:lstStyle/>
          <a:p>
            <a:pPr algn="l">
              <a:lnSpc>
                <a:spcPct val="105000"/>
              </a:lnSpc>
              <a:spcAft>
                <a:spcPts val="300"/>
              </a:spcAft>
            </a:pPr>
            <a:r>
              <a:rPr sz="1500" b="1" i="0">
                <a:solidFill>
                  <a:srgbClr val="0B2545"/>
                </a:solidFill>
                <a:latin typeface="Calibri"/>
              </a:rPr>
              <a:t>Asynchronous pipeline and agent runs</a:t>
            </a:r>
          </a:p>
        </p:txBody>
      </p:sp>
      <p:sp>
        <p:nvSpPr>
          <p:cNvPr id="15" name="TextBox 14"/>
          <p:cNvSpPr txBox="1"/>
          <p:nvPr/>
        </p:nvSpPr>
        <p:spPr>
          <a:xfrm>
            <a:off x="7132320" y="2679192"/>
            <a:ext cx="457200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requests return immediately; job queue</a:t>
            </a:r>
          </a:p>
        </p:txBody>
      </p:sp>
      <p:sp>
        <p:nvSpPr>
          <p:cNvPr id="16" name="node: 4"/>
          <p:cNvSpPr/>
          <p:nvPr/>
        </p:nvSpPr>
        <p:spPr>
          <a:xfrm>
            <a:off x="502920" y="3337559"/>
            <a:ext cx="502920" cy="502920"/>
          </a:xfrm>
          <a:prstGeom prst="roundRect">
            <a:avLst>
              <a:gd name="adj" fmla="val 18181"/>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4</a:t>
            </a:r>
          </a:p>
        </p:txBody>
      </p:sp>
      <p:sp>
        <p:nvSpPr>
          <p:cNvPr id="17" name="TextBox 16"/>
          <p:cNvSpPr txBox="1"/>
          <p:nvPr/>
        </p:nvSpPr>
        <p:spPr>
          <a:xfrm>
            <a:off x="1188720" y="3319271"/>
            <a:ext cx="5852160" cy="548640"/>
          </a:xfrm>
          <a:prstGeom prst="rect">
            <a:avLst/>
          </a:prstGeom>
          <a:noFill/>
        </p:spPr>
        <p:txBody>
          <a:bodyPr wrap="square" lIns="36576" rIns="36576" tIns="18288" bIns="18288" anchor="ctr">
            <a:spAutoFit/>
          </a:bodyPr>
          <a:lstStyle/>
          <a:p>
            <a:pPr algn="l">
              <a:lnSpc>
                <a:spcPct val="105000"/>
              </a:lnSpc>
              <a:spcAft>
                <a:spcPts val="300"/>
              </a:spcAft>
            </a:pPr>
            <a:r>
              <a:rPr sz="1500" b="1" i="0">
                <a:solidFill>
                  <a:srgbClr val="0B2545"/>
                </a:solidFill>
                <a:latin typeface="Calibri"/>
              </a:rPr>
              <a:t>Seasonal baselines + a model-based detector</a:t>
            </a:r>
          </a:p>
        </p:txBody>
      </p:sp>
      <p:sp>
        <p:nvSpPr>
          <p:cNvPr id="18" name="TextBox 17"/>
          <p:cNvSpPr txBox="1"/>
          <p:nvPr/>
        </p:nvSpPr>
        <p:spPr>
          <a:xfrm>
            <a:off x="7132320" y="3319271"/>
            <a:ext cx="457200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keep interpretable explanations beside it</a:t>
            </a:r>
          </a:p>
        </p:txBody>
      </p:sp>
      <p:sp>
        <p:nvSpPr>
          <p:cNvPr id="19" name="node: 5"/>
          <p:cNvSpPr/>
          <p:nvPr/>
        </p:nvSpPr>
        <p:spPr>
          <a:xfrm>
            <a:off x="502920" y="3977639"/>
            <a:ext cx="502920" cy="502920"/>
          </a:xfrm>
          <a:prstGeom prst="roundRect">
            <a:avLst>
              <a:gd name="adj" fmla="val 18181"/>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5</a:t>
            </a:r>
          </a:p>
        </p:txBody>
      </p:sp>
      <p:sp>
        <p:nvSpPr>
          <p:cNvPr id="20" name="TextBox 19"/>
          <p:cNvSpPr txBox="1"/>
          <p:nvPr/>
        </p:nvSpPr>
        <p:spPr>
          <a:xfrm>
            <a:off x="1188720" y="3959352"/>
            <a:ext cx="5852160" cy="548640"/>
          </a:xfrm>
          <a:prstGeom prst="rect">
            <a:avLst/>
          </a:prstGeom>
          <a:noFill/>
        </p:spPr>
        <p:txBody>
          <a:bodyPr wrap="square" lIns="36576" rIns="36576" tIns="18288" bIns="18288" anchor="ctr">
            <a:spAutoFit/>
          </a:bodyPr>
          <a:lstStyle/>
          <a:p>
            <a:pPr algn="l">
              <a:lnSpc>
                <a:spcPct val="105000"/>
              </a:lnSpc>
              <a:spcAft>
                <a:spcPts val="300"/>
              </a:spcAft>
            </a:pPr>
            <a:r>
              <a:rPr sz="1500" b="1" i="0">
                <a:solidFill>
                  <a:srgbClr val="0B2545"/>
                </a:solidFill>
                <a:latin typeface="Calibri"/>
              </a:rPr>
              <a:t>OIDC, TLS, secret manager, anchored audit head</a:t>
            </a:r>
          </a:p>
        </p:txBody>
      </p:sp>
      <p:sp>
        <p:nvSpPr>
          <p:cNvPr id="21" name="TextBox 20"/>
          <p:cNvSpPr txBox="1"/>
          <p:nvPr/>
        </p:nvSpPr>
        <p:spPr>
          <a:xfrm>
            <a:off x="7132320" y="3959352"/>
            <a:ext cx="457200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close the production security gaps</a:t>
            </a:r>
          </a:p>
        </p:txBody>
      </p:sp>
      <p:sp>
        <p:nvSpPr>
          <p:cNvPr id="22" name="node: 6"/>
          <p:cNvSpPr/>
          <p:nvPr/>
        </p:nvSpPr>
        <p:spPr>
          <a:xfrm>
            <a:off x="502920" y="4617720"/>
            <a:ext cx="502920" cy="502920"/>
          </a:xfrm>
          <a:prstGeom prst="roundRect">
            <a:avLst>
              <a:gd name="adj" fmla="val 18181"/>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6</a:t>
            </a:r>
          </a:p>
        </p:txBody>
      </p:sp>
      <p:sp>
        <p:nvSpPr>
          <p:cNvPr id="23" name="TextBox 22"/>
          <p:cNvSpPr txBox="1"/>
          <p:nvPr/>
        </p:nvSpPr>
        <p:spPr>
          <a:xfrm>
            <a:off x="1188720" y="4599432"/>
            <a:ext cx="5852160" cy="548640"/>
          </a:xfrm>
          <a:prstGeom prst="rect">
            <a:avLst/>
          </a:prstGeom>
          <a:noFill/>
        </p:spPr>
        <p:txBody>
          <a:bodyPr wrap="square" lIns="36576" rIns="36576" tIns="18288" bIns="18288" anchor="ctr">
            <a:spAutoFit/>
          </a:bodyPr>
          <a:lstStyle/>
          <a:p>
            <a:pPr algn="l">
              <a:lnSpc>
                <a:spcPct val="105000"/>
              </a:lnSpc>
              <a:spcAft>
                <a:spcPts val="300"/>
              </a:spcAft>
            </a:pPr>
            <a:r>
              <a:rPr sz="1500" b="1" i="0">
                <a:solidFill>
                  <a:srgbClr val="0B2545"/>
                </a:solidFill>
                <a:latin typeface="Calibri"/>
              </a:rPr>
              <a:t>Patches beyond reverts, real CI hooks</a:t>
            </a:r>
          </a:p>
        </p:txBody>
      </p:sp>
      <p:sp>
        <p:nvSpPr>
          <p:cNvPr id="24" name="TextBox 23"/>
          <p:cNvSpPr txBox="1"/>
          <p:nvPr/>
        </p:nvSpPr>
        <p:spPr>
          <a:xfrm>
            <a:off x="7132320" y="4599432"/>
            <a:ext cx="457200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validated in the sandbox</a:t>
            </a:r>
          </a:p>
        </p:txBody>
      </p:sp>
      <p:sp>
        <p:nvSpPr>
          <p:cNvPr id="25" name="node: 7"/>
          <p:cNvSpPr/>
          <p:nvPr/>
        </p:nvSpPr>
        <p:spPr>
          <a:xfrm>
            <a:off x="502920" y="5257799"/>
            <a:ext cx="502920" cy="502920"/>
          </a:xfrm>
          <a:prstGeom prst="roundRect">
            <a:avLst>
              <a:gd name="adj" fmla="val 18181"/>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B2A41"/>
                </a:solidFill>
                <a:latin typeface="Calibri"/>
              </a:rPr>
              <a:t>7</a:t>
            </a:r>
          </a:p>
        </p:txBody>
      </p:sp>
      <p:sp>
        <p:nvSpPr>
          <p:cNvPr id="26" name="TextBox 25"/>
          <p:cNvSpPr txBox="1"/>
          <p:nvPr/>
        </p:nvSpPr>
        <p:spPr>
          <a:xfrm>
            <a:off x="1188720" y="5239512"/>
            <a:ext cx="5852160" cy="548640"/>
          </a:xfrm>
          <a:prstGeom prst="rect">
            <a:avLst/>
          </a:prstGeom>
          <a:noFill/>
        </p:spPr>
        <p:txBody>
          <a:bodyPr wrap="square" lIns="36576" rIns="36576" tIns="18288" bIns="18288" anchor="ctr">
            <a:spAutoFit/>
          </a:bodyPr>
          <a:lstStyle/>
          <a:p>
            <a:pPr algn="l">
              <a:lnSpc>
                <a:spcPct val="105000"/>
              </a:lnSpc>
              <a:spcAft>
                <a:spcPts val="300"/>
              </a:spcAft>
            </a:pPr>
            <a:r>
              <a:rPr sz="1500" b="1" i="0">
                <a:solidFill>
                  <a:srgbClr val="0B2545"/>
                </a:solidFill>
                <a:latin typeface="Calibri"/>
              </a:rPr>
              <a:t>OpenTelemetry traces</a:t>
            </a:r>
          </a:p>
        </p:txBody>
      </p:sp>
      <p:sp>
        <p:nvSpPr>
          <p:cNvPr id="27" name="TextBox 26"/>
          <p:cNvSpPr txBox="1"/>
          <p:nvPr/>
        </p:nvSpPr>
        <p:spPr>
          <a:xfrm>
            <a:off x="7132320" y="5239512"/>
            <a:ext cx="4572000" cy="548640"/>
          </a:xfrm>
          <a:prstGeom prst="rect">
            <a:avLst/>
          </a:prstGeom>
          <a:noFill/>
        </p:spPr>
        <p:txBody>
          <a:bodyPr wrap="square" lIns="36576" rIns="36576" tIns="18288" bIns="18288" anchor="ctr">
            <a:spAutoFit/>
          </a:bodyPr>
          <a:lstStyle/>
          <a:p>
            <a:pPr algn="l">
              <a:lnSpc>
                <a:spcPct val="105000"/>
              </a:lnSpc>
              <a:spcAft>
                <a:spcPts val="300"/>
              </a:spcAft>
            </a:pPr>
            <a:r>
              <a:rPr sz="1300" b="0" i="0">
                <a:solidFill>
                  <a:srgbClr val="1B2A41"/>
                </a:solidFill>
                <a:latin typeface="Calibri"/>
              </a:rPr>
              <a:t>API, RCA and agent</a:t>
            </a:r>
          </a:p>
        </p:txBody>
      </p:sp>
      <p:sp>
        <p:nvSpPr>
          <p:cNvPr id="28" name="Rounded Rectangle 27"/>
          <p:cNvSpPr/>
          <p:nvPr/>
        </p:nvSpPr>
        <p:spPr>
          <a:xfrm>
            <a:off x="502920" y="5989320"/>
            <a:ext cx="2011680" cy="274320"/>
          </a:xfrm>
          <a:prstGeom prst="roundRect">
            <a:avLst>
              <a:gd name="adj" fmla="val 50000"/>
            </a:avLst>
          </a:prstGeom>
          <a:solidFill>
            <a:srgbClr val="FEE2E2"/>
          </a:solidFill>
          <a:ln w="12700">
            <a:solidFill>
              <a:srgbClr val="7F1D1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050" b="1">
                <a:solidFill>
                  <a:srgbClr val="7F1D1D"/>
                </a:solidFill>
                <a:latin typeface="Calibri"/>
              </a:rPr>
              <a:t>RECOMMENDATIONS ONLY</a:t>
            </a:r>
          </a:p>
        </p:txBody>
      </p:sp>
      <p:sp>
        <p:nvSpPr>
          <p:cNvPr id="29" name="TextBox 28"/>
          <p:cNvSpPr txBox="1"/>
          <p:nvPr/>
        </p:nvSpPr>
        <p:spPr>
          <a:xfrm>
            <a:off x="2651760" y="5961888"/>
            <a:ext cx="8686800" cy="365760"/>
          </a:xfrm>
          <a:prstGeom prst="rect">
            <a:avLst/>
          </a:prstGeom>
          <a:noFill/>
        </p:spPr>
        <p:txBody>
          <a:bodyPr wrap="square" lIns="36576" rIns="36576" tIns="18288" bIns="18288" anchor="t">
            <a:spAutoFit/>
          </a:bodyPr>
          <a:lstStyle/>
          <a:p>
            <a:pPr algn="l">
              <a:lnSpc>
                <a:spcPct val="105000"/>
              </a:lnSpc>
              <a:spcAft>
                <a:spcPts val="300"/>
              </a:spcAft>
            </a:pPr>
            <a:r>
              <a:rPr sz="1250" b="0" i="0">
                <a:solidFill>
                  <a:srgbClr val="5B6B7F"/>
                </a:solidFill>
                <a:latin typeface="Calibri"/>
              </a:rPr>
              <a:t>None of these exists in the repository today.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op bar"/>
          <p:cNvSpPr/>
          <p:nvPr/>
        </p:nvSpPr>
        <p:spPr>
          <a:xfrm>
            <a:off x="0" y="0"/>
            <a:ext cx="12191695" cy="1097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txBox="1"/>
          <p:nvPr/>
        </p:nvSpPr>
        <p:spPr>
          <a:xfrm>
            <a:off x="502920" y="274320"/>
            <a:ext cx="8229600" cy="274320"/>
          </a:xfrm>
          <a:prstGeom prst="rect">
            <a:avLst/>
          </a:prstGeom>
          <a:noFill/>
        </p:spPr>
        <p:txBody>
          <a:bodyPr wrap="square" lIns="36576" rIns="36576" tIns="18288" bIns="18288" anchor="t">
            <a:spAutoFit/>
          </a:bodyPr>
          <a:lstStyle/>
          <a:p>
            <a:pPr algn="l">
              <a:lnSpc>
                <a:spcPct val="105000"/>
              </a:lnSpc>
              <a:spcAft>
                <a:spcPts val="300"/>
              </a:spcAft>
            </a:pPr>
            <a:r>
              <a:rPr sz="1100" b="1" i="0">
                <a:solidFill>
                  <a:srgbClr val="1D4ED8"/>
                </a:solidFill>
                <a:latin typeface="Calibri"/>
              </a:rPr>
              <a:t>TAKEAWAYS</a:t>
            </a:r>
          </a:p>
        </p:txBody>
      </p:sp>
      <p:sp>
        <p:nvSpPr>
          <p:cNvPr id="4" name="title"/>
          <p:cNvSpPr txBox="1"/>
          <p:nvPr/>
        </p:nvSpPr>
        <p:spPr>
          <a:xfrm>
            <a:off x="502920" y="530352"/>
            <a:ext cx="11155680" cy="731520"/>
          </a:xfrm>
          <a:prstGeom prst="rect">
            <a:avLst/>
          </a:prstGeom>
          <a:noFill/>
        </p:spPr>
        <p:txBody>
          <a:bodyPr wrap="square" lIns="36576" rIns="36576" tIns="18288" bIns="18288" anchor="t">
            <a:spAutoFit/>
          </a:bodyPr>
          <a:lstStyle/>
          <a:p>
            <a:pPr algn="l">
              <a:lnSpc>
                <a:spcPct val="95000"/>
              </a:lnSpc>
              <a:spcAft>
                <a:spcPts val="300"/>
              </a:spcAft>
            </a:pPr>
            <a:r>
              <a:rPr sz="2600" b="1" i="0">
                <a:solidFill>
                  <a:srgbClr val="0B2545"/>
                </a:solidFill>
                <a:latin typeface="Calibri"/>
              </a:rPr>
              <a:t>Evidence-grounded, policy-controlled, and honest about limits</a:t>
            </a:r>
          </a:p>
        </p:txBody>
      </p:sp>
      <p:sp>
        <p:nvSpPr>
          <p:cNvPr id="5" name="footer"/>
          <p:cNvSpPr txBox="1"/>
          <p:nvPr/>
        </p:nvSpPr>
        <p:spPr>
          <a:xfrm>
            <a:off x="502920" y="6473952"/>
            <a:ext cx="8686800" cy="274320"/>
          </a:xfrm>
          <a:prstGeom prst="rect">
            <a:avLst/>
          </a:prstGeom>
          <a:noFill/>
        </p:spPr>
        <p:txBody>
          <a:bodyPr wrap="square" lIns="36576" rIns="36576" tIns="18288" bIns="18288" anchor="t">
            <a:spAutoFit/>
          </a:bodyPr>
          <a:lstStyle/>
          <a:p>
            <a:pPr algn="l">
              <a:lnSpc>
                <a:spcPct val="105000"/>
              </a:lnSpc>
              <a:spcAft>
                <a:spcPts val="300"/>
              </a:spcAft>
            </a:pPr>
            <a:r>
              <a:rPr sz="950" b="0" i="0">
                <a:solidFill>
                  <a:srgbClr val="5B6B7F"/>
                </a:solidFill>
                <a:latin typeface="Calibri"/>
              </a:rPr>
              <a:t>Aegis-Net technical walkthrough - all data is synthetic; prototype, not production</a:t>
            </a:r>
          </a:p>
        </p:txBody>
      </p:sp>
      <p:sp>
        <p:nvSpPr>
          <p:cNvPr id="6" name="slide number"/>
          <p:cNvSpPr txBox="1"/>
          <p:nvPr/>
        </p:nvSpPr>
        <p:spPr>
          <a:xfrm>
            <a:off x="10424160" y="6473952"/>
            <a:ext cx="1280160" cy="274320"/>
          </a:xfrm>
          <a:prstGeom prst="rect">
            <a:avLst/>
          </a:prstGeom>
          <a:noFill/>
        </p:spPr>
        <p:txBody>
          <a:bodyPr wrap="square" lIns="36576" rIns="36576" tIns="18288" bIns="18288" anchor="t">
            <a:spAutoFit/>
          </a:bodyPr>
          <a:lstStyle/>
          <a:p>
            <a:pPr algn="r">
              <a:lnSpc>
                <a:spcPct val="105000"/>
              </a:lnSpc>
              <a:spcAft>
                <a:spcPts val="300"/>
              </a:spcAft>
            </a:pPr>
            <a:r>
              <a:rPr sz="950" b="0" i="0">
                <a:solidFill>
                  <a:srgbClr val="5B6B7F"/>
                </a:solidFill>
                <a:latin typeface="Calibri"/>
              </a:rPr>
              <a:t>22 / 22</a:t>
            </a:r>
          </a:p>
        </p:txBody>
      </p:sp>
      <p:sp>
        <p:nvSpPr>
          <p:cNvPr id="7" name="takeaway 1"/>
          <p:cNvSpPr/>
          <p:nvPr/>
        </p:nvSpPr>
        <p:spPr>
          <a:xfrm>
            <a:off x="502920" y="1463040"/>
            <a:ext cx="11155680" cy="804672"/>
          </a:xfrm>
          <a:prstGeom prst="roundRect">
            <a:avLst>
              <a:gd name="adj" fmla="val 11363"/>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 1"/>
          <p:cNvSpPr/>
          <p:nvPr/>
        </p:nvSpPr>
        <p:spPr>
          <a:xfrm>
            <a:off x="640080" y="1591056"/>
            <a:ext cx="548640" cy="548640"/>
          </a:xfrm>
          <a:prstGeom prst="roundRect">
            <a:avLst>
              <a:gd name="adj" fmla="val 16666"/>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B2A41"/>
                </a:solidFill>
                <a:latin typeface="Calibri"/>
              </a:rPr>
              <a:t>1</a:t>
            </a:r>
          </a:p>
        </p:txBody>
      </p:sp>
      <p:sp>
        <p:nvSpPr>
          <p:cNvPr id="9" name="TextBox 8"/>
          <p:cNvSpPr txBox="1"/>
          <p:nvPr/>
        </p:nvSpPr>
        <p:spPr>
          <a:xfrm>
            <a:off x="1417320" y="1536192"/>
            <a:ext cx="3657600" cy="658368"/>
          </a:xfrm>
          <a:prstGeom prst="rect">
            <a:avLst/>
          </a:prstGeom>
          <a:noFill/>
        </p:spPr>
        <p:txBody>
          <a:bodyPr wrap="square" lIns="36576" rIns="36576" tIns="18288" bIns="18288" anchor="ctr">
            <a:spAutoFit/>
          </a:bodyPr>
          <a:lstStyle/>
          <a:p>
            <a:pPr algn="l">
              <a:lnSpc>
                <a:spcPct val="105000"/>
              </a:lnSpc>
              <a:spcAft>
                <a:spcPts val="300"/>
              </a:spcAft>
            </a:pPr>
            <a:r>
              <a:rPr sz="1800" b="1" i="0">
                <a:solidFill>
                  <a:srgbClr val="0B2545"/>
                </a:solidFill>
                <a:latin typeface="Calibri"/>
              </a:rPr>
              <a:t>Native where it matters</a:t>
            </a:r>
          </a:p>
        </p:txBody>
      </p:sp>
      <p:sp>
        <p:nvSpPr>
          <p:cNvPr id="10" name="TextBox 9"/>
          <p:cNvSpPr txBox="1"/>
          <p:nvPr/>
        </p:nvSpPr>
        <p:spPr>
          <a:xfrm>
            <a:off x="5120640" y="1536192"/>
            <a:ext cx="6400800" cy="658368"/>
          </a:xfrm>
          <a:prstGeom prst="rect">
            <a:avLst/>
          </a:prstGeom>
          <a:noFill/>
        </p:spPr>
        <p:txBody>
          <a:bodyPr wrap="square" lIns="36576" rIns="36576" tIns="18288" bIns="18288" anchor="ctr">
            <a:spAutoFit/>
          </a:bodyPr>
          <a:lstStyle/>
          <a:p>
            <a:pPr algn="l">
              <a:lnSpc>
                <a:spcPct val="105000"/>
              </a:lnSpc>
              <a:spcAft>
                <a:spcPts val="300"/>
              </a:spcAft>
            </a:pPr>
            <a:r>
              <a:rPr sz="1400" b="0" i="0">
                <a:solidFill>
                  <a:srgbClr val="1B2A41"/>
                </a:solidFill>
                <a:latin typeface="Calibri"/>
              </a:rPr>
              <a:t>A C library does the risky parsing; tests fail allocations on purpose.</a:t>
            </a:r>
          </a:p>
        </p:txBody>
      </p:sp>
      <p:sp>
        <p:nvSpPr>
          <p:cNvPr id="11" name="takeaway 2"/>
          <p:cNvSpPr/>
          <p:nvPr/>
        </p:nvSpPr>
        <p:spPr>
          <a:xfrm>
            <a:off x="502920" y="2404872"/>
            <a:ext cx="11155680" cy="804672"/>
          </a:xfrm>
          <a:prstGeom prst="roundRect">
            <a:avLst>
              <a:gd name="adj" fmla="val 11363"/>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ode: 2"/>
          <p:cNvSpPr/>
          <p:nvPr/>
        </p:nvSpPr>
        <p:spPr>
          <a:xfrm>
            <a:off x="640080" y="2532888"/>
            <a:ext cx="548640" cy="548640"/>
          </a:xfrm>
          <a:prstGeom prst="roundRect">
            <a:avLst>
              <a:gd name="adj" fmla="val 16666"/>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B2A41"/>
                </a:solidFill>
                <a:latin typeface="Calibri"/>
              </a:rPr>
              <a:t>2</a:t>
            </a:r>
          </a:p>
        </p:txBody>
      </p:sp>
      <p:sp>
        <p:nvSpPr>
          <p:cNvPr id="13" name="TextBox 12"/>
          <p:cNvSpPr txBox="1"/>
          <p:nvPr/>
        </p:nvSpPr>
        <p:spPr>
          <a:xfrm>
            <a:off x="1417320" y="2478024"/>
            <a:ext cx="3657600" cy="658368"/>
          </a:xfrm>
          <a:prstGeom prst="rect">
            <a:avLst/>
          </a:prstGeom>
          <a:noFill/>
        </p:spPr>
        <p:txBody>
          <a:bodyPr wrap="square" lIns="36576" rIns="36576" tIns="18288" bIns="18288" anchor="ctr">
            <a:spAutoFit/>
          </a:bodyPr>
          <a:lstStyle/>
          <a:p>
            <a:pPr algn="l">
              <a:lnSpc>
                <a:spcPct val="105000"/>
              </a:lnSpc>
              <a:spcAft>
                <a:spcPts val="300"/>
              </a:spcAft>
            </a:pPr>
            <a:r>
              <a:rPr sz="1800" b="1" i="0">
                <a:solidFill>
                  <a:srgbClr val="0B2545"/>
                </a:solidFill>
                <a:latin typeface="Calibri"/>
              </a:rPr>
              <a:t>Interpretable detection</a:t>
            </a:r>
          </a:p>
        </p:txBody>
      </p:sp>
      <p:sp>
        <p:nvSpPr>
          <p:cNvPr id="14" name="TextBox 13"/>
          <p:cNvSpPr txBox="1"/>
          <p:nvPr/>
        </p:nvSpPr>
        <p:spPr>
          <a:xfrm>
            <a:off x="5120640" y="2478024"/>
            <a:ext cx="6400800" cy="658368"/>
          </a:xfrm>
          <a:prstGeom prst="rect">
            <a:avLst/>
          </a:prstGeom>
          <a:noFill/>
        </p:spPr>
        <p:txBody>
          <a:bodyPr wrap="square" lIns="36576" rIns="36576" tIns="18288" bIns="18288" anchor="ctr">
            <a:spAutoFit/>
          </a:bodyPr>
          <a:lstStyle/>
          <a:p>
            <a:pPr algn="l">
              <a:lnSpc>
                <a:spcPct val="105000"/>
              </a:lnSpc>
              <a:spcAft>
                <a:spcPts val="300"/>
              </a:spcAft>
            </a:pPr>
            <a:r>
              <a:rPr sz="1400" b="0" i="0">
                <a:solidFill>
                  <a:srgbClr val="1B2A41"/>
                </a:solidFill>
                <a:latin typeface="Calibri"/>
              </a:rPr>
              <a:t>Four detectors that must agree; every cause is a hypothesis with a cap of 0.95.</a:t>
            </a:r>
          </a:p>
        </p:txBody>
      </p:sp>
      <p:sp>
        <p:nvSpPr>
          <p:cNvPr id="15" name="takeaway 3"/>
          <p:cNvSpPr/>
          <p:nvPr/>
        </p:nvSpPr>
        <p:spPr>
          <a:xfrm>
            <a:off x="502920" y="3346704"/>
            <a:ext cx="11155680" cy="804672"/>
          </a:xfrm>
          <a:prstGeom prst="roundRect">
            <a:avLst>
              <a:gd name="adj" fmla="val 11363"/>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ode: 3"/>
          <p:cNvSpPr/>
          <p:nvPr/>
        </p:nvSpPr>
        <p:spPr>
          <a:xfrm>
            <a:off x="640080" y="3474720"/>
            <a:ext cx="548640" cy="548640"/>
          </a:xfrm>
          <a:prstGeom prst="roundRect">
            <a:avLst>
              <a:gd name="adj" fmla="val 16666"/>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B2A41"/>
                </a:solidFill>
                <a:latin typeface="Calibri"/>
              </a:rPr>
              <a:t>3</a:t>
            </a:r>
          </a:p>
        </p:txBody>
      </p:sp>
      <p:sp>
        <p:nvSpPr>
          <p:cNvPr id="17" name="TextBox 16"/>
          <p:cNvSpPr txBox="1"/>
          <p:nvPr/>
        </p:nvSpPr>
        <p:spPr>
          <a:xfrm>
            <a:off x="1417320" y="3419856"/>
            <a:ext cx="3657600" cy="658368"/>
          </a:xfrm>
          <a:prstGeom prst="rect">
            <a:avLst/>
          </a:prstGeom>
          <a:noFill/>
        </p:spPr>
        <p:txBody>
          <a:bodyPr wrap="square" lIns="36576" rIns="36576" tIns="18288" bIns="18288" anchor="ctr">
            <a:spAutoFit/>
          </a:bodyPr>
          <a:lstStyle/>
          <a:p>
            <a:pPr algn="l">
              <a:lnSpc>
                <a:spcPct val="105000"/>
              </a:lnSpc>
              <a:spcAft>
                <a:spcPts val="300"/>
              </a:spcAft>
            </a:pPr>
            <a:r>
              <a:rPr sz="1800" b="1" i="0">
                <a:solidFill>
                  <a:srgbClr val="0B2545"/>
                </a:solidFill>
                <a:latin typeface="Calibri"/>
              </a:rPr>
              <a:t>AI that can only read</a:t>
            </a:r>
          </a:p>
        </p:txBody>
      </p:sp>
      <p:sp>
        <p:nvSpPr>
          <p:cNvPr id="18" name="TextBox 17"/>
          <p:cNvSpPr txBox="1"/>
          <p:nvPr/>
        </p:nvSpPr>
        <p:spPr>
          <a:xfrm>
            <a:off x="5120640" y="3419856"/>
            <a:ext cx="6400800" cy="658368"/>
          </a:xfrm>
          <a:prstGeom prst="rect">
            <a:avLst/>
          </a:prstGeom>
          <a:noFill/>
        </p:spPr>
        <p:txBody>
          <a:bodyPr wrap="square" lIns="36576" rIns="36576" tIns="18288" bIns="18288" anchor="ctr">
            <a:spAutoFit/>
          </a:bodyPr>
          <a:lstStyle/>
          <a:p>
            <a:pPr algn="l">
              <a:lnSpc>
                <a:spcPct val="105000"/>
              </a:lnSpc>
              <a:spcAft>
                <a:spcPts val="300"/>
              </a:spcAft>
            </a:pPr>
            <a:r>
              <a:rPr sz="1400" b="0" i="0">
                <a:solidFill>
                  <a:srgbClr val="1B2A41"/>
                </a:solidFill>
                <a:latin typeface="Calibri"/>
              </a:rPr>
              <a:t>Allowlisted read-only tools; answers validated and cited; no hidden reasoning stored.</a:t>
            </a:r>
          </a:p>
        </p:txBody>
      </p:sp>
      <p:sp>
        <p:nvSpPr>
          <p:cNvPr id="19" name="takeaway 4"/>
          <p:cNvSpPr/>
          <p:nvPr/>
        </p:nvSpPr>
        <p:spPr>
          <a:xfrm>
            <a:off x="502920" y="4288536"/>
            <a:ext cx="11155680" cy="804672"/>
          </a:xfrm>
          <a:prstGeom prst="roundRect">
            <a:avLst>
              <a:gd name="adj" fmla="val 11363"/>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node: 4"/>
          <p:cNvSpPr/>
          <p:nvPr/>
        </p:nvSpPr>
        <p:spPr>
          <a:xfrm>
            <a:off x="640080" y="4416551"/>
            <a:ext cx="548640" cy="548640"/>
          </a:xfrm>
          <a:prstGeom prst="roundRect">
            <a:avLst>
              <a:gd name="adj" fmla="val 16666"/>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B2A41"/>
                </a:solidFill>
                <a:latin typeface="Calibri"/>
              </a:rPr>
              <a:t>4</a:t>
            </a:r>
          </a:p>
        </p:txBody>
      </p:sp>
      <p:sp>
        <p:nvSpPr>
          <p:cNvPr id="21" name="TextBox 20"/>
          <p:cNvSpPr txBox="1"/>
          <p:nvPr/>
        </p:nvSpPr>
        <p:spPr>
          <a:xfrm>
            <a:off x="1417320" y="4361688"/>
            <a:ext cx="3657600" cy="658368"/>
          </a:xfrm>
          <a:prstGeom prst="rect">
            <a:avLst/>
          </a:prstGeom>
          <a:noFill/>
        </p:spPr>
        <p:txBody>
          <a:bodyPr wrap="square" lIns="36576" rIns="36576" tIns="18288" bIns="18288" anchor="ctr">
            <a:spAutoFit/>
          </a:bodyPr>
          <a:lstStyle/>
          <a:p>
            <a:pPr algn="l">
              <a:lnSpc>
                <a:spcPct val="105000"/>
              </a:lnSpc>
              <a:spcAft>
                <a:spcPts val="300"/>
              </a:spcAft>
            </a:pPr>
            <a:r>
              <a:rPr sz="1800" b="1" i="0">
                <a:solidFill>
                  <a:srgbClr val="0B2545"/>
                </a:solidFill>
                <a:latin typeface="Calibri"/>
              </a:rPr>
              <a:t>Policy enforced in code</a:t>
            </a:r>
          </a:p>
        </p:txBody>
      </p:sp>
      <p:sp>
        <p:nvSpPr>
          <p:cNvPr id="22" name="TextBox 21"/>
          <p:cNvSpPr txBox="1"/>
          <p:nvPr/>
        </p:nvSpPr>
        <p:spPr>
          <a:xfrm>
            <a:off x="5120640" y="4361688"/>
            <a:ext cx="6400800" cy="658368"/>
          </a:xfrm>
          <a:prstGeom prst="rect">
            <a:avLst/>
          </a:prstGeom>
          <a:noFill/>
        </p:spPr>
        <p:txBody>
          <a:bodyPr wrap="square" lIns="36576" rIns="36576" tIns="18288" bIns="18288" anchor="ctr">
            <a:spAutoFit/>
          </a:bodyPr>
          <a:lstStyle/>
          <a:p>
            <a:pPr algn="l">
              <a:lnSpc>
                <a:spcPct val="105000"/>
              </a:lnSpc>
              <a:spcAft>
                <a:spcPts val="300"/>
              </a:spcAft>
            </a:pPr>
            <a:r>
              <a:rPr sz="1400" b="0" i="0">
                <a:solidFill>
                  <a:srgbClr val="1B2A41"/>
                </a:solidFill>
                <a:latin typeface="Calibri"/>
              </a:rPr>
              <a:t>Risk classes re-checked at execution; separation of duties; hash-chained audit.</a:t>
            </a:r>
          </a:p>
        </p:txBody>
      </p:sp>
      <p:sp>
        <p:nvSpPr>
          <p:cNvPr id="23" name="takeaway 5"/>
          <p:cNvSpPr/>
          <p:nvPr/>
        </p:nvSpPr>
        <p:spPr>
          <a:xfrm>
            <a:off x="502920" y="5230368"/>
            <a:ext cx="11155680" cy="804672"/>
          </a:xfrm>
          <a:prstGeom prst="roundRect">
            <a:avLst>
              <a:gd name="adj" fmla="val 11363"/>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ode: 5"/>
          <p:cNvSpPr/>
          <p:nvPr/>
        </p:nvSpPr>
        <p:spPr>
          <a:xfrm>
            <a:off x="640080" y="5358384"/>
            <a:ext cx="548640" cy="548640"/>
          </a:xfrm>
          <a:prstGeom prst="roundRect">
            <a:avLst>
              <a:gd name="adj" fmla="val 16666"/>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B2A41"/>
                </a:solidFill>
                <a:latin typeface="Calibri"/>
              </a:rPr>
              <a:t>5</a:t>
            </a:r>
          </a:p>
        </p:txBody>
      </p:sp>
      <p:sp>
        <p:nvSpPr>
          <p:cNvPr id="25" name="TextBox 24"/>
          <p:cNvSpPr txBox="1"/>
          <p:nvPr/>
        </p:nvSpPr>
        <p:spPr>
          <a:xfrm>
            <a:off x="1417320" y="5303520"/>
            <a:ext cx="3657600" cy="658368"/>
          </a:xfrm>
          <a:prstGeom prst="rect">
            <a:avLst/>
          </a:prstGeom>
          <a:noFill/>
        </p:spPr>
        <p:txBody>
          <a:bodyPr wrap="square" lIns="36576" rIns="36576" tIns="18288" bIns="18288" anchor="ctr">
            <a:spAutoFit/>
          </a:bodyPr>
          <a:lstStyle/>
          <a:p>
            <a:pPr algn="l">
              <a:lnSpc>
                <a:spcPct val="105000"/>
              </a:lnSpc>
              <a:spcAft>
                <a:spcPts val="300"/>
              </a:spcAft>
            </a:pPr>
            <a:r>
              <a:rPr sz="1800" b="1" i="0">
                <a:solidFill>
                  <a:srgbClr val="0B2545"/>
                </a:solidFill>
                <a:latin typeface="Calibri"/>
              </a:rPr>
              <a:t>Honest limits</a:t>
            </a:r>
          </a:p>
        </p:txBody>
      </p:sp>
      <p:sp>
        <p:nvSpPr>
          <p:cNvPr id="26" name="TextBox 25"/>
          <p:cNvSpPr txBox="1"/>
          <p:nvPr/>
        </p:nvSpPr>
        <p:spPr>
          <a:xfrm>
            <a:off x="5120640" y="5303520"/>
            <a:ext cx="6400800" cy="658368"/>
          </a:xfrm>
          <a:prstGeom prst="rect">
            <a:avLst/>
          </a:prstGeom>
          <a:noFill/>
        </p:spPr>
        <p:txBody>
          <a:bodyPr wrap="square" lIns="36576" rIns="36576" tIns="18288" bIns="18288" anchor="ctr">
            <a:spAutoFit/>
          </a:bodyPr>
          <a:lstStyle/>
          <a:p>
            <a:pPr algn="l">
              <a:lnSpc>
                <a:spcPct val="105000"/>
              </a:lnSpc>
              <a:spcAft>
                <a:spcPts val="300"/>
              </a:spcAft>
            </a:pPr>
            <a:r>
              <a:rPr sz="1400" b="0" i="0">
                <a:solidFill>
                  <a:srgbClr val="1B2A41"/>
                </a:solidFill>
                <a:latin typeface="Calibri"/>
              </a:rPr>
              <a:t>Synthetic data, mock AI by default, simulated rollback, unverified live providers.</a:t>
            </a:r>
          </a:p>
        </p:txBody>
      </p:sp>
      <p:sp>
        <p:nvSpPr>
          <p:cNvPr id="27" name="TextBox 26"/>
          <p:cNvSpPr txBox="1"/>
          <p:nvPr/>
        </p:nvSpPr>
        <p:spPr>
          <a:xfrm>
            <a:off x="502920" y="6217920"/>
            <a:ext cx="11155680" cy="274320"/>
          </a:xfrm>
          <a:prstGeom prst="rect">
            <a:avLst/>
          </a:prstGeom>
          <a:noFill/>
        </p:spPr>
        <p:txBody>
          <a:bodyPr wrap="square" lIns="36576" rIns="36576" tIns="18288" bIns="18288" anchor="t">
            <a:spAutoFit/>
          </a:bodyPr>
          <a:lstStyle/>
          <a:p>
            <a:pPr algn="l">
              <a:lnSpc>
                <a:spcPct val="105000"/>
              </a:lnSpc>
              <a:spcAft>
                <a:spcPts val="300"/>
              </a:spcAft>
            </a:pPr>
            <a:r>
              <a:rPr sz="1150" b="0" i="1">
                <a:solidFill>
                  <a:srgbClr val="5B6B7F"/>
                </a:solidFill>
                <a:latin typeface="Calibri"/>
              </a:rPr>
              <a:t>Start reading: call_analyzer.h, _native.py, model.py, detectors.py, correlation.py, rca/engine.py, agents/policy.py, security/audit.py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Aegis-Net Technical Presentation</dc:title>
  <dc:subject>Technical walkthrough of the Aegis-Net prototype</dc:subject>
  <dc:creator>Aegis-Net project documentation (generated)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